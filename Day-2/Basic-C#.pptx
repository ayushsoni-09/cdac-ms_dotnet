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51"/>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348" r:id="rId37"/>
    <p:sldId id="349" r:id="rId38"/>
    <p:sldId id="350" r:id="rId39"/>
    <p:sldId id="351" r:id="rId40"/>
    <p:sldId id="352" r:id="rId41"/>
    <p:sldId id="353" r:id="rId42"/>
    <p:sldId id="292" r:id="rId43"/>
    <p:sldId id="293" r:id="rId44"/>
    <p:sldId id="294" r:id="rId45"/>
    <p:sldId id="296" r:id="rId46"/>
    <p:sldId id="295" r:id="rId47"/>
    <p:sldId id="322" r:id="rId48"/>
    <p:sldId id="321" r:id="rId49"/>
    <p:sldId id="320"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646" autoAdjust="0"/>
  </p:normalViewPr>
  <p:slideViewPr>
    <p:cSldViewPr snapToGrid="0">
      <p:cViewPr varScale="1">
        <p:scale>
          <a:sx n="61" d="100"/>
          <a:sy n="61" d="100"/>
        </p:scale>
        <p:origin x="149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5F4812-7BDA-43C5-904B-C17570F911FE}" type="datetimeFigureOut">
              <a:rPr lang="en-IN" smtClean="0"/>
              <a:t>02-12-2025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E10871-EAB6-4125-8C08-9B160102C342}" type="slidenum">
              <a:rPr lang="en-IN" smtClean="0"/>
              <a:t>‹#›</a:t>
            </a:fld>
            <a:endParaRPr lang="en-IN"/>
          </a:p>
        </p:txBody>
      </p:sp>
    </p:spTree>
    <p:extLst>
      <p:ext uri="{BB962C8B-B14F-4D97-AF65-F5344CB8AC3E}">
        <p14:creationId xmlns:p14="http://schemas.microsoft.com/office/powerpoint/2010/main" val="2543482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E10871-EAB6-4125-8C08-9B160102C342}" type="slidenum">
              <a:rPr lang="en-IN" smtClean="0"/>
              <a:t>1</a:t>
            </a:fld>
            <a:endParaRPr lang="en-IN"/>
          </a:p>
        </p:txBody>
      </p:sp>
    </p:spTree>
    <p:extLst>
      <p:ext uri="{BB962C8B-B14F-4D97-AF65-F5344CB8AC3E}">
        <p14:creationId xmlns:p14="http://schemas.microsoft.com/office/powerpoint/2010/main" val="2759064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While installing VS ,</a:t>
            </a:r>
            <a:r>
              <a:rPr lang="en-US" sz="1800" dirty="0">
                <a:effectLst/>
                <a:latin typeface="Arial MT"/>
                <a:ea typeface="Arial MT"/>
                <a:cs typeface="Arial MT"/>
              </a:rPr>
              <a:t>Check the</a:t>
            </a:r>
            <a:r>
              <a:rPr lang="en-US" sz="1800" spc="5" dirty="0">
                <a:effectLst/>
                <a:latin typeface="Arial MT"/>
                <a:ea typeface="Arial MT"/>
                <a:cs typeface="Arial MT"/>
              </a:rPr>
              <a:t> </a:t>
            </a:r>
            <a:r>
              <a:rPr lang="en-US" sz="1800" dirty="0">
                <a:effectLst/>
                <a:latin typeface="Arial MT"/>
                <a:ea typeface="Arial MT"/>
                <a:cs typeface="Arial MT"/>
              </a:rPr>
              <a:t>checkboxes</a:t>
            </a:r>
            <a:r>
              <a:rPr lang="en-US" sz="1800" spc="-5" dirty="0">
                <a:effectLst/>
                <a:latin typeface="Arial MT"/>
                <a:ea typeface="Arial MT"/>
                <a:cs typeface="Arial MT"/>
              </a:rPr>
              <a:t> </a:t>
            </a:r>
            <a:r>
              <a:rPr lang="en-US" sz="1800" dirty="0">
                <a:effectLst/>
                <a:latin typeface="Arial MT"/>
                <a:ea typeface="Arial MT"/>
                <a:cs typeface="Arial MT"/>
              </a:rPr>
              <a:t>“.NET desktop</a:t>
            </a:r>
            <a:r>
              <a:rPr lang="en-US" sz="1800" spc="10" dirty="0">
                <a:effectLst/>
                <a:latin typeface="Arial MT"/>
                <a:ea typeface="Arial MT"/>
                <a:cs typeface="Arial MT"/>
              </a:rPr>
              <a:t> </a:t>
            </a:r>
            <a:r>
              <a:rPr lang="en-US" sz="1800" dirty="0">
                <a:effectLst/>
                <a:latin typeface="Arial MT"/>
                <a:ea typeface="Arial MT"/>
                <a:cs typeface="Arial MT"/>
              </a:rPr>
              <a:t>development” and</a:t>
            </a:r>
            <a:r>
              <a:rPr lang="en-US" sz="1800" spc="-5" dirty="0">
                <a:effectLst/>
                <a:latin typeface="Arial MT"/>
                <a:ea typeface="Arial MT"/>
                <a:cs typeface="Arial MT"/>
              </a:rPr>
              <a:t> </a:t>
            </a:r>
            <a:r>
              <a:rPr lang="en-US" sz="1800" dirty="0">
                <a:effectLst/>
                <a:latin typeface="Arial MT"/>
                <a:ea typeface="Arial MT"/>
                <a:cs typeface="Arial MT"/>
              </a:rPr>
              <a:t>“ASP.NET</a:t>
            </a:r>
            <a:r>
              <a:rPr lang="en-US" sz="1800" spc="-5" dirty="0">
                <a:effectLst/>
                <a:latin typeface="Arial MT"/>
                <a:ea typeface="Arial MT"/>
                <a:cs typeface="Arial MT"/>
              </a:rPr>
              <a:t> </a:t>
            </a:r>
            <a:r>
              <a:rPr lang="en-US" sz="1800" dirty="0">
                <a:effectLst/>
                <a:latin typeface="Arial MT"/>
                <a:ea typeface="Arial MT"/>
                <a:cs typeface="Arial MT"/>
              </a:rPr>
              <a:t>and web</a:t>
            </a:r>
            <a:r>
              <a:rPr lang="en-US" sz="1800" spc="5" dirty="0">
                <a:effectLst/>
                <a:latin typeface="Arial MT"/>
                <a:ea typeface="Arial MT"/>
                <a:cs typeface="Arial MT"/>
              </a:rPr>
              <a:t> </a:t>
            </a:r>
            <a:r>
              <a:rPr lang="en-US" sz="1800" spc="-10" dirty="0">
                <a:effectLst/>
                <a:latin typeface="Arial MT"/>
                <a:ea typeface="Arial MT"/>
                <a:cs typeface="Arial MT"/>
              </a:rPr>
              <a:t>development </a:t>
            </a:r>
          </a:p>
          <a:p>
            <a:endParaRPr lang="en-US" sz="1800" spc="-10" dirty="0">
              <a:effectLst/>
              <a:latin typeface="Arial MT"/>
            </a:endParaRPr>
          </a:p>
          <a:p>
            <a:r>
              <a:rPr lang="en-US" sz="1800" spc="-10" dirty="0" err="1">
                <a:effectLst/>
                <a:latin typeface="Arial MT"/>
              </a:rPr>
              <a:t>.net</a:t>
            </a:r>
            <a:r>
              <a:rPr lang="en-US" sz="1800" spc="-10" dirty="0">
                <a:effectLst/>
                <a:latin typeface="Arial MT"/>
              </a:rPr>
              <a:t>-&gt;</a:t>
            </a:r>
            <a:r>
              <a:rPr lang="en-US" sz="1800" spc="-10" dirty="0" err="1">
                <a:effectLst/>
                <a:latin typeface="Arial MT"/>
              </a:rPr>
              <a:t>.net</a:t>
            </a:r>
            <a:r>
              <a:rPr lang="en-US" sz="1800" spc="-10" dirty="0">
                <a:effectLst/>
                <a:latin typeface="Arial MT"/>
              </a:rPr>
              <a:t> core (</a:t>
            </a:r>
            <a:r>
              <a:rPr lang="en-US" sz="1800" spc="-10" dirty="0" err="1">
                <a:effectLst/>
                <a:latin typeface="Arial MT"/>
              </a:rPr>
              <a:t>windows,Max,Linux,android</a:t>
            </a:r>
            <a:r>
              <a:rPr lang="en-US" sz="1800" spc="-10" dirty="0">
                <a:effectLst/>
                <a:latin typeface="Arial MT"/>
              </a:rPr>
              <a:t>, and </a:t>
            </a:r>
            <a:r>
              <a:rPr lang="en-US" sz="1800" spc="-10" dirty="0" err="1">
                <a:effectLst/>
                <a:latin typeface="Arial MT"/>
              </a:rPr>
              <a:t>Ios</a:t>
            </a:r>
            <a:r>
              <a:rPr lang="en-US" sz="1800" spc="-10" dirty="0">
                <a:effectLst/>
                <a:latin typeface="Arial MT"/>
              </a:rPr>
              <a:t>)</a:t>
            </a:r>
          </a:p>
          <a:p>
            <a:r>
              <a:rPr lang="en-US" sz="1800" spc="-10" dirty="0" err="1">
                <a:effectLst/>
                <a:latin typeface="Arial MT"/>
              </a:rPr>
              <a:t>.Net</a:t>
            </a:r>
            <a:r>
              <a:rPr lang="en-US" sz="1800" spc="-10" dirty="0">
                <a:effectLst/>
                <a:latin typeface="Arial MT"/>
              </a:rPr>
              <a:t> Framework -&gt;(windows), mono</a:t>
            </a:r>
          </a:p>
          <a:p>
            <a:endParaRPr lang="en-IN" dirty="0"/>
          </a:p>
        </p:txBody>
      </p:sp>
      <p:sp>
        <p:nvSpPr>
          <p:cNvPr id="4" name="Slide Number Placeholder 3"/>
          <p:cNvSpPr>
            <a:spLocks noGrp="1"/>
          </p:cNvSpPr>
          <p:nvPr>
            <p:ph type="sldNum" sz="quarter" idx="5"/>
          </p:nvPr>
        </p:nvSpPr>
        <p:spPr/>
        <p:txBody>
          <a:bodyPr/>
          <a:lstStyle/>
          <a:p>
            <a:fld id="{DDE10871-EAB6-4125-8C08-9B160102C342}" type="slidenum">
              <a:rPr lang="en-IN" smtClean="0"/>
              <a:t>2</a:t>
            </a:fld>
            <a:endParaRPr lang="en-IN"/>
          </a:p>
        </p:txBody>
      </p:sp>
    </p:spTree>
    <p:extLst>
      <p:ext uri="{BB962C8B-B14F-4D97-AF65-F5344CB8AC3E}">
        <p14:creationId xmlns:p14="http://schemas.microsoft.com/office/powerpoint/2010/main" val="1778066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.net</a:t>
            </a:r>
            <a:r>
              <a:rPr lang="en-IN" dirty="0"/>
              <a:t> core(core language/asp.net core /entity framework core)</a:t>
            </a:r>
          </a:p>
          <a:p>
            <a:r>
              <a:rPr lang="en-IN" dirty="0"/>
              <a:t> -&gt;Build Apps(devices/web/cloud/</a:t>
            </a:r>
            <a:r>
              <a:rPr lang="en-IN" dirty="0" err="1"/>
              <a:t>Iot</a:t>
            </a:r>
            <a:r>
              <a:rPr lang="en-IN" dirty="0"/>
              <a:t>/</a:t>
            </a:r>
            <a:r>
              <a:rPr lang="en-IN" dirty="0" err="1"/>
              <a:t>embded</a:t>
            </a:r>
            <a:r>
              <a:rPr lang="en-IN" dirty="0"/>
              <a:t>)</a:t>
            </a:r>
          </a:p>
          <a:p>
            <a:r>
              <a:rPr lang="en-IN" dirty="0"/>
              <a:t> -&gt;Open source</a:t>
            </a:r>
          </a:p>
          <a:p>
            <a:r>
              <a:rPr lang="en-IN" dirty="0"/>
              <a:t> -&gt; Cross platform</a:t>
            </a:r>
          </a:p>
          <a:p>
            <a:r>
              <a:rPr lang="en-IN" dirty="0"/>
              <a:t> -&gt;maintained by MS and community on GitHub</a:t>
            </a:r>
          </a:p>
          <a:p>
            <a:endParaRPr lang="en-IN" dirty="0"/>
          </a:p>
          <a:p>
            <a:r>
              <a:rPr lang="en-IN" dirty="0" err="1"/>
              <a:t>.net</a:t>
            </a:r>
            <a:r>
              <a:rPr lang="en-IN" dirty="0"/>
              <a:t> core</a:t>
            </a:r>
          </a:p>
          <a:p>
            <a:r>
              <a:rPr lang="en-IN" dirty="0"/>
              <a:t> -&gt;</a:t>
            </a:r>
            <a:r>
              <a:rPr lang="en-IN" dirty="0" err="1"/>
              <a:t>.net</a:t>
            </a:r>
            <a:r>
              <a:rPr lang="en-IN" dirty="0"/>
              <a:t> runtime(CLR)</a:t>
            </a:r>
          </a:p>
          <a:p>
            <a:r>
              <a:rPr lang="en-IN" dirty="0"/>
              <a:t> -&gt;Libraries (core library)</a:t>
            </a:r>
          </a:p>
          <a:p>
            <a:r>
              <a:rPr lang="en-IN" dirty="0"/>
              <a:t> -&gt;Tools and </a:t>
            </a:r>
            <a:r>
              <a:rPr lang="en-IN" dirty="0" err="1"/>
              <a:t>COmpliers</a:t>
            </a:r>
            <a:r>
              <a:rPr lang="en-IN" dirty="0"/>
              <a:t> (Core SDK)</a:t>
            </a:r>
          </a:p>
          <a:p>
            <a:r>
              <a:rPr lang="en-IN" dirty="0"/>
              <a:t> -&gt;"dotnet" app host</a:t>
            </a:r>
          </a:p>
          <a:p>
            <a:endParaRPr lang="en-IN" dirty="0"/>
          </a:p>
          <a:p>
            <a:r>
              <a:rPr lang="en-IN" dirty="0" err="1"/>
              <a:t>.net</a:t>
            </a:r>
            <a:r>
              <a:rPr lang="en-IN" dirty="0"/>
              <a:t> core</a:t>
            </a:r>
          </a:p>
          <a:p>
            <a:r>
              <a:rPr lang="en-IN" dirty="0"/>
              <a:t>  -&gt; console app/asp.net core/</a:t>
            </a:r>
            <a:r>
              <a:rPr lang="en-IN" dirty="0" err="1"/>
              <a:t>uwp</a:t>
            </a:r>
            <a:endParaRPr lang="en-IN" dirty="0"/>
          </a:p>
          <a:p>
            <a:r>
              <a:rPr lang="en-IN" dirty="0"/>
              <a:t>  </a:t>
            </a:r>
          </a:p>
          <a:p>
            <a:r>
              <a:rPr lang="en-IN" dirty="0"/>
              <a:t>-&gt;</a:t>
            </a:r>
            <a:r>
              <a:rPr lang="en-IN" dirty="0" err="1"/>
              <a:t>.net</a:t>
            </a:r>
            <a:r>
              <a:rPr lang="en-IN" dirty="0"/>
              <a:t> framework          </a:t>
            </a:r>
            <a:r>
              <a:rPr lang="en-IN" dirty="0" err="1"/>
              <a:t>.net</a:t>
            </a:r>
            <a:r>
              <a:rPr lang="en-IN" dirty="0"/>
              <a:t> core               Xamarin</a:t>
            </a:r>
          </a:p>
          <a:p>
            <a:r>
              <a:rPr lang="en-IN" dirty="0"/>
              <a:t>    WPF                    UWP                     </a:t>
            </a:r>
            <a:r>
              <a:rPr lang="en-IN" dirty="0" err="1"/>
              <a:t>Ios</a:t>
            </a:r>
            <a:r>
              <a:rPr lang="en-IN" dirty="0"/>
              <a:t> </a:t>
            </a:r>
          </a:p>
          <a:p>
            <a:r>
              <a:rPr lang="en-IN" dirty="0"/>
              <a:t>    </a:t>
            </a:r>
            <a:r>
              <a:rPr lang="en-IN" dirty="0" err="1"/>
              <a:t>Winforms</a:t>
            </a:r>
            <a:r>
              <a:rPr lang="en-IN" dirty="0"/>
              <a:t>		   Asp.net core            Android </a:t>
            </a:r>
          </a:p>
          <a:p>
            <a:r>
              <a:rPr lang="en-IN" dirty="0"/>
              <a:t>    Asp.net					   </a:t>
            </a:r>
            <a:r>
              <a:rPr lang="en-IN" dirty="0" err="1"/>
              <a:t>osx</a:t>
            </a:r>
            <a:r>
              <a:rPr lang="en-IN" dirty="0"/>
              <a:t>	</a:t>
            </a:r>
          </a:p>
          <a:p>
            <a:r>
              <a:rPr lang="en-IN" dirty="0"/>
              <a:t>    BCL                    core Library            mono  class library</a:t>
            </a:r>
          </a:p>
          <a:p>
            <a:endParaRPr lang="en-IN" dirty="0"/>
          </a:p>
          <a:p>
            <a:endParaRPr lang="en-IN" dirty="0"/>
          </a:p>
          <a:p>
            <a:endParaRPr lang="en-IN" dirty="0"/>
          </a:p>
          <a:p>
            <a:r>
              <a:rPr lang="en-IN" dirty="0"/>
              <a:t>-&gt; to build </a:t>
            </a:r>
            <a:r>
              <a:rPr lang="en-IN" dirty="0" err="1"/>
              <a:t>.net</a:t>
            </a:r>
            <a:r>
              <a:rPr lang="en-IN" dirty="0"/>
              <a:t> App</a:t>
            </a:r>
          </a:p>
          <a:p>
            <a:r>
              <a:rPr lang="en-IN" dirty="0"/>
              <a:t>   1)</a:t>
            </a:r>
            <a:r>
              <a:rPr lang="en-IN" dirty="0" err="1"/>
              <a:t>.net</a:t>
            </a:r>
            <a:r>
              <a:rPr lang="en-IN" dirty="0"/>
              <a:t> runtime</a:t>
            </a:r>
          </a:p>
          <a:p>
            <a:r>
              <a:rPr lang="en-IN" dirty="0"/>
              <a:t>   2)CTS (possible data types)</a:t>
            </a:r>
          </a:p>
          <a:p>
            <a:r>
              <a:rPr lang="en-IN" dirty="0"/>
              <a:t>   3)CLS(constructs ,all languages should agree)</a:t>
            </a:r>
          </a:p>
          <a:p>
            <a:endParaRPr lang="en-IN" dirty="0"/>
          </a:p>
          <a:p>
            <a:endParaRPr lang="en-IN" dirty="0"/>
          </a:p>
          <a:p>
            <a:r>
              <a:rPr lang="en-IN" dirty="0" err="1"/>
              <a:t>.net</a:t>
            </a:r>
            <a:r>
              <a:rPr lang="en-IN" dirty="0"/>
              <a:t> framework or core</a:t>
            </a:r>
          </a:p>
          <a:p>
            <a:r>
              <a:rPr lang="en-IN" dirty="0"/>
              <a:t>C#                VB		J#    manage C++         others</a:t>
            </a:r>
          </a:p>
          <a:p>
            <a:r>
              <a:rPr lang="en-IN" dirty="0"/>
              <a:t>|                  |             |  	|                   |</a:t>
            </a:r>
          </a:p>
          <a:p>
            <a:r>
              <a:rPr lang="en-IN" dirty="0"/>
              <a:t>csc.exe           vb.exe       jsc.exe   cl.exe           compiler</a:t>
            </a:r>
          </a:p>
          <a:p>
            <a:endParaRPr lang="en-IN" dirty="0"/>
          </a:p>
          <a:p>
            <a:r>
              <a:rPr lang="en-IN" dirty="0"/>
              <a:t>-------------------------------------------------------------------</a:t>
            </a:r>
          </a:p>
          <a:p>
            <a:r>
              <a:rPr lang="en-IN" dirty="0"/>
              <a:t>                              ||</a:t>
            </a:r>
          </a:p>
          <a:p>
            <a:r>
              <a:rPr lang="en-IN" dirty="0"/>
              <a:t>                              \/</a:t>
            </a:r>
          </a:p>
          <a:p>
            <a:r>
              <a:rPr lang="en-IN" dirty="0"/>
              <a:t>                        MSIL -Code (Intermediate Language) &lt;- can program (ilsam.exe)</a:t>
            </a:r>
          </a:p>
          <a:p>
            <a:r>
              <a:rPr lang="en-IN" dirty="0"/>
              <a:t>------------------------------------------------------------------------</a:t>
            </a:r>
          </a:p>
          <a:p>
            <a:r>
              <a:rPr lang="en-IN" dirty="0"/>
              <a:t>                      ||</a:t>
            </a:r>
          </a:p>
          <a:p>
            <a:r>
              <a:rPr lang="en-IN" dirty="0"/>
              <a:t>                      \/</a:t>
            </a:r>
          </a:p>
          <a:p>
            <a:r>
              <a:rPr lang="en-IN" dirty="0"/>
              <a:t>                    (JIT)</a:t>
            </a:r>
          </a:p>
          <a:p>
            <a:r>
              <a:rPr lang="en-IN" dirty="0"/>
              <a:t>                      ||</a:t>
            </a:r>
          </a:p>
          <a:p>
            <a:r>
              <a:rPr lang="en-IN" dirty="0"/>
              <a:t>                      \/</a:t>
            </a:r>
          </a:p>
          <a:p>
            <a:r>
              <a:rPr lang="en-IN" dirty="0"/>
              <a:t>                       native code</a:t>
            </a:r>
          </a:p>
          <a:p>
            <a:r>
              <a:rPr lang="en-IN" dirty="0"/>
              <a:t>                      ||</a:t>
            </a:r>
          </a:p>
          <a:p>
            <a:r>
              <a:rPr lang="en-IN" dirty="0"/>
              <a:t>                      \/</a:t>
            </a:r>
          </a:p>
          <a:p>
            <a:r>
              <a:rPr lang="en-IN" dirty="0"/>
              <a:t>		      CLR	  </a:t>
            </a:r>
          </a:p>
          <a:p>
            <a:r>
              <a:rPr lang="en-IN" dirty="0"/>
              <a:t> </a:t>
            </a:r>
          </a:p>
        </p:txBody>
      </p:sp>
      <p:sp>
        <p:nvSpPr>
          <p:cNvPr id="4" name="Slide Number Placeholder 3"/>
          <p:cNvSpPr>
            <a:spLocks noGrp="1"/>
          </p:cNvSpPr>
          <p:nvPr>
            <p:ph type="sldNum" sz="quarter" idx="5"/>
          </p:nvPr>
        </p:nvSpPr>
        <p:spPr/>
        <p:txBody>
          <a:bodyPr/>
          <a:lstStyle/>
          <a:p>
            <a:fld id="{DDE10871-EAB6-4125-8C08-9B160102C342}" type="slidenum">
              <a:rPr lang="en-IN" smtClean="0"/>
              <a:t>3</a:t>
            </a:fld>
            <a:endParaRPr lang="en-IN"/>
          </a:p>
        </p:txBody>
      </p:sp>
    </p:spTree>
    <p:extLst>
      <p:ext uri="{BB962C8B-B14F-4D97-AF65-F5344CB8AC3E}">
        <p14:creationId xmlns:p14="http://schemas.microsoft.com/office/powerpoint/2010/main" val="762499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290"/>
              </a:spcBef>
            </a:pPr>
            <a:r>
              <a:rPr lang="en-US" sz="1100" dirty="0">
                <a:effectLst/>
                <a:latin typeface="Arial MT"/>
                <a:ea typeface="Arial MT"/>
                <a:cs typeface="Arial MT"/>
              </a:rPr>
              <a:t> </a:t>
            </a:r>
            <a:endParaRPr lang="en-IN" sz="1100" dirty="0">
              <a:effectLst/>
              <a:latin typeface="Arial MT"/>
              <a:ea typeface="Arial MT"/>
              <a:cs typeface="Arial MT"/>
            </a:endParaRPr>
          </a:p>
          <a:p>
            <a:pPr marL="742950" marR="461010" lvl="1" indent="-285750" algn="just">
              <a:lnSpc>
                <a:spcPct val="175000"/>
              </a:lnSpc>
              <a:spcBef>
                <a:spcPts val="5"/>
              </a:spcBef>
              <a:spcAft>
                <a:spcPts val="0"/>
              </a:spcAft>
              <a:buSzPts val="1100"/>
              <a:buFont typeface="Arial MT"/>
              <a:buAutoNum type="arabicPeriod"/>
              <a:tabLst>
                <a:tab pos="650875" algn="l"/>
                <a:tab pos="652145" algn="l"/>
              </a:tabLst>
            </a:pPr>
            <a:r>
              <a:rPr lang="en-US" sz="1100" spc="-40" dirty="0">
                <a:effectLst/>
                <a:latin typeface="Arial MT"/>
                <a:ea typeface="Arial MT"/>
                <a:cs typeface="Arial MT"/>
              </a:rPr>
              <a:t>Memory</a:t>
            </a:r>
            <a:r>
              <a:rPr lang="en-US" sz="1100" spc="-15" dirty="0">
                <a:effectLst/>
                <a:latin typeface="Arial MT"/>
                <a:ea typeface="Arial MT"/>
                <a:cs typeface="Arial MT"/>
              </a:rPr>
              <a:t> </a:t>
            </a:r>
            <a:r>
              <a:rPr lang="en-US" sz="1100" spc="-40" dirty="0">
                <a:effectLst/>
                <a:latin typeface="Arial MT"/>
                <a:ea typeface="Arial MT"/>
                <a:cs typeface="Arial MT"/>
              </a:rPr>
              <a:t>Manager:</a:t>
            </a:r>
            <a:r>
              <a:rPr lang="en-US" sz="1100" spc="-20" dirty="0">
                <a:effectLst/>
                <a:latin typeface="Arial MT"/>
                <a:ea typeface="Arial MT"/>
                <a:cs typeface="Arial MT"/>
              </a:rPr>
              <a:t> </a:t>
            </a:r>
            <a:r>
              <a:rPr lang="en-US" sz="1100" spc="-40" dirty="0">
                <a:effectLst/>
                <a:latin typeface="Arial MT"/>
                <a:ea typeface="Arial MT"/>
                <a:cs typeface="Arial MT"/>
              </a:rPr>
              <a:t>“Memory</a:t>
            </a:r>
            <a:r>
              <a:rPr lang="en-US" sz="1100" spc="-30" dirty="0">
                <a:effectLst/>
                <a:latin typeface="Arial MT"/>
                <a:ea typeface="Arial MT"/>
                <a:cs typeface="Arial MT"/>
              </a:rPr>
              <a:t> </a:t>
            </a:r>
            <a:r>
              <a:rPr lang="en-US" sz="1100" spc="-40" dirty="0">
                <a:effectLst/>
                <a:latin typeface="Arial MT"/>
                <a:ea typeface="Arial MT"/>
                <a:cs typeface="Arial MT"/>
              </a:rPr>
              <a:t>Manager”</a:t>
            </a:r>
            <a:r>
              <a:rPr lang="en-US" sz="1100" spc="-25" dirty="0">
                <a:effectLst/>
                <a:latin typeface="Arial MT"/>
                <a:ea typeface="Arial MT"/>
                <a:cs typeface="Arial MT"/>
              </a:rPr>
              <a:t> </a:t>
            </a:r>
            <a:r>
              <a:rPr lang="en-US" sz="1100" spc="-40" dirty="0">
                <a:effectLst/>
                <a:latin typeface="Arial MT"/>
                <a:ea typeface="Arial MT"/>
                <a:cs typeface="Arial MT"/>
              </a:rPr>
              <a:t>is</a:t>
            </a:r>
            <a:r>
              <a:rPr lang="en-US" sz="1100" spc="-30" dirty="0">
                <a:effectLst/>
                <a:latin typeface="Arial MT"/>
                <a:ea typeface="Arial MT"/>
                <a:cs typeface="Arial MT"/>
              </a:rPr>
              <a:t> </a:t>
            </a:r>
            <a:r>
              <a:rPr lang="en-US" sz="1100" spc="-40" dirty="0">
                <a:effectLst/>
                <a:latin typeface="Arial MT"/>
                <a:ea typeface="Arial MT"/>
                <a:cs typeface="Arial MT"/>
              </a:rPr>
              <a:t>a</a:t>
            </a:r>
            <a:r>
              <a:rPr lang="en-US" sz="1100" spc="-30" dirty="0">
                <a:effectLst/>
                <a:latin typeface="Arial MT"/>
                <a:ea typeface="Arial MT"/>
                <a:cs typeface="Arial MT"/>
              </a:rPr>
              <a:t> </a:t>
            </a:r>
            <a:r>
              <a:rPr lang="en-US" sz="1100" spc="-40" dirty="0">
                <a:effectLst/>
                <a:latin typeface="Arial MT"/>
                <a:ea typeface="Arial MT"/>
                <a:cs typeface="Arial MT"/>
              </a:rPr>
              <a:t>sub</a:t>
            </a:r>
            <a:r>
              <a:rPr lang="en-US" sz="1100" spc="-25" dirty="0">
                <a:effectLst/>
                <a:latin typeface="Arial MT"/>
                <a:ea typeface="Arial MT"/>
                <a:cs typeface="Arial MT"/>
              </a:rPr>
              <a:t> </a:t>
            </a:r>
            <a:r>
              <a:rPr lang="en-US" sz="1100" spc="-40" dirty="0">
                <a:effectLst/>
                <a:latin typeface="Arial MT"/>
                <a:ea typeface="Arial MT"/>
                <a:cs typeface="Arial MT"/>
              </a:rPr>
              <a:t>component</a:t>
            </a:r>
            <a:r>
              <a:rPr lang="en-US" sz="1100" spc="-25" dirty="0">
                <a:effectLst/>
                <a:latin typeface="Arial MT"/>
                <a:ea typeface="Arial MT"/>
                <a:cs typeface="Arial MT"/>
              </a:rPr>
              <a:t> </a:t>
            </a:r>
            <a:r>
              <a:rPr lang="en-US" sz="1100" spc="-40" dirty="0">
                <a:effectLst/>
                <a:latin typeface="Arial MT"/>
                <a:ea typeface="Arial MT"/>
                <a:cs typeface="Arial MT"/>
              </a:rPr>
              <a:t>in</a:t>
            </a:r>
            <a:r>
              <a:rPr lang="en-US" sz="1100" spc="-20" dirty="0">
                <a:effectLst/>
                <a:latin typeface="Arial MT"/>
                <a:ea typeface="Arial MT"/>
                <a:cs typeface="Arial MT"/>
              </a:rPr>
              <a:t> </a:t>
            </a:r>
            <a:r>
              <a:rPr lang="en-US" sz="1100" spc="-40" dirty="0">
                <a:effectLst/>
                <a:latin typeface="Arial MT"/>
                <a:ea typeface="Arial MT"/>
                <a:cs typeface="Arial MT"/>
              </a:rPr>
              <a:t>CLR,</a:t>
            </a:r>
            <a:r>
              <a:rPr lang="en-US" sz="1100" spc="-25" dirty="0">
                <a:effectLst/>
                <a:latin typeface="Arial MT"/>
                <a:ea typeface="Arial MT"/>
                <a:cs typeface="Arial MT"/>
              </a:rPr>
              <a:t> </a:t>
            </a:r>
            <a:r>
              <a:rPr lang="en-US" sz="1100" spc="-40" dirty="0">
                <a:effectLst/>
                <a:latin typeface="Arial MT"/>
                <a:ea typeface="Arial MT"/>
                <a:cs typeface="Arial MT"/>
              </a:rPr>
              <a:t>which</a:t>
            </a:r>
            <a:r>
              <a:rPr lang="en-US" sz="1100" spc="-30" dirty="0">
                <a:effectLst/>
                <a:latin typeface="Arial MT"/>
                <a:ea typeface="Arial MT"/>
                <a:cs typeface="Arial MT"/>
              </a:rPr>
              <a:t> </a:t>
            </a:r>
            <a:r>
              <a:rPr lang="en-US" sz="1100" spc="-40" dirty="0">
                <a:effectLst/>
                <a:latin typeface="Arial MT"/>
                <a:ea typeface="Arial MT"/>
                <a:cs typeface="Arial MT"/>
              </a:rPr>
              <a:t>allocates</a:t>
            </a:r>
            <a:r>
              <a:rPr lang="en-US" sz="1100" spc="-30" dirty="0">
                <a:effectLst/>
                <a:latin typeface="Arial MT"/>
                <a:ea typeface="Arial MT"/>
                <a:cs typeface="Arial MT"/>
              </a:rPr>
              <a:t> </a:t>
            </a:r>
            <a:r>
              <a:rPr lang="en-US" sz="1100" spc="-40" dirty="0">
                <a:effectLst/>
                <a:latin typeface="Arial MT"/>
                <a:ea typeface="Arial MT"/>
                <a:cs typeface="Arial MT"/>
              </a:rPr>
              <a:t>memory </a:t>
            </a:r>
            <a:r>
              <a:rPr lang="en-US" sz="1100" spc="0" dirty="0">
                <a:effectLst/>
                <a:latin typeface="Arial MT"/>
                <a:ea typeface="Arial MT"/>
                <a:cs typeface="Arial MT"/>
              </a:rPr>
              <a:t>(in</a:t>
            </a:r>
            <a:r>
              <a:rPr lang="en-US" sz="1100" spc="-80" dirty="0">
                <a:effectLst/>
                <a:latin typeface="Arial MT"/>
                <a:ea typeface="Arial MT"/>
                <a:cs typeface="Arial MT"/>
              </a:rPr>
              <a:t> </a:t>
            </a:r>
            <a:r>
              <a:rPr lang="en-US" sz="1100" spc="0" dirty="0">
                <a:effectLst/>
                <a:latin typeface="Arial MT"/>
                <a:ea typeface="Arial MT"/>
                <a:cs typeface="Arial MT"/>
              </a:rPr>
              <a:t>RAM)</a:t>
            </a:r>
            <a:r>
              <a:rPr lang="en-US" sz="1100" spc="-75" dirty="0">
                <a:effectLst/>
                <a:latin typeface="Arial MT"/>
                <a:ea typeface="Arial MT"/>
                <a:cs typeface="Arial MT"/>
              </a:rPr>
              <a:t> </a:t>
            </a:r>
            <a:r>
              <a:rPr lang="en-US" sz="1100" spc="0" dirty="0">
                <a:effectLst/>
                <a:latin typeface="Arial MT"/>
                <a:ea typeface="Arial MT"/>
                <a:cs typeface="Arial MT"/>
              </a:rPr>
              <a:t>for</a:t>
            </a:r>
            <a:r>
              <a:rPr lang="en-US" sz="1100" spc="-75" dirty="0">
                <a:effectLst/>
                <a:latin typeface="Arial MT"/>
                <a:ea typeface="Arial MT"/>
                <a:cs typeface="Arial MT"/>
              </a:rPr>
              <a:t> </a:t>
            </a:r>
            <a:r>
              <a:rPr lang="en-US" sz="1100" spc="0" dirty="0">
                <a:effectLst/>
                <a:latin typeface="Arial MT"/>
                <a:ea typeface="Arial MT"/>
                <a:cs typeface="Arial MT"/>
              </a:rPr>
              <a:t>the</a:t>
            </a:r>
            <a:r>
              <a:rPr lang="en-US" sz="1100" spc="-80" dirty="0">
                <a:effectLst/>
                <a:latin typeface="Arial MT"/>
                <a:ea typeface="Arial MT"/>
                <a:cs typeface="Arial MT"/>
              </a:rPr>
              <a:t> </a:t>
            </a:r>
            <a:r>
              <a:rPr lang="en-US" sz="1100" spc="0" dirty="0">
                <a:effectLst/>
                <a:latin typeface="Arial MT"/>
                <a:ea typeface="Arial MT"/>
                <a:cs typeface="Arial MT"/>
              </a:rPr>
              <a:t>variables</a:t>
            </a:r>
            <a:r>
              <a:rPr lang="en-US" sz="1100" spc="-75" dirty="0">
                <a:effectLst/>
                <a:latin typeface="Arial MT"/>
                <a:ea typeface="Arial MT"/>
                <a:cs typeface="Arial MT"/>
              </a:rPr>
              <a:t> </a:t>
            </a:r>
            <a:r>
              <a:rPr lang="en-US" sz="1100" spc="0" dirty="0">
                <a:effectLst/>
                <a:latin typeface="Arial MT"/>
                <a:ea typeface="Arial MT"/>
                <a:cs typeface="Arial MT"/>
              </a:rPr>
              <a:t>and</a:t>
            </a:r>
            <a:r>
              <a:rPr lang="en-US" sz="1100" spc="-75" dirty="0">
                <a:effectLst/>
                <a:latin typeface="Arial MT"/>
                <a:ea typeface="Arial MT"/>
                <a:cs typeface="Arial MT"/>
              </a:rPr>
              <a:t> </a:t>
            </a:r>
            <a:r>
              <a:rPr lang="en-US" sz="1100" spc="0" dirty="0">
                <a:effectLst/>
                <a:latin typeface="Arial MT"/>
                <a:ea typeface="Arial MT"/>
                <a:cs typeface="Arial MT"/>
              </a:rPr>
              <a:t>objects</a:t>
            </a:r>
            <a:r>
              <a:rPr lang="en-US" sz="1100" spc="-75" dirty="0">
                <a:effectLst/>
                <a:latin typeface="Arial MT"/>
                <a:ea typeface="Arial MT"/>
                <a:cs typeface="Arial MT"/>
              </a:rPr>
              <a:t> </a:t>
            </a:r>
            <a:r>
              <a:rPr lang="en-US" sz="1100" spc="0" dirty="0">
                <a:effectLst/>
                <a:latin typeface="Arial MT"/>
                <a:ea typeface="Arial MT"/>
                <a:cs typeface="Arial MT"/>
              </a:rPr>
              <a:t>in</a:t>
            </a:r>
            <a:r>
              <a:rPr lang="en-US" sz="1100" spc="-80" dirty="0">
                <a:effectLst/>
                <a:latin typeface="Arial MT"/>
                <a:ea typeface="Arial MT"/>
                <a:cs typeface="Arial MT"/>
              </a:rPr>
              <a:t> </a:t>
            </a:r>
            <a:r>
              <a:rPr lang="en-US" sz="1100" spc="0" dirty="0">
                <a:effectLst/>
                <a:latin typeface="Arial MT"/>
                <a:ea typeface="Arial MT"/>
                <a:cs typeface="Arial MT"/>
              </a:rPr>
              <a:t>the</a:t>
            </a:r>
            <a:r>
              <a:rPr lang="en-US" sz="1100" spc="-75" dirty="0">
                <a:effectLst/>
                <a:latin typeface="Arial MT"/>
                <a:ea typeface="Arial MT"/>
                <a:cs typeface="Arial MT"/>
              </a:rPr>
              <a:t> </a:t>
            </a:r>
            <a:r>
              <a:rPr lang="en-US" sz="1100" spc="0" dirty="0">
                <a:effectLst/>
                <a:latin typeface="Arial MT"/>
                <a:ea typeface="Arial MT"/>
                <a:cs typeface="Arial MT"/>
              </a:rPr>
              <a:t>program.</a:t>
            </a:r>
            <a:endParaRPr lang="en-IN" sz="1100" spc="0" dirty="0">
              <a:effectLst/>
              <a:latin typeface="Arial MT"/>
              <a:ea typeface="Arial MT"/>
              <a:cs typeface="Arial MT"/>
            </a:endParaRPr>
          </a:p>
          <a:p>
            <a:pPr marL="742950" marR="464185" lvl="1" indent="-285750" algn="just">
              <a:lnSpc>
                <a:spcPct val="175000"/>
              </a:lnSpc>
              <a:spcBef>
                <a:spcPts val="1210"/>
              </a:spcBef>
              <a:spcAft>
                <a:spcPts val="0"/>
              </a:spcAft>
              <a:buSzPts val="1100"/>
              <a:buFont typeface="Arial MT"/>
              <a:buAutoNum type="arabicPeriod"/>
              <a:tabLst>
                <a:tab pos="650875" algn="l"/>
                <a:tab pos="652145" algn="l"/>
              </a:tabLst>
            </a:pPr>
            <a:r>
              <a:rPr lang="en-US" sz="1100" spc="0" dirty="0">
                <a:effectLst/>
                <a:latin typeface="Arial MT"/>
                <a:ea typeface="Arial MT"/>
                <a:cs typeface="Arial MT"/>
              </a:rPr>
              <a:t>Garbage</a:t>
            </a:r>
            <a:r>
              <a:rPr lang="en-US" sz="1100" spc="-40" dirty="0">
                <a:effectLst/>
                <a:latin typeface="Arial MT"/>
                <a:ea typeface="Arial MT"/>
                <a:cs typeface="Arial MT"/>
              </a:rPr>
              <a:t> </a:t>
            </a:r>
            <a:r>
              <a:rPr lang="en-US" sz="1100" spc="0" dirty="0">
                <a:effectLst/>
                <a:latin typeface="Arial MT"/>
                <a:ea typeface="Arial MT"/>
                <a:cs typeface="Arial MT"/>
              </a:rPr>
              <a:t>Collector:</a:t>
            </a:r>
            <a:r>
              <a:rPr lang="en-US" sz="1100" spc="-30" dirty="0">
                <a:effectLst/>
                <a:latin typeface="Arial MT"/>
                <a:ea typeface="Arial MT"/>
                <a:cs typeface="Arial MT"/>
              </a:rPr>
              <a:t> </a:t>
            </a:r>
            <a:r>
              <a:rPr lang="en-US" sz="1100" spc="0" dirty="0">
                <a:effectLst/>
                <a:latin typeface="Arial MT"/>
                <a:ea typeface="Arial MT"/>
                <a:cs typeface="Arial MT"/>
              </a:rPr>
              <a:t>“Garbage</a:t>
            </a:r>
            <a:r>
              <a:rPr lang="en-US" sz="1100" spc="-40" dirty="0">
                <a:effectLst/>
                <a:latin typeface="Arial MT"/>
                <a:ea typeface="Arial MT"/>
                <a:cs typeface="Arial MT"/>
              </a:rPr>
              <a:t> </a:t>
            </a:r>
            <a:r>
              <a:rPr lang="en-US" sz="1100" spc="0" dirty="0">
                <a:effectLst/>
                <a:latin typeface="Arial MT"/>
                <a:ea typeface="Arial MT"/>
                <a:cs typeface="Arial MT"/>
              </a:rPr>
              <a:t>Collector”</a:t>
            </a:r>
            <a:r>
              <a:rPr lang="en-US" sz="1100" spc="-40" dirty="0">
                <a:effectLst/>
                <a:latin typeface="Arial MT"/>
                <a:ea typeface="Arial MT"/>
                <a:cs typeface="Arial MT"/>
              </a:rPr>
              <a:t> </a:t>
            </a:r>
            <a:r>
              <a:rPr lang="en-US" sz="1100" spc="0" dirty="0">
                <a:effectLst/>
                <a:latin typeface="Arial MT"/>
                <a:ea typeface="Arial MT"/>
                <a:cs typeface="Arial MT"/>
              </a:rPr>
              <a:t>is</a:t>
            </a:r>
            <a:r>
              <a:rPr lang="en-US" sz="1100" spc="-45" dirty="0">
                <a:effectLst/>
                <a:latin typeface="Arial MT"/>
                <a:ea typeface="Arial MT"/>
                <a:cs typeface="Arial MT"/>
              </a:rPr>
              <a:t> </a:t>
            </a:r>
            <a:r>
              <a:rPr lang="en-US" sz="1100" spc="0" dirty="0">
                <a:effectLst/>
                <a:latin typeface="Arial MT"/>
                <a:ea typeface="Arial MT"/>
                <a:cs typeface="Arial MT"/>
              </a:rPr>
              <a:t>a</a:t>
            </a:r>
            <a:r>
              <a:rPr lang="en-US" sz="1100" spc="-40" dirty="0">
                <a:effectLst/>
                <a:latin typeface="Arial MT"/>
                <a:ea typeface="Arial MT"/>
                <a:cs typeface="Arial MT"/>
              </a:rPr>
              <a:t> </a:t>
            </a:r>
            <a:r>
              <a:rPr lang="en-US" sz="1100" spc="0" dirty="0">
                <a:effectLst/>
                <a:latin typeface="Arial MT"/>
                <a:ea typeface="Arial MT"/>
                <a:cs typeface="Arial MT"/>
              </a:rPr>
              <a:t>sub</a:t>
            </a:r>
            <a:r>
              <a:rPr lang="en-US" sz="1100" spc="-40" dirty="0">
                <a:effectLst/>
                <a:latin typeface="Arial MT"/>
                <a:ea typeface="Arial MT"/>
                <a:cs typeface="Arial MT"/>
              </a:rPr>
              <a:t> </a:t>
            </a:r>
            <a:r>
              <a:rPr lang="en-US" sz="1100" spc="0" dirty="0">
                <a:effectLst/>
                <a:latin typeface="Arial MT"/>
                <a:ea typeface="Arial MT"/>
                <a:cs typeface="Arial MT"/>
              </a:rPr>
              <a:t>component</a:t>
            </a:r>
            <a:r>
              <a:rPr lang="en-US" sz="1100" spc="-40" dirty="0">
                <a:effectLst/>
                <a:latin typeface="Arial MT"/>
                <a:ea typeface="Arial MT"/>
                <a:cs typeface="Arial MT"/>
              </a:rPr>
              <a:t> </a:t>
            </a:r>
            <a:r>
              <a:rPr lang="en-US" sz="1100" spc="0" dirty="0">
                <a:effectLst/>
                <a:latin typeface="Arial MT"/>
                <a:ea typeface="Arial MT"/>
                <a:cs typeface="Arial MT"/>
              </a:rPr>
              <a:t>in</a:t>
            </a:r>
            <a:r>
              <a:rPr lang="en-US" sz="1100" spc="-40" dirty="0">
                <a:effectLst/>
                <a:latin typeface="Arial MT"/>
                <a:ea typeface="Arial MT"/>
                <a:cs typeface="Arial MT"/>
              </a:rPr>
              <a:t> </a:t>
            </a:r>
            <a:r>
              <a:rPr lang="en-US" sz="1100" spc="0" dirty="0">
                <a:effectLst/>
                <a:latin typeface="Arial MT"/>
                <a:ea typeface="Arial MT"/>
                <a:cs typeface="Arial MT"/>
              </a:rPr>
              <a:t>CLR,</a:t>
            </a:r>
            <a:r>
              <a:rPr lang="en-US" sz="1100" spc="-40" dirty="0">
                <a:effectLst/>
                <a:latin typeface="Arial MT"/>
                <a:ea typeface="Arial MT"/>
                <a:cs typeface="Arial MT"/>
              </a:rPr>
              <a:t> </a:t>
            </a:r>
            <a:r>
              <a:rPr lang="en-US" sz="1100" spc="0" dirty="0">
                <a:effectLst/>
                <a:latin typeface="Arial MT"/>
                <a:ea typeface="Arial MT"/>
                <a:cs typeface="Arial MT"/>
              </a:rPr>
              <a:t>which</a:t>
            </a:r>
            <a:r>
              <a:rPr lang="en-US" sz="1100" spc="-50" dirty="0">
                <a:effectLst/>
                <a:latin typeface="Arial MT"/>
                <a:ea typeface="Arial MT"/>
                <a:cs typeface="Arial MT"/>
              </a:rPr>
              <a:t> </a:t>
            </a:r>
            <a:r>
              <a:rPr lang="en-US" sz="1100" spc="0" dirty="0">
                <a:effectLst/>
                <a:latin typeface="Arial MT"/>
                <a:ea typeface="Arial MT"/>
                <a:cs typeface="Arial MT"/>
              </a:rPr>
              <a:t>deletes</a:t>
            </a:r>
            <a:r>
              <a:rPr lang="en-US" sz="1100" spc="-40" dirty="0">
                <a:effectLst/>
                <a:latin typeface="Arial MT"/>
                <a:ea typeface="Arial MT"/>
                <a:cs typeface="Arial MT"/>
              </a:rPr>
              <a:t> </a:t>
            </a:r>
            <a:r>
              <a:rPr lang="en-US" sz="1100" spc="0" dirty="0">
                <a:effectLst/>
                <a:latin typeface="Arial MT"/>
                <a:ea typeface="Arial MT"/>
                <a:cs typeface="Arial MT"/>
              </a:rPr>
              <a:t>the </a:t>
            </a:r>
            <a:r>
              <a:rPr lang="en-US" sz="1100" spc="-20" dirty="0">
                <a:effectLst/>
                <a:latin typeface="Arial MT"/>
                <a:ea typeface="Arial MT"/>
                <a:cs typeface="Arial MT"/>
              </a:rPr>
              <a:t>variables</a:t>
            </a:r>
            <a:r>
              <a:rPr lang="en-US" sz="1100" spc="-25" dirty="0">
                <a:effectLst/>
                <a:latin typeface="Arial MT"/>
                <a:ea typeface="Arial MT"/>
                <a:cs typeface="Arial MT"/>
              </a:rPr>
              <a:t> </a:t>
            </a:r>
            <a:r>
              <a:rPr lang="en-US" sz="1100" spc="-20" dirty="0">
                <a:effectLst/>
                <a:latin typeface="Arial MT"/>
                <a:ea typeface="Arial MT"/>
                <a:cs typeface="Arial MT"/>
              </a:rPr>
              <a:t>and</a:t>
            </a:r>
            <a:r>
              <a:rPr lang="en-US" sz="1100" spc="-35" dirty="0">
                <a:effectLst/>
                <a:latin typeface="Arial MT"/>
                <a:ea typeface="Arial MT"/>
                <a:cs typeface="Arial MT"/>
              </a:rPr>
              <a:t> </a:t>
            </a:r>
            <a:r>
              <a:rPr lang="en-US" sz="1100" spc="-20" dirty="0">
                <a:effectLst/>
                <a:latin typeface="Arial MT"/>
                <a:ea typeface="Arial MT"/>
                <a:cs typeface="Arial MT"/>
              </a:rPr>
              <a:t>objects</a:t>
            </a:r>
            <a:r>
              <a:rPr lang="en-US" sz="1100" spc="-25" dirty="0">
                <a:effectLst/>
                <a:latin typeface="Arial MT"/>
                <a:ea typeface="Arial MT"/>
                <a:cs typeface="Arial MT"/>
              </a:rPr>
              <a:t> </a:t>
            </a:r>
            <a:r>
              <a:rPr lang="en-US" sz="1100" spc="-20" dirty="0">
                <a:effectLst/>
                <a:latin typeface="Arial MT"/>
                <a:ea typeface="Arial MT"/>
                <a:cs typeface="Arial MT"/>
              </a:rPr>
              <a:t>that</a:t>
            </a:r>
            <a:r>
              <a:rPr lang="en-US" sz="1100" spc="-30" dirty="0">
                <a:effectLst/>
                <a:latin typeface="Arial MT"/>
                <a:ea typeface="Arial MT"/>
                <a:cs typeface="Arial MT"/>
              </a:rPr>
              <a:t> </a:t>
            </a:r>
            <a:r>
              <a:rPr lang="en-US" sz="1100" spc="-20" dirty="0">
                <a:effectLst/>
                <a:latin typeface="Arial MT"/>
                <a:ea typeface="Arial MT"/>
                <a:cs typeface="Arial MT"/>
              </a:rPr>
              <a:t>are created</a:t>
            </a:r>
            <a:r>
              <a:rPr lang="en-US" sz="1100" spc="-25" dirty="0">
                <a:effectLst/>
                <a:latin typeface="Arial MT"/>
                <a:ea typeface="Arial MT"/>
                <a:cs typeface="Arial MT"/>
              </a:rPr>
              <a:t> </a:t>
            </a:r>
            <a:r>
              <a:rPr lang="en-US" sz="1100" spc="-20" dirty="0">
                <a:effectLst/>
                <a:latin typeface="Arial MT"/>
                <a:ea typeface="Arial MT"/>
                <a:cs typeface="Arial MT"/>
              </a:rPr>
              <a:t>during</a:t>
            </a:r>
            <a:r>
              <a:rPr lang="en-US" sz="1100" spc="-25" dirty="0">
                <a:effectLst/>
                <a:latin typeface="Arial MT"/>
                <a:ea typeface="Arial MT"/>
                <a:cs typeface="Arial MT"/>
              </a:rPr>
              <a:t> </a:t>
            </a:r>
            <a:r>
              <a:rPr lang="en-US" sz="1100" spc="-20" dirty="0">
                <a:effectLst/>
                <a:latin typeface="Arial MT"/>
                <a:ea typeface="Arial MT"/>
                <a:cs typeface="Arial MT"/>
              </a:rPr>
              <a:t>the</a:t>
            </a:r>
            <a:r>
              <a:rPr lang="en-US" sz="1100" spc="-30" dirty="0">
                <a:effectLst/>
                <a:latin typeface="Arial MT"/>
                <a:ea typeface="Arial MT"/>
                <a:cs typeface="Arial MT"/>
              </a:rPr>
              <a:t> </a:t>
            </a:r>
            <a:r>
              <a:rPr lang="en-US" sz="1100" spc="-20" dirty="0">
                <a:effectLst/>
                <a:latin typeface="Arial MT"/>
                <a:ea typeface="Arial MT"/>
                <a:cs typeface="Arial MT"/>
              </a:rPr>
              <a:t>program, automatically</a:t>
            </a:r>
            <a:r>
              <a:rPr lang="en-US" sz="1100" spc="-25" dirty="0">
                <a:effectLst/>
                <a:latin typeface="Arial MT"/>
                <a:ea typeface="Arial MT"/>
                <a:cs typeface="Arial MT"/>
              </a:rPr>
              <a:t> </a:t>
            </a:r>
            <a:r>
              <a:rPr lang="en-US" sz="1100" spc="-20" dirty="0">
                <a:effectLst/>
                <a:latin typeface="Arial MT"/>
                <a:ea typeface="Arial MT"/>
                <a:cs typeface="Arial MT"/>
              </a:rPr>
              <a:t>at</a:t>
            </a:r>
            <a:r>
              <a:rPr lang="en-US" sz="1100" spc="-30" dirty="0">
                <a:effectLst/>
                <a:latin typeface="Arial MT"/>
                <a:ea typeface="Arial MT"/>
                <a:cs typeface="Arial MT"/>
              </a:rPr>
              <a:t> </a:t>
            </a:r>
            <a:r>
              <a:rPr lang="en-US" sz="1100" spc="-20" dirty="0">
                <a:effectLst/>
                <a:latin typeface="Arial MT"/>
                <a:ea typeface="Arial MT"/>
                <a:cs typeface="Arial MT"/>
              </a:rPr>
              <a:t>the</a:t>
            </a:r>
            <a:r>
              <a:rPr lang="en-US" sz="1100" spc="-30" dirty="0">
                <a:effectLst/>
                <a:latin typeface="Arial MT"/>
                <a:ea typeface="Arial MT"/>
                <a:cs typeface="Arial MT"/>
              </a:rPr>
              <a:t> </a:t>
            </a:r>
            <a:r>
              <a:rPr lang="en-US" sz="1100" spc="-20" dirty="0">
                <a:effectLst/>
                <a:latin typeface="Arial MT"/>
                <a:ea typeface="Arial MT"/>
                <a:cs typeface="Arial MT"/>
              </a:rPr>
              <a:t>end</a:t>
            </a:r>
            <a:r>
              <a:rPr lang="en-US" sz="1100" spc="-25" dirty="0">
                <a:effectLst/>
                <a:latin typeface="Arial MT"/>
                <a:ea typeface="Arial MT"/>
                <a:cs typeface="Arial MT"/>
              </a:rPr>
              <a:t> </a:t>
            </a:r>
            <a:r>
              <a:rPr lang="en-US" sz="1100" spc="-20" dirty="0">
                <a:effectLst/>
                <a:latin typeface="Arial MT"/>
                <a:ea typeface="Arial MT"/>
                <a:cs typeface="Arial MT"/>
              </a:rPr>
              <a:t>of</a:t>
            </a:r>
            <a:r>
              <a:rPr lang="en-US" sz="1100" spc="-40" dirty="0">
                <a:effectLst/>
                <a:latin typeface="Arial MT"/>
                <a:ea typeface="Arial MT"/>
                <a:cs typeface="Arial MT"/>
              </a:rPr>
              <a:t> </a:t>
            </a:r>
            <a:r>
              <a:rPr lang="en-US" sz="1100" spc="-20" dirty="0">
                <a:effectLst/>
                <a:latin typeface="Arial MT"/>
                <a:ea typeface="Arial MT"/>
                <a:cs typeface="Arial MT"/>
              </a:rPr>
              <a:t>the </a:t>
            </a:r>
            <a:r>
              <a:rPr lang="en-US" sz="1100" spc="0" dirty="0">
                <a:effectLst/>
                <a:latin typeface="Arial MT"/>
                <a:ea typeface="Arial MT"/>
                <a:cs typeface="Arial MT"/>
              </a:rPr>
              <a:t>program</a:t>
            </a:r>
            <a:r>
              <a:rPr lang="en-US" sz="1100" spc="-10" dirty="0">
                <a:effectLst/>
                <a:latin typeface="Arial MT"/>
                <a:ea typeface="Arial MT"/>
                <a:cs typeface="Arial MT"/>
              </a:rPr>
              <a:t> </a:t>
            </a:r>
            <a:r>
              <a:rPr lang="en-US" sz="1100" spc="0" dirty="0">
                <a:effectLst/>
                <a:latin typeface="Arial MT"/>
                <a:ea typeface="Arial MT"/>
                <a:cs typeface="Arial MT"/>
              </a:rPr>
              <a:t>execution.</a:t>
            </a:r>
            <a:endParaRPr lang="en-IN" sz="1100" spc="0" dirty="0">
              <a:effectLst/>
              <a:latin typeface="Arial MT"/>
              <a:ea typeface="Arial MT"/>
              <a:cs typeface="Arial MT"/>
            </a:endParaRPr>
          </a:p>
          <a:p>
            <a:pPr marL="742950" marR="460375" lvl="1" indent="-285750" algn="just">
              <a:lnSpc>
                <a:spcPct val="175000"/>
              </a:lnSpc>
              <a:spcBef>
                <a:spcPts val="1205"/>
              </a:spcBef>
              <a:spcAft>
                <a:spcPts val="0"/>
              </a:spcAft>
              <a:buSzPts val="1100"/>
              <a:buFont typeface="Arial MT"/>
              <a:buAutoNum type="arabicPeriod"/>
              <a:tabLst>
                <a:tab pos="650875" algn="l"/>
                <a:tab pos="652145" algn="l"/>
              </a:tabLst>
            </a:pPr>
            <a:r>
              <a:rPr lang="en-US" sz="1100" spc="-30" dirty="0">
                <a:effectLst/>
                <a:latin typeface="Arial MT"/>
                <a:ea typeface="Arial MT"/>
                <a:cs typeface="Arial MT"/>
              </a:rPr>
              <a:t>Class</a:t>
            </a:r>
            <a:r>
              <a:rPr lang="en-US" sz="1100" spc="-45" dirty="0">
                <a:effectLst/>
                <a:latin typeface="Arial MT"/>
                <a:ea typeface="Arial MT"/>
                <a:cs typeface="Arial MT"/>
              </a:rPr>
              <a:t> </a:t>
            </a:r>
            <a:r>
              <a:rPr lang="en-US" sz="1100" spc="-30" dirty="0">
                <a:effectLst/>
                <a:latin typeface="Arial MT"/>
                <a:ea typeface="Arial MT"/>
                <a:cs typeface="Arial MT"/>
              </a:rPr>
              <a:t>Loader: “Class</a:t>
            </a:r>
            <a:r>
              <a:rPr lang="en-US" sz="1100" spc="-45" dirty="0">
                <a:effectLst/>
                <a:latin typeface="Arial MT"/>
                <a:ea typeface="Arial MT"/>
                <a:cs typeface="Arial MT"/>
              </a:rPr>
              <a:t> </a:t>
            </a:r>
            <a:r>
              <a:rPr lang="en-US" sz="1100" spc="-30" dirty="0">
                <a:effectLst/>
                <a:latin typeface="Arial MT"/>
                <a:ea typeface="Arial MT"/>
                <a:cs typeface="Arial MT"/>
              </a:rPr>
              <a:t>Loader”</a:t>
            </a:r>
            <a:r>
              <a:rPr lang="en-US" sz="1100" spc="-40" dirty="0">
                <a:effectLst/>
                <a:latin typeface="Arial MT"/>
                <a:ea typeface="Arial MT"/>
                <a:cs typeface="Arial MT"/>
              </a:rPr>
              <a:t> </a:t>
            </a:r>
            <a:r>
              <a:rPr lang="en-US" sz="1100" spc="-30" dirty="0">
                <a:effectLst/>
                <a:latin typeface="Arial MT"/>
                <a:ea typeface="Arial MT"/>
                <a:cs typeface="Arial MT"/>
              </a:rPr>
              <a:t>is</a:t>
            </a:r>
            <a:r>
              <a:rPr lang="en-US" sz="1100" spc="-45" dirty="0">
                <a:effectLst/>
                <a:latin typeface="Arial MT"/>
                <a:ea typeface="Arial MT"/>
                <a:cs typeface="Arial MT"/>
              </a:rPr>
              <a:t> </a:t>
            </a:r>
            <a:r>
              <a:rPr lang="en-US" sz="1100" spc="-30" dirty="0">
                <a:effectLst/>
                <a:latin typeface="Arial MT"/>
                <a:ea typeface="Arial MT"/>
                <a:cs typeface="Arial MT"/>
              </a:rPr>
              <a:t>a</a:t>
            </a:r>
            <a:r>
              <a:rPr lang="en-US" sz="1100" spc="-45" dirty="0">
                <a:effectLst/>
                <a:latin typeface="Arial MT"/>
                <a:ea typeface="Arial MT"/>
                <a:cs typeface="Arial MT"/>
              </a:rPr>
              <a:t> </a:t>
            </a:r>
            <a:r>
              <a:rPr lang="en-US" sz="1100" spc="-30" dirty="0">
                <a:effectLst/>
                <a:latin typeface="Arial MT"/>
                <a:ea typeface="Arial MT"/>
                <a:cs typeface="Arial MT"/>
              </a:rPr>
              <a:t>sub</a:t>
            </a:r>
            <a:r>
              <a:rPr lang="en-US" sz="1100" spc="-35" dirty="0">
                <a:effectLst/>
                <a:latin typeface="Arial MT"/>
                <a:ea typeface="Arial MT"/>
                <a:cs typeface="Arial MT"/>
              </a:rPr>
              <a:t> </a:t>
            </a:r>
            <a:r>
              <a:rPr lang="en-US" sz="1100" spc="-30" dirty="0">
                <a:effectLst/>
                <a:latin typeface="Arial MT"/>
                <a:ea typeface="Arial MT"/>
                <a:cs typeface="Arial MT"/>
              </a:rPr>
              <a:t>component</a:t>
            </a:r>
            <a:r>
              <a:rPr lang="en-US" sz="1100" spc="-40" dirty="0">
                <a:effectLst/>
                <a:latin typeface="Arial MT"/>
                <a:ea typeface="Arial MT"/>
                <a:cs typeface="Arial MT"/>
              </a:rPr>
              <a:t> </a:t>
            </a:r>
            <a:r>
              <a:rPr lang="en-US" sz="1100" spc="-30" dirty="0">
                <a:effectLst/>
                <a:latin typeface="Arial MT"/>
                <a:ea typeface="Arial MT"/>
                <a:cs typeface="Arial MT"/>
              </a:rPr>
              <a:t>in</a:t>
            </a:r>
            <a:r>
              <a:rPr lang="en-US" sz="1100" spc="-45" dirty="0">
                <a:effectLst/>
                <a:latin typeface="Arial MT"/>
                <a:ea typeface="Arial MT"/>
                <a:cs typeface="Arial MT"/>
              </a:rPr>
              <a:t> </a:t>
            </a:r>
            <a:r>
              <a:rPr lang="en-US" sz="1100" spc="-30" dirty="0">
                <a:effectLst/>
                <a:latin typeface="Arial MT"/>
                <a:ea typeface="Arial MT"/>
                <a:cs typeface="Arial MT"/>
              </a:rPr>
              <a:t>CLR,</a:t>
            </a:r>
            <a:r>
              <a:rPr lang="en-US" sz="1100" spc="-40" dirty="0">
                <a:effectLst/>
                <a:latin typeface="Arial MT"/>
                <a:ea typeface="Arial MT"/>
                <a:cs typeface="Arial MT"/>
              </a:rPr>
              <a:t> </a:t>
            </a:r>
            <a:r>
              <a:rPr lang="en-US" sz="1100" spc="-30" dirty="0">
                <a:effectLst/>
                <a:latin typeface="Arial MT"/>
                <a:ea typeface="Arial MT"/>
                <a:cs typeface="Arial MT"/>
              </a:rPr>
              <a:t>which</a:t>
            </a:r>
            <a:r>
              <a:rPr lang="en-US" sz="1100" spc="-45" dirty="0">
                <a:effectLst/>
                <a:latin typeface="Arial MT"/>
                <a:ea typeface="Arial MT"/>
                <a:cs typeface="Arial MT"/>
              </a:rPr>
              <a:t> </a:t>
            </a:r>
            <a:r>
              <a:rPr lang="en-US" sz="1100" spc="-30" dirty="0">
                <a:effectLst/>
                <a:latin typeface="Arial MT"/>
                <a:ea typeface="Arial MT"/>
                <a:cs typeface="Arial MT"/>
              </a:rPr>
              <a:t>loads</a:t>
            </a:r>
            <a:r>
              <a:rPr lang="en-US" sz="1100" spc="-45" dirty="0">
                <a:effectLst/>
                <a:latin typeface="Arial MT"/>
                <a:ea typeface="Arial MT"/>
                <a:cs typeface="Arial MT"/>
              </a:rPr>
              <a:t> </a:t>
            </a:r>
            <a:r>
              <a:rPr lang="en-US" sz="1100" spc="-30" dirty="0">
                <a:effectLst/>
                <a:latin typeface="Arial MT"/>
                <a:ea typeface="Arial MT"/>
                <a:cs typeface="Arial MT"/>
              </a:rPr>
              <a:t>a</a:t>
            </a:r>
            <a:r>
              <a:rPr lang="en-US" sz="1100" spc="-35" dirty="0">
                <a:effectLst/>
                <a:latin typeface="Arial MT"/>
                <a:ea typeface="Arial MT"/>
                <a:cs typeface="Arial MT"/>
              </a:rPr>
              <a:t> </a:t>
            </a:r>
            <a:r>
              <a:rPr lang="en-US" sz="1100" spc="-30" dirty="0">
                <a:effectLst/>
                <a:latin typeface="Arial MT"/>
                <a:ea typeface="Arial MT"/>
                <a:cs typeface="Arial MT"/>
              </a:rPr>
              <a:t>class</a:t>
            </a:r>
            <a:r>
              <a:rPr lang="en-US" sz="1100" spc="-35" dirty="0">
                <a:effectLst/>
                <a:latin typeface="Arial MT"/>
                <a:ea typeface="Arial MT"/>
                <a:cs typeface="Arial MT"/>
              </a:rPr>
              <a:t> </a:t>
            </a:r>
            <a:r>
              <a:rPr lang="en-US" sz="1100" spc="-30" dirty="0">
                <a:effectLst/>
                <a:latin typeface="Arial MT"/>
                <a:ea typeface="Arial MT"/>
                <a:cs typeface="Arial MT"/>
              </a:rPr>
              <a:t>on-demand. </a:t>
            </a:r>
            <a:r>
              <a:rPr lang="en-US" sz="1100" spc="0" dirty="0">
                <a:effectLst/>
                <a:latin typeface="Arial MT"/>
                <a:ea typeface="Arial MT"/>
                <a:cs typeface="Arial MT"/>
              </a:rPr>
              <a:t>When</a:t>
            </a:r>
            <a:r>
              <a:rPr lang="en-US" sz="1100" spc="-45" dirty="0">
                <a:effectLst/>
                <a:latin typeface="Arial MT"/>
                <a:ea typeface="Arial MT"/>
                <a:cs typeface="Arial MT"/>
              </a:rPr>
              <a:t> </a:t>
            </a:r>
            <a:r>
              <a:rPr lang="en-US" sz="1100" spc="0" dirty="0">
                <a:effectLst/>
                <a:latin typeface="Arial MT"/>
                <a:ea typeface="Arial MT"/>
                <a:cs typeface="Arial MT"/>
              </a:rPr>
              <a:t>we</a:t>
            </a:r>
            <a:r>
              <a:rPr lang="en-US" sz="1100" spc="-50" dirty="0">
                <a:effectLst/>
                <a:latin typeface="Arial MT"/>
                <a:ea typeface="Arial MT"/>
                <a:cs typeface="Arial MT"/>
              </a:rPr>
              <a:t> </a:t>
            </a:r>
            <a:r>
              <a:rPr lang="en-US" sz="1100" spc="0" dirty="0">
                <a:effectLst/>
                <a:latin typeface="Arial MT"/>
                <a:ea typeface="Arial MT"/>
                <a:cs typeface="Arial MT"/>
              </a:rPr>
              <a:t>try</a:t>
            </a:r>
            <a:r>
              <a:rPr lang="en-US" sz="1100" spc="-50" dirty="0">
                <a:effectLst/>
                <a:latin typeface="Arial MT"/>
                <a:ea typeface="Arial MT"/>
                <a:cs typeface="Arial MT"/>
              </a:rPr>
              <a:t> </a:t>
            </a:r>
            <a:r>
              <a:rPr lang="en-US" sz="1100" spc="0" dirty="0">
                <a:effectLst/>
                <a:latin typeface="Arial MT"/>
                <a:ea typeface="Arial MT"/>
                <a:cs typeface="Arial MT"/>
              </a:rPr>
              <a:t>to</a:t>
            </a:r>
            <a:r>
              <a:rPr lang="en-US" sz="1100" spc="-50" dirty="0">
                <a:effectLst/>
                <a:latin typeface="Arial MT"/>
                <a:ea typeface="Arial MT"/>
                <a:cs typeface="Arial MT"/>
              </a:rPr>
              <a:t> </a:t>
            </a:r>
            <a:r>
              <a:rPr lang="en-US" sz="1100" spc="0" dirty="0">
                <a:effectLst/>
                <a:latin typeface="Arial MT"/>
                <a:ea typeface="Arial MT"/>
                <a:cs typeface="Arial MT"/>
              </a:rPr>
              <a:t>access</a:t>
            </a:r>
            <a:r>
              <a:rPr lang="en-US" sz="1100" spc="-55" dirty="0">
                <a:effectLst/>
                <a:latin typeface="Arial MT"/>
                <a:ea typeface="Arial MT"/>
                <a:cs typeface="Arial MT"/>
              </a:rPr>
              <a:t> </a:t>
            </a:r>
            <a:r>
              <a:rPr lang="en-US" sz="1100" spc="0" dirty="0">
                <a:effectLst/>
                <a:latin typeface="Arial MT"/>
                <a:ea typeface="Arial MT"/>
                <a:cs typeface="Arial MT"/>
              </a:rPr>
              <a:t>a</a:t>
            </a:r>
            <a:r>
              <a:rPr lang="en-US" sz="1100" spc="-50" dirty="0">
                <a:effectLst/>
                <a:latin typeface="Arial MT"/>
                <a:ea typeface="Arial MT"/>
                <a:cs typeface="Arial MT"/>
              </a:rPr>
              <a:t> </a:t>
            </a:r>
            <a:r>
              <a:rPr lang="en-US" sz="1100" spc="0" dirty="0">
                <a:effectLst/>
                <a:latin typeface="Arial MT"/>
                <a:ea typeface="Arial MT"/>
                <a:cs typeface="Arial MT"/>
              </a:rPr>
              <a:t>class</a:t>
            </a:r>
            <a:r>
              <a:rPr lang="en-US" sz="1100" spc="-50" dirty="0">
                <a:effectLst/>
                <a:latin typeface="Arial MT"/>
                <a:ea typeface="Arial MT"/>
                <a:cs typeface="Arial MT"/>
              </a:rPr>
              <a:t> </a:t>
            </a:r>
            <a:r>
              <a:rPr lang="en-US" sz="1100" spc="0" dirty="0">
                <a:effectLst/>
                <a:latin typeface="Arial MT"/>
                <a:ea typeface="Arial MT"/>
                <a:cs typeface="Arial MT"/>
              </a:rPr>
              <a:t>in</a:t>
            </a:r>
            <a:r>
              <a:rPr lang="en-US" sz="1100" spc="-45" dirty="0">
                <a:effectLst/>
                <a:latin typeface="Arial MT"/>
                <a:ea typeface="Arial MT"/>
                <a:cs typeface="Arial MT"/>
              </a:rPr>
              <a:t> </a:t>
            </a:r>
            <a:r>
              <a:rPr lang="en-US" sz="1100" spc="0" dirty="0">
                <a:effectLst/>
                <a:latin typeface="Arial MT"/>
                <a:ea typeface="Arial MT"/>
                <a:cs typeface="Arial MT"/>
              </a:rPr>
              <a:t>the</a:t>
            </a:r>
            <a:r>
              <a:rPr lang="en-US" sz="1100" spc="-50" dirty="0">
                <a:effectLst/>
                <a:latin typeface="Arial MT"/>
                <a:ea typeface="Arial MT"/>
                <a:cs typeface="Arial MT"/>
              </a:rPr>
              <a:t> </a:t>
            </a:r>
            <a:r>
              <a:rPr lang="en-US" sz="1100" spc="0" dirty="0">
                <a:effectLst/>
                <a:latin typeface="Arial MT"/>
                <a:ea typeface="Arial MT"/>
                <a:cs typeface="Arial MT"/>
              </a:rPr>
              <a:t>program</a:t>
            </a:r>
            <a:r>
              <a:rPr lang="en-US" sz="1100" spc="-50" dirty="0">
                <a:effectLst/>
                <a:latin typeface="Arial MT"/>
                <a:ea typeface="Arial MT"/>
                <a:cs typeface="Arial MT"/>
              </a:rPr>
              <a:t> </a:t>
            </a:r>
            <a:r>
              <a:rPr lang="en-US" sz="1100" spc="0" dirty="0">
                <a:effectLst/>
                <a:latin typeface="Arial MT"/>
                <a:ea typeface="Arial MT"/>
                <a:cs typeface="Arial MT"/>
              </a:rPr>
              <a:t>for</a:t>
            </a:r>
            <a:r>
              <a:rPr lang="en-US" sz="1100" spc="-50" dirty="0">
                <a:effectLst/>
                <a:latin typeface="Arial MT"/>
                <a:ea typeface="Arial MT"/>
                <a:cs typeface="Arial MT"/>
              </a:rPr>
              <a:t> </a:t>
            </a:r>
            <a:r>
              <a:rPr lang="en-US" sz="1100" spc="0" dirty="0">
                <a:effectLst/>
                <a:latin typeface="Arial MT"/>
                <a:ea typeface="Arial MT"/>
                <a:cs typeface="Arial MT"/>
              </a:rPr>
              <a:t>the</a:t>
            </a:r>
            <a:r>
              <a:rPr lang="en-US" sz="1100" spc="-50" dirty="0">
                <a:effectLst/>
                <a:latin typeface="Arial MT"/>
                <a:ea typeface="Arial MT"/>
                <a:cs typeface="Arial MT"/>
              </a:rPr>
              <a:t> </a:t>
            </a:r>
            <a:r>
              <a:rPr lang="en-US" sz="1100" spc="0" dirty="0">
                <a:effectLst/>
                <a:latin typeface="Arial MT"/>
                <a:ea typeface="Arial MT"/>
                <a:cs typeface="Arial MT"/>
              </a:rPr>
              <a:t>first</a:t>
            </a:r>
            <a:r>
              <a:rPr lang="en-US" sz="1100" spc="-50" dirty="0">
                <a:effectLst/>
                <a:latin typeface="Arial MT"/>
                <a:ea typeface="Arial MT"/>
                <a:cs typeface="Arial MT"/>
              </a:rPr>
              <a:t> </a:t>
            </a:r>
            <a:r>
              <a:rPr lang="en-US" sz="1100" spc="0" dirty="0">
                <a:effectLst/>
                <a:latin typeface="Arial MT"/>
                <a:ea typeface="Arial MT"/>
                <a:cs typeface="Arial MT"/>
              </a:rPr>
              <a:t>time,</a:t>
            </a:r>
            <a:r>
              <a:rPr lang="en-US" sz="1100" spc="-50" dirty="0">
                <a:effectLst/>
                <a:latin typeface="Arial MT"/>
                <a:ea typeface="Arial MT"/>
                <a:cs typeface="Arial MT"/>
              </a:rPr>
              <a:t> </a:t>
            </a:r>
            <a:r>
              <a:rPr lang="en-US" sz="1100" spc="0" dirty="0">
                <a:effectLst/>
                <a:latin typeface="Arial MT"/>
                <a:ea typeface="Arial MT"/>
                <a:cs typeface="Arial MT"/>
              </a:rPr>
              <a:t>then</a:t>
            </a:r>
            <a:r>
              <a:rPr lang="en-US" sz="1100" spc="-45" dirty="0">
                <a:effectLst/>
                <a:latin typeface="Arial MT"/>
                <a:ea typeface="Arial MT"/>
                <a:cs typeface="Arial MT"/>
              </a:rPr>
              <a:t> </a:t>
            </a:r>
            <a:r>
              <a:rPr lang="en-US" sz="1100" spc="0" dirty="0">
                <a:effectLst/>
                <a:latin typeface="Arial MT"/>
                <a:ea typeface="Arial MT"/>
                <a:cs typeface="Arial MT"/>
              </a:rPr>
              <a:t>the</a:t>
            </a:r>
            <a:r>
              <a:rPr lang="en-US" sz="1100" spc="-50" dirty="0">
                <a:effectLst/>
                <a:latin typeface="Arial MT"/>
                <a:ea typeface="Arial MT"/>
                <a:cs typeface="Arial MT"/>
              </a:rPr>
              <a:t> </a:t>
            </a:r>
            <a:r>
              <a:rPr lang="en-US" sz="1100" spc="0" dirty="0">
                <a:effectLst/>
                <a:latin typeface="Arial MT"/>
                <a:ea typeface="Arial MT"/>
                <a:cs typeface="Arial MT"/>
              </a:rPr>
              <a:t>“Class</a:t>
            </a:r>
            <a:r>
              <a:rPr lang="en-US" sz="1100" spc="-50" dirty="0">
                <a:effectLst/>
                <a:latin typeface="Arial MT"/>
                <a:ea typeface="Arial MT"/>
                <a:cs typeface="Arial MT"/>
              </a:rPr>
              <a:t> </a:t>
            </a:r>
            <a:r>
              <a:rPr lang="en-US" sz="1100" spc="0" dirty="0">
                <a:effectLst/>
                <a:latin typeface="Arial MT"/>
                <a:ea typeface="Arial MT"/>
                <a:cs typeface="Arial MT"/>
              </a:rPr>
              <a:t>Loader” </a:t>
            </a:r>
            <a:r>
              <a:rPr lang="en-US" sz="1100" spc="-30" dirty="0">
                <a:effectLst/>
                <a:latin typeface="Arial MT"/>
                <a:ea typeface="Arial MT"/>
                <a:cs typeface="Arial MT"/>
              </a:rPr>
              <a:t>searches</a:t>
            </a:r>
            <a:r>
              <a:rPr lang="en-US" sz="1100" spc="-50" dirty="0">
                <a:effectLst/>
                <a:latin typeface="Arial MT"/>
                <a:ea typeface="Arial MT"/>
                <a:cs typeface="Arial MT"/>
              </a:rPr>
              <a:t> </a:t>
            </a:r>
            <a:r>
              <a:rPr lang="en-US" sz="1100" spc="-30" dirty="0">
                <a:effectLst/>
                <a:latin typeface="Arial MT"/>
                <a:ea typeface="Arial MT"/>
                <a:cs typeface="Arial MT"/>
              </a:rPr>
              <a:t>for</a:t>
            </a:r>
            <a:r>
              <a:rPr lang="en-US" sz="1100" spc="-45" dirty="0">
                <a:effectLst/>
                <a:latin typeface="Arial MT"/>
                <a:ea typeface="Arial MT"/>
                <a:cs typeface="Arial MT"/>
              </a:rPr>
              <a:t> </a:t>
            </a:r>
            <a:r>
              <a:rPr lang="en-US" sz="1100" spc="-30" dirty="0">
                <a:effectLst/>
                <a:latin typeface="Arial MT"/>
                <a:ea typeface="Arial MT"/>
                <a:cs typeface="Arial MT"/>
              </a:rPr>
              <a:t>the</a:t>
            </a:r>
            <a:r>
              <a:rPr lang="en-US" sz="1100" spc="-45" dirty="0">
                <a:effectLst/>
                <a:latin typeface="Arial MT"/>
                <a:ea typeface="Arial MT"/>
                <a:cs typeface="Arial MT"/>
              </a:rPr>
              <a:t> </a:t>
            </a:r>
            <a:r>
              <a:rPr lang="en-US" sz="1100" spc="-30" dirty="0">
                <a:effectLst/>
                <a:latin typeface="Arial MT"/>
                <a:ea typeface="Arial MT"/>
                <a:cs typeface="Arial MT"/>
              </a:rPr>
              <a:t>class</a:t>
            </a:r>
            <a:r>
              <a:rPr lang="en-US" sz="1100" spc="-45" dirty="0">
                <a:effectLst/>
                <a:latin typeface="Arial MT"/>
                <a:ea typeface="Arial MT"/>
                <a:cs typeface="Arial MT"/>
              </a:rPr>
              <a:t> </a:t>
            </a:r>
            <a:r>
              <a:rPr lang="en-US" sz="1100" spc="-30" dirty="0">
                <a:effectLst/>
                <a:latin typeface="Arial MT"/>
                <a:ea typeface="Arial MT"/>
                <a:cs typeface="Arial MT"/>
              </a:rPr>
              <a:t>in</a:t>
            </a:r>
            <a:r>
              <a:rPr lang="en-US" sz="1100" spc="-40" dirty="0">
                <a:effectLst/>
                <a:latin typeface="Arial MT"/>
                <a:ea typeface="Arial MT"/>
                <a:cs typeface="Arial MT"/>
              </a:rPr>
              <a:t> </a:t>
            </a:r>
            <a:r>
              <a:rPr lang="en-US" sz="1100" spc="-30" dirty="0">
                <a:effectLst/>
                <a:latin typeface="Arial MT"/>
                <a:ea typeface="Arial MT"/>
                <a:cs typeface="Arial MT"/>
              </a:rPr>
              <a:t>the</a:t>
            </a:r>
            <a:r>
              <a:rPr lang="en-US" sz="1100" spc="-40" dirty="0">
                <a:effectLst/>
                <a:latin typeface="Arial MT"/>
                <a:ea typeface="Arial MT"/>
                <a:cs typeface="Arial MT"/>
              </a:rPr>
              <a:t> </a:t>
            </a:r>
            <a:r>
              <a:rPr lang="en-US" sz="1100" spc="-30" dirty="0">
                <a:effectLst/>
                <a:latin typeface="Arial MT"/>
                <a:ea typeface="Arial MT"/>
                <a:cs typeface="Arial MT"/>
              </a:rPr>
              <a:t>entire</a:t>
            </a:r>
            <a:r>
              <a:rPr lang="en-US" sz="1100" spc="-40" dirty="0">
                <a:effectLst/>
                <a:latin typeface="Arial MT"/>
                <a:ea typeface="Arial MT"/>
                <a:cs typeface="Arial MT"/>
              </a:rPr>
              <a:t> </a:t>
            </a:r>
            <a:r>
              <a:rPr lang="en-US" sz="1100" spc="-30" dirty="0">
                <a:effectLst/>
                <a:latin typeface="Arial MT"/>
                <a:ea typeface="Arial MT"/>
                <a:cs typeface="Arial MT"/>
              </a:rPr>
              <a:t>program,</a:t>
            </a:r>
            <a:r>
              <a:rPr lang="en-US" sz="1100" spc="-45" dirty="0">
                <a:effectLst/>
                <a:latin typeface="Arial MT"/>
                <a:ea typeface="Arial MT"/>
                <a:cs typeface="Arial MT"/>
              </a:rPr>
              <a:t> </a:t>
            </a:r>
            <a:r>
              <a:rPr lang="en-US" sz="1100" spc="-30" dirty="0">
                <a:effectLst/>
                <a:latin typeface="Arial MT"/>
                <a:ea typeface="Arial MT"/>
                <a:cs typeface="Arial MT"/>
              </a:rPr>
              <a:t>loads</a:t>
            </a:r>
            <a:r>
              <a:rPr lang="en-US" sz="1100" spc="-50" dirty="0">
                <a:effectLst/>
                <a:latin typeface="Arial MT"/>
                <a:ea typeface="Arial MT"/>
                <a:cs typeface="Arial MT"/>
              </a:rPr>
              <a:t> </a:t>
            </a:r>
            <a:r>
              <a:rPr lang="en-US" sz="1100" spc="-30" dirty="0">
                <a:effectLst/>
                <a:latin typeface="Arial MT"/>
                <a:ea typeface="Arial MT"/>
                <a:cs typeface="Arial MT"/>
              </a:rPr>
              <a:t>the</a:t>
            </a:r>
            <a:r>
              <a:rPr lang="en-US" sz="1100" spc="-40" dirty="0">
                <a:effectLst/>
                <a:latin typeface="Arial MT"/>
                <a:ea typeface="Arial MT"/>
                <a:cs typeface="Arial MT"/>
              </a:rPr>
              <a:t> </a:t>
            </a:r>
            <a:r>
              <a:rPr lang="en-US" sz="1100" spc="-30" dirty="0">
                <a:effectLst/>
                <a:latin typeface="Arial MT"/>
                <a:ea typeface="Arial MT"/>
                <a:cs typeface="Arial MT"/>
              </a:rPr>
              <a:t>class</a:t>
            </a:r>
            <a:r>
              <a:rPr lang="en-US" sz="1100" spc="-50" dirty="0">
                <a:effectLst/>
                <a:latin typeface="Arial MT"/>
                <a:ea typeface="Arial MT"/>
                <a:cs typeface="Arial MT"/>
              </a:rPr>
              <a:t> </a:t>
            </a:r>
            <a:r>
              <a:rPr lang="en-US" sz="1100" spc="-30" dirty="0">
                <a:effectLst/>
                <a:latin typeface="Arial MT"/>
                <a:ea typeface="Arial MT"/>
                <a:cs typeface="Arial MT"/>
              </a:rPr>
              <a:t>into</a:t>
            </a:r>
            <a:r>
              <a:rPr lang="en-US" sz="1100" spc="-15" dirty="0">
                <a:effectLst/>
                <a:latin typeface="Arial MT"/>
                <a:ea typeface="Arial MT"/>
                <a:cs typeface="Arial MT"/>
              </a:rPr>
              <a:t> </a:t>
            </a:r>
            <a:r>
              <a:rPr lang="en-US" sz="1100" spc="-30" dirty="0">
                <a:effectLst/>
                <a:latin typeface="Arial MT"/>
                <a:ea typeface="Arial MT"/>
                <a:cs typeface="Arial MT"/>
              </a:rPr>
              <a:t>the</a:t>
            </a:r>
            <a:r>
              <a:rPr lang="en-US" sz="1100" spc="-40" dirty="0">
                <a:effectLst/>
                <a:latin typeface="Arial MT"/>
                <a:ea typeface="Arial MT"/>
                <a:cs typeface="Arial MT"/>
              </a:rPr>
              <a:t> </a:t>
            </a:r>
            <a:r>
              <a:rPr lang="en-US" sz="1100" spc="-30" dirty="0">
                <a:effectLst/>
                <a:latin typeface="Arial MT"/>
                <a:ea typeface="Arial MT"/>
                <a:cs typeface="Arial MT"/>
              </a:rPr>
              <a:t>memory,</a:t>
            </a:r>
            <a:r>
              <a:rPr lang="en-US" sz="1100" spc="-45" dirty="0">
                <a:effectLst/>
                <a:latin typeface="Arial MT"/>
                <a:ea typeface="Arial MT"/>
                <a:cs typeface="Arial MT"/>
              </a:rPr>
              <a:t> </a:t>
            </a:r>
            <a:r>
              <a:rPr lang="en-US" sz="1100" spc="-30" dirty="0">
                <a:effectLst/>
                <a:latin typeface="Arial MT"/>
                <a:ea typeface="Arial MT"/>
                <a:cs typeface="Arial MT"/>
              </a:rPr>
              <a:t>and</a:t>
            </a:r>
            <a:r>
              <a:rPr lang="en-US" sz="1100" spc="-45" dirty="0">
                <a:effectLst/>
                <a:latin typeface="Arial MT"/>
                <a:ea typeface="Arial MT"/>
                <a:cs typeface="Arial MT"/>
              </a:rPr>
              <a:t> </a:t>
            </a:r>
            <a:r>
              <a:rPr lang="en-US" sz="1100" spc="-30" dirty="0">
                <a:effectLst/>
                <a:latin typeface="Arial MT"/>
                <a:ea typeface="Arial MT"/>
                <a:cs typeface="Arial MT"/>
              </a:rPr>
              <a:t>it</a:t>
            </a:r>
            <a:r>
              <a:rPr lang="en-US" sz="1100" spc="-40" dirty="0">
                <a:effectLst/>
                <a:latin typeface="Arial MT"/>
                <a:ea typeface="Arial MT"/>
                <a:cs typeface="Arial MT"/>
              </a:rPr>
              <a:t> </a:t>
            </a:r>
            <a:r>
              <a:rPr lang="en-US" sz="1100" spc="-30" dirty="0">
                <a:effectLst/>
                <a:latin typeface="Arial MT"/>
                <a:ea typeface="Arial MT"/>
                <a:cs typeface="Arial MT"/>
              </a:rPr>
              <a:t>passes </a:t>
            </a:r>
            <a:r>
              <a:rPr lang="en-US" sz="1100" spc="0" dirty="0">
                <a:effectLst/>
                <a:latin typeface="Arial MT"/>
                <a:ea typeface="Arial MT"/>
                <a:cs typeface="Arial MT"/>
              </a:rPr>
              <a:t>the class to JIT compiler.</a:t>
            </a:r>
            <a:r>
              <a:rPr lang="en-US" sz="1100" spc="-10" dirty="0">
                <a:effectLst/>
                <a:latin typeface="Arial MT"/>
                <a:ea typeface="Arial MT"/>
                <a:cs typeface="Arial MT"/>
              </a:rPr>
              <a:t> </a:t>
            </a:r>
            <a:r>
              <a:rPr lang="en-US" sz="1100" spc="0" dirty="0">
                <a:effectLst/>
                <a:latin typeface="Arial MT"/>
                <a:ea typeface="Arial MT"/>
                <a:cs typeface="Arial MT"/>
              </a:rPr>
              <a:t>That means if we don’t call a class, it will not be</a:t>
            </a:r>
            <a:r>
              <a:rPr lang="en-US" sz="1100" spc="-5" dirty="0">
                <a:effectLst/>
                <a:latin typeface="Arial MT"/>
                <a:ea typeface="Arial MT"/>
                <a:cs typeface="Arial MT"/>
              </a:rPr>
              <a:t> </a:t>
            </a:r>
            <a:r>
              <a:rPr lang="en-US" sz="1100" spc="0" dirty="0">
                <a:effectLst/>
                <a:latin typeface="Arial MT"/>
                <a:ea typeface="Arial MT"/>
                <a:cs typeface="Arial MT"/>
              </a:rPr>
              <a:t>loaded into </a:t>
            </a:r>
            <a:r>
              <a:rPr lang="en-US" sz="1100" spc="-10" dirty="0">
                <a:effectLst/>
                <a:latin typeface="Arial MT"/>
                <a:ea typeface="Arial MT"/>
                <a:cs typeface="Arial MT"/>
              </a:rPr>
              <a:t>memory.</a:t>
            </a:r>
            <a:r>
              <a:rPr lang="en-US" sz="1100" spc="-50" dirty="0">
                <a:effectLst/>
                <a:latin typeface="Arial MT"/>
                <a:ea typeface="Arial MT"/>
                <a:cs typeface="Arial MT"/>
              </a:rPr>
              <a:t> </a:t>
            </a:r>
            <a:r>
              <a:rPr lang="en-US" sz="1100" spc="-10" dirty="0">
                <a:effectLst/>
                <a:latin typeface="Arial MT"/>
                <a:ea typeface="Arial MT"/>
                <a:cs typeface="Arial MT"/>
              </a:rPr>
              <a:t>This</a:t>
            </a:r>
            <a:r>
              <a:rPr lang="en-US" sz="1100" spc="-55" dirty="0">
                <a:effectLst/>
                <a:latin typeface="Arial MT"/>
                <a:ea typeface="Arial MT"/>
                <a:cs typeface="Arial MT"/>
              </a:rPr>
              <a:t> </a:t>
            </a:r>
            <a:r>
              <a:rPr lang="en-US" sz="1100" spc="-10" dirty="0">
                <a:effectLst/>
                <a:latin typeface="Arial MT"/>
                <a:ea typeface="Arial MT"/>
                <a:cs typeface="Arial MT"/>
              </a:rPr>
              <a:t>avoids</a:t>
            </a:r>
            <a:r>
              <a:rPr lang="en-US" sz="1100" spc="-55" dirty="0">
                <a:effectLst/>
                <a:latin typeface="Arial MT"/>
                <a:ea typeface="Arial MT"/>
                <a:cs typeface="Arial MT"/>
              </a:rPr>
              <a:t> </a:t>
            </a:r>
            <a:r>
              <a:rPr lang="en-US" sz="1100" spc="-10" dirty="0">
                <a:effectLst/>
                <a:latin typeface="Arial MT"/>
                <a:ea typeface="Arial MT"/>
                <a:cs typeface="Arial MT"/>
              </a:rPr>
              <a:t>un-necessary</a:t>
            </a:r>
            <a:r>
              <a:rPr lang="en-US" sz="1100" spc="-55" dirty="0">
                <a:effectLst/>
                <a:latin typeface="Arial MT"/>
                <a:ea typeface="Arial MT"/>
                <a:cs typeface="Arial MT"/>
              </a:rPr>
              <a:t> </a:t>
            </a:r>
            <a:r>
              <a:rPr lang="en-US" sz="1100" spc="-10" dirty="0">
                <a:effectLst/>
                <a:latin typeface="Arial MT"/>
                <a:ea typeface="Arial MT"/>
                <a:cs typeface="Arial MT"/>
              </a:rPr>
              <a:t>loading</a:t>
            </a:r>
            <a:r>
              <a:rPr lang="en-US" sz="1100" spc="-50" dirty="0">
                <a:effectLst/>
                <a:latin typeface="Arial MT"/>
                <a:ea typeface="Arial MT"/>
                <a:cs typeface="Arial MT"/>
              </a:rPr>
              <a:t> </a:t>
            </a:r>
            <a:r>
              <a:rPr lang="en-US" sz="1100" spc="-10" dirty="0">
                <a:effectLst/>
                <a:latin typeface="Arial MT"/>
                <a:ea typeface="Arial MT"/>
                <a:cs typeface="Arial MT"/>
              </a:rPr>
              <a:t>of</a:t>
            </a:r>
            <a:r>
              <a:rPr lang="en-US" sz="1100" spc="-55" dirty="0">
                <a:effectLst/>
                <a:latin typeface="Arial MT"/>
                <a:ea typeface="Arial MT"/>
                <a:cs typeface="Arial MT"/>
              </a:rPr>
              <a:t> </a:t>
            </a:r>
            <a:r>
              <a:rPr lang="en-US" sz="1100" spc="-10" dirty="0">
                <a:effectLst/>
                <a:latin typeface="Arial MT"/>
                <a:ea typeface="Arial MT"/>
                <a:cs typeface="Arial MT"/>
              </a:rPr>
              <a:t>the</a:t>
            </a:r>
            <a:r>
              <a:rPr lang="en-US" sz="1100" spc="-50" dirty="0">
                <a:effectLst/>
                <a:latin typeface="Arial MT"/>
                <a:ea typeface="Arial MT"/>
                <a:cs typeface="Arial MT"/>
              </a:rPr>
              <a:t> </a:t>
            </a:r>
            <a:r>
              <a:rPr lang="en-US" sz="1100" spc="-10" dirty="0">
                <a:effectLst/>
                <a:latin typeface="Arial MT"/>
                <a:ea typeface="Arial MT"/>
                <a:cs typeface="Arial MT"/>
              </a:rPr>
              <a:t>classes,</a:t>
            </a:r>
            <a:r>
              <a:rPr lang="en-US" sz="1100" spc="-50" dirty="0">
                <a:effectLst/>
                <a:latin typeface="Arial MT"/>
                <a:ea typeface="Arial MT"/>
                <a:cs typeface="Arial MT"/>
              </a:rPr>
              <a:t> </a:t>
            </a:r>
            <a:r>
              <a:rPr lang="en-US" sz="1100" spc="-10" dirty="0">
                <a:effectLst/>
                <a:latin typeface="Arial MT"/>
                <a:ea typeface="Arial MT"/>
                <a:cs typeface="Arial MT"/>
              </a:rPr>
              <a:t>if</a:t>
            </a:r>
            <a:r>
              <a:rPr lang="en-US" sz="1100" spc="-45" dirty="0">
                <a:effectLst/>
                <a:latin typeface="Arial MT"/>
                <a:ea typeface="Arial MT"/>
                <a:cs typeface="Arial MT"/>
              </a:rPr>
              <a:t> </a:t>
            </a:r>
            <a:r>
              <a:rPr lang="en-US" sz="1100" spc="-10" dirty="0">
                <a:effectLst/>
                <a:latin typeface="Arial MT"/>
                <a:ea typeface="Arial MT"/>
                <a:cs typeface="Arial MT"/>
              </a:rPr>
              <a:t>we</a:t>
            </a:r>
            <a:r>
              <a:rPr lang="en-US" sz="1100" spc="-45" dirty="0">
                <a:effectLst/>
                <a:latin typeface="Arial MT"/>
                <a:ea typeface="Arial MT"/>
                <a:cs typeface="Arial MT"/>
              </a:rPr>
              <a:t> </a:t>
            </a:r>
            <a:r>
              <a:rPr lang="en-US" sz="1100" spc="-10" dirty="0">
                <a:effectLst/>
                <a:latin typeface="Arial MT"/>
                <a:ea typeface="Arial MT"/>
                <a:cs typeface="Arial MT"/>
              </a:rPr>
              <a:t>don’t</a:t>
            </a:r>
            <a:r>
              <a:rPr lang="en-US" sz="1100" spc="-50" dirty="0">
                <a:effectLst/>
                <a:latin typeface="Arial MT"/>
                <a:ea typeface="Arial MT"/>
                <a:cs typeface="Arial MT"/>
              </a:rPr>
              <a:t> </a:t>
            </a:r>
            <a:r>
              <a:rPr lang="en-US" sz="1100" spc="-10" dirty="0">
                <a:effectLst/>
                <a:latin typeface="Arial MT"/>
                <a:ea typeface="Arial MT"/>
                <a:cs typeface="Arial MT"/>
              </a:rPr>
              <a:t>require</a:t>
            </a:r>
            <a:r>
              <a:rPr lang="en-US" sz="1100" spc="-50" dirty="0">
                <a:effectLst/>
                <a:latin typeface="Arial MT"/>
                <a:ea typeface="Arial MT"/>
                <a:cs typeface="Arial MT"/>
              </a:rPr>
              <a:t> </a:t>
            </a:r>
            <a:r>
              <a:rPr lang="en-US" sz="1100" spc="-10" dirty="0">
                <a:effectLst/>
                <a:latin typeface="Arial MT"/>
                <a:ea typeface="Arial MT"/>
                <a:cs typeface="Arial MT"/>
              </a:rPr>
              <a:t>them.</a:t>
            </a:r>
            <a:r>
              <a:rPr lang="en-US" sz="1100" spc="-50" dirty="0">
                <a:effectLst/>
                <a:latin typeface="Arial MT"/>
                <a:ea typeface="Arial MT"/>
                <a:cs typeface="Arial MT"/>
              </a:rPr>
              <a:t> </a:t>
            </a:r>
            <a:r>
              <a:rPr lang="en-US" sz="1100" spc="-10" dirty="0">
                <a:effectLst/>
                <a:latin typeface="Arial MT"/>
                <a:ea typeface="Arial MT"/>
                <a:cs typeface="Arial MT"/>
              </a:rPr>
              <a:t>So</a:t>
            </a:r>
            <a:r>
              <a:rPr lang="en-US" sz="1100" spc="-50" dirty="0">
                <a:effectLst/>
                <a:latin typeface="Arial MT"/>
                <a:ea typeface="Arial MT"/>
                <a:cs typeface="Arial MT"/>
              </a:rPr>
              <a:t> </a:t>
            </a:r>
            <a:r>
              <a:rPr lang="en-US" sz="1100" spc="-10" dirty="0">
                <a:effectLst/>
                <a:latin typeface="Arial MT"/>
                <a:ea typeface="Arial MT"/>
                <a:cs typeface="Arial MT"/>
              </a:rPr>
              <a:t>it </a:t>
            </a:r>
            <a:r>
              <a:rPr lang="en-US" sz="1100" spc="0" dirty="0">
                <a:effectLst/>
                <a:latin typeface="Arial MT"/>
                <a:ea typeface="Arial MT"/>
                <a:cs typeface="Arial MT"/>
              </a:rPr>
              <a:t>improves</a:t>
            </a:r>
            <a:r>
              <a:rPr lang="en-US" sz="1100" spc="-20" dirty="0">
                <a:effectLst/>
                <a:latin typeface="Arial MT"/>
                <a:ea typeface="Arial MT"/>
                <a:cs typeface="Arial MT"/>
              </a:rPr>
              <a:t> </a:t>
            </a:r>
            <a:r>
              <a:rPr lang="en-US" sz="1100" spc="0" dirty="0">
                <a:effectLst/>
                <a:latin typeface="Arial MT"/>
                <a:ea typeface="Arial MT"/>
                <a:cs typeface="Arial MT"/>
              </a:rPr>
              <a:t>performance.</a:t>
            </a:r>
            <a:endParaRPr lang="en-IN" sz="1100" spc="0" dirty="0">
              <a:effectLst/>
              <a:latin typeface="Arial MT"/>
              <a:ea typeface="Arial MT"/>
              <a:cs typeface="Arial MT"/>
            </a:endParaRPr>
          </a:p>
          <a:p>
            <a:pPr marL="742950" lvl="1" indent="-285750">
              <a:spcBef>
                <a:spcPts val="1215"/>
              </a:spcBef>
              <a:spcAft>
                <a:spcPts val="0"/>
              </a:spcAft>
              <a:buSzPts val="1100"/>
              <a:buFont typeface="Arial MT"/>
              <a:buAutoNum type="arabicPeriod"/>
              <a:tabLst>
                <a:tab pos="650875" algn="l"/>
              </a:tabLst>
            </a:pPr>
            <a:r>
              <a:rPr lang="en-US" sz="1100" spc="-40" dirty="0">
                <a:effectLst/>
                <a:latin typeface="Arial MT"/>
                <a:ea typeface="Arial MT"/>
                <a:cs typeface="Arial MT"/>
              </a:rPr>
              <a:t>JIT</a:t>
            </a:r>
            <a:r>
              <a:rPr lang="en-US" sz="1100" spc="10" dirty="0">
                <a:effectLst/>
                <a:latin typeface="Arial MT"/>
                <a:ea typeface="Arial MT"/>
                <a:cs typeface="Arial MT"/>
              </a:rPr>
              <a:t> </a:t>
            </a:r>
            <a:r>
              <a:rPr lang="en-US" sz="1100" spc="-40" dirty="0">
                <a:effectLst/>
                <a:latin typeface="Arial MT"/>
                <a:ea typeface="Arial MT"/>
                <a:cs typeface="Arial MT"/>
              </a:rPr>
              <a:t>(Just-In-Time)</a:t>
            </a:r>
            <a:r>
              <a:rPr lang="en-US" sz="1100" spc="0" dirty="0">
                <a:effectLst/>
                <a:latin typeface="Arial MT"/>
                <a:ea typeface="Arial MT"/>
                <a:cs typeface="Arial MT"/>
              </a:rPr>
              <a:t> </a:t>
            </a:r>
            <a:r>
              <a:rPr lang="en-US" sz="1100" spc="-40" dirty="0">
                <a:effectLst/>
                <a:latin typeface="Arial MT"/>
                <a:ea typeface="Arial MT"/>
                <a:cs typeface="Arial MT"/>
              </a:rPr>
              <a:t>Compiler:</a:t>
            </a:r>
            <a:r>
              <a:rPr lang="en-US" sz="1100" spc="10" dirty="0">
                <a:effectLst/>
                <a:latin typeface="Arial MT"/>
                <a:ea typeface="Arial MT"/>
                <a:cs typeface="Arial MT"/>
              </a:rPr>
              <a:t> </a:t>
            </a:r>
            <a:r>
              <a:rPr lang="en-US" sz="1100" spc="-40" dirty="0">
                <a:effectLst/>
                <a:latin typeface="Arial MT"/>
                <a:ea typeface="Arial MT"/>
                <a:cs typeface="Arial MT"/>
              </a:rPr>
              <a:t>“JIT</a:t>
            </a:r>
            <a:r>
              <a:rPr lang="en-US" sz="1100" spc="0" dirty="0">
                <a:effectLst/>
                <a:latin typeface="Arial MT"/>
                <a:ea typeface="Arial MT"/>
                <a:cs typeface="Arial MT"/>
              </a:rPr>
              <a:t> </a:t>
            </a:r>
            <a:r>
              <a:rPr lang="en-US" sz="1100" spc="-40" dirty="0">
                <a:effectLst/>
                <a:latin typeface="Arial MT"/>
                <a:ea typeface="Arial MT"/>
                <a:cs typeface="Arial MT"/>
              </a:rPr>
              <a:t>Compiler”</a:t>
            </a:r>
            <a:r>
              <a:rPr lang="en-US" sz="1100" spc="0" dirty="0">
                <a:effectLst/>
                <a:latin typeface="Arial MT"/>
                <a:ea typeface="Arial MT"/>
                <a:cs typeface="Arial MT"/>
              </a:rPr>
              <a:t> </a:t>
            </a:r>
            <a:r>
              <a:rPr lang="en-US" sz="1100" spc="-40" dirty="0">
                <a:effectLst/>
                <a:latin typeface="Arial MT"/>
                <a:ea typeface="Arial MT"/>
                <a:cs typeface="Arial MT"/>
              </a:rPr>
              <a:t>is</a:t>
            </a:r>
            <a:r>
              <a:rPr lang="en-US" sz="1100" spc="-10" dirty="0">
                <a:effectLst/>
                <a:latin typeface="Arial MT"/>
                <a:ea typeface="Arial MT"/>
                <a:cs typeface="Arial MT"/>
              </a:rPr>
              <a:t> </a:t>
            </a:r>
            <a:r>
              <a:rPr lang="en-US" sz="1100" spc="-40" dirty="0">
                <a:effectLst/>
                <a:latin typeface="Arial MT"/>
                <a:ea typeface="Arial MT"/>
                <a:cs typeface="Arial MT"/>
              </a:rPr>
              <a:t>a</a:t>
            </a:r>
            <a:r>
              <a:rPr lang="en-US" sz="1100" spc="-5" dirty="0">
                <a:effectLst/>
                <a:latin typeface="Arial MT"/>
                <a:ea typeface="Arial MT"/>
                <a:cs typeface="Arial MT"/>
              </a:rPr>
              <a:t> </a:t>
            </a:r>
            <a:r>
              <a:rPr lang="en-US" sz="1100" spc="-40" dirty="0">
                <a:effectLst/>
                <a:latin typeface="Arial MT"/>
                <a:ea typeface="Arial MT"/>
                <a:cs typeface="Arial MT"/>
              </a:rPr>
              <a:t>sub</a:t>
            </a:r>
            <a:r>
              <a:rPr lang="en-US" sz="1100" spc="10" dirty="0">
                <a:effectLst/>
                <a:latin typeface="Arial MT"/>
                <a:ea typeface="Arial MT"/>
                <a:cs typeface="Arial MT"/>
              </a:rPr>
              <a:t> </a:t>
            </a:r>
            <a:r>
              <a:rPr lang="en-US" sz="1100" spc="-40" dirty="0">
                <a:effectLst/>
                <a:latin typeface="Arial MT"/>
                <a:ea typeface="Arial MT"/>
                <a:cs typeface="Arial MT"/>
              </a:rPr>
              <a:t>component</a:t>
            </a:r>
            <a:r>
              <a:rPr lang="en-US" sz="1100" spc="0" dirty="0">
                <a:effectLst/>
                <a:latin typeface="Arial MT"/>
                <a:ea typeface="Arial MT"/>
                <a:cs typeface="Arial MT"/>
              </a:rPr>
              <a:t> </a:t>
            </a:r>
            <a:r>
              <a:rPr lang="en-US" sz="1100" spc="-40" dirty="0">
                <a:effectLst/>
                <a:latin typeface="Arial MT"/>
                <a:ea typeface="Arial MT"/>
                <a:cs typeface="Arial MT"/>
              </a:rPr>
              <a:t>in</a:t>
            </a:r>
            <a:r>
              <a:rPr lang="en-US" sz="1100" spc="0" dirty="0">
                <a:effectLst/>
                <a:latin typeface="Arial MT"/>
                <a:ea typeface="Arial MT"/>
                <a:cs typeface="Arial MT"/>
              </a:rPr>
              <a:t> </a:t>
            </a:r>
            <a:r>
              <a:rPr lang="en-US" sz="1100" spc="-40" dirty="0">
                <a:effectLst/>
                <a:latin typeface="Arial MT"/>
                <a:ea typeface="Arial MT"/>
                <a:cs typeface="Arial MT"/>
              </a:rPr>
              <a:t>CLR,</a:t>
            </a:r>
            <a:r>
              <a:rPr lang="en-US" sz="1100" spc="-5" dirty="0">
                <a:effectLst/>
                <a:latin typeface="Arial MT"/>
                <a:ea typeface="Arial MT"/>
                <a:cs typeface="Arial MT"/>
              </a:rPr>
              <a:t> </a:t>
            </a:r>
            <a:r>
              <a:rPr lang="en-US" sz="1100" spc="-40" dirty="0">
                <a:effectLst/>
                <a:latin typeface="Arial MT"/>
                <a:ea typeface="Arial MT"/>
                <a:cs typeface="Arial MT"/>
              </a:rPr>
              <a:t>which</a:t>
            </a:r>
            <a:r>
              <a:rPr lang="en-US" sz="1100" spc="-25" dirty="0">
                <a:effectLst/>
                <a:latin typeface="Arial MT"/>
                <a:ea typeface="Arial MT"/>
                <a:cs typeface="Arial MT"/>
              </a:rPr>
              <a:t> </a:t>
            </a:r>
            <a:r>
              <a:rPr lang="en-US" sz="1100" spc="-40" dirty="0">
                <a:effectLst/>
                <a:latin typeface="Arial MT"/>
                <a:ea typeface="Arial MT"/>
                <a:cs typeface="Arial MT"/>
              </a:rPr>
              <a:t>converts</a:t>
            </a:r>
            <a:r>
              <a:rPr lang="en-US" sz="1100" spc="-10" dirty="0">
                <a:effectLst/>
                <a:latin typeface="Arial MT"/>
                <a:ea typeface="Arial MT"/>
                <a:cs typeface="Arial MT"/>
              </a:rPr>
              <a:t> </a:t>
            </a:r>
            <a:r>
              <a:rPr lang="en-US" sz="1100" spc="-40" dirty="0">
                <a:effectLst/>
                <a:latin typeface="Arial MT"/>
                <a:ea typeface="Arial MT"/>
                <a:cs typeface="Arial MT"/>
              </a:rPr>
              <a:t>the “MSIL</a:t>
            </a:r>
            <a:r>
              <a:rPr lang="en-US" sz="1100" spc="-10" dirty="0">
                <a:effectLst/>
                <a:latin typeface="Arial MT"/>
                <a:ea typeface="Arial MT"/>
                <a:cs typeface="Arial MT"/>
              </a:rPr>
              <a:t> </a:t>
            </a:r>
            <a:r>
              <a:rPr lang="en-US" sz="1100" spc="-40" dirty="0">
                <a:effectLst/>
                <a:latin typeface="Arial MT"/>
                <a:ea typeface="Arial MT"/>
                <a:cs typeface="Arial MT"/>
              </a:rPr>
              <a:t>code”</a:t>
            </a:r>
            <a:r>
              <a:rPr lang="en-US" sz="1100" spc="5" dirty="0">
                <a:effectLst/>
                <a:latin typeface="Arial MT"/>
                <a:ea typeface="Arial MT"/>
                <a:cs typeface="Arial MT"/>
              </a:rPr>
              <a:t> </a:t>
            </a:r>
            <a:r>
              <a:rPr lang="en-US" sz="1100" spc="-40" dirty="0">
                <a:effectLst/>
                <a:latin typeface="Arial MT"/>
                <a:ea typeface="Arial MT"/>
                <a:cs typeface="Arial MT"/>
              </a:rPr>
              <a:t>into</a:t>
            </a:r>
            <a:r>
              <a:rPr lang="en-US" sz="1100" spc="-5" dirty="0">
                <a:effectLst/>
                <a:latin typeface="Arial MT"/>
                <a:ea typeface="Arial MT"/>
                <a:cs typeface="Arial MT"/>
              </a:rPr>
              <a:t> </a:t>
            </a:r>
            <a:r>
              <a:rPr lang="en-US" sz="1100" spc="-40" dirty="0">
                <a:effectLst/>
                <a:latin typeface="Arial MT"/>
                <a:ea typeface="Arial MT"/>
                <a:cs typeface="Arial MT"/>
              </a:rPr>
              <a:t>“native</a:t>
            </a:r>
            <a:r>
              <a:rPr lang="en-US" sz="1100" spc="5" dirty="0">
                <a:effectLst/>
                <a:latin typeface="Arial MT"/>
                <a:ea typeface="Arial MT"/>
                <a:cs typeface="Arial MT"/>
              </a:rPr>
              <a:t> </a:t>
            </a:r>
            <a:r>
              <a:rPr lang="en-US" sz="1100" spc="-40" dirty="0">
                <a:effectLst/>
                <a:latin typeface="Arial MT"/>
                <a:ea typeface="Arial MT"/>
                <a:cs typeface="Arial MT"/>
              </a:rPr>
              <a:t>machine</a:t>
            </a:r>
            <a:r>
              <a:rPr lang="en-US" sz="1100" spc="5" dirty="0">
                <a:effectLst/>
                <a:latin typeface="Arial MT"/>
                <a:ea typeface="Arial MT"/>
                <a:cs typeface="Arial MT"/>
              </a:rPr>
              <a:t> </a:t>
            </a:r>
            <a:r>
              <a:rPr lang="en-US" sz="1100" spc="-40" dirty="0">
                <a:effectLst/>
                <a:latin typeface="Arial MT"/>
                <a:ea typeface="Arial MT"/>
                <a:cs typeface="Arial MT"/>
              </a:rPr>
              <a:t>language”</a:t>
            </a:r>
            <a:r>
              <a:rPr lang="en-US" sz="1100" spc="5" dirty="0">
                <a:effectLst/>
                <a:latin typeface="Arial MT"/>
                <a:ea typeface="Arial MT"/>
                <a:cs typeface="Arial MT"/>
              </a:rPr>
              <a:t> </a:t>
            </a:r>
            <a:r>
              <a:rPr lang="en-US" sz="1100" spc="-40" dirty="0">
                <a:effectLst/>
                <a:latin typeface="Arial MT"/>
                <a:ea typeface="Arial MT"/>
                <a:cs typeface="Arial MT"/>
              </a:rPr>
              <a:t>(based</a:t>
            </a:r>
            <a:r>
              <a:rPr lang="en-US" sz="1100" spc="-5" dirty="0">
                <a:effectLst/>
                <a:latin typeface="Arial MT"/>
                <a:ea typeface="Arial MT"/>
                <a:cs typeface="Arial MT"/>
              </a:rPr>
              <a:t> </a:t>
            </a:r>
            <a:r>
              <a:rPr lang="en-US" sz="1100" spc="-40" dirty="0">
                <a:effectLst/>
                <a:latin typeface="Arial MT"/>
                <a:ea typeface="Arial MT"/>
                <a:cs typeface="Arial MT"/>
              </a:rPr>
              <a:t>on</a:t>
            </a:r>
            <a:r>
              <a:rPr lang="en-US" sz="1100" spc="5" dirty="0">
                <a:effectLst/>
                <a:latin typeface="Arial MT"/>
                <a:ea typeface="Arial MT"/>
                <a:cs typeface="Arial MT"/>
              </a:rPr>
              <a:t> </a:t>
            </a:r>
            <a:r>
              <a:rPr lang="en-US" sz="1100" spc="-40" dirty="0">
                <a:effectLst/>
                <a:latin typeface="Arial MT"/>
                <a:ea typeface="Arial MT"/>
                <a:cs typeface="Arial MT"/>
              </a:rPr>
              <a:t>current</a:t>
            </a:r>
            <a:r>
              <a:rPr lang="en-US" sz="1100" dirty="0">
                <a:effectLst/>
                <a:latin typeface="Arial MT"/>
                <a:ea typeface="Arial MT"/>
                <a:cs typeface="Arial MT"/>
              </a:rPr>
              <a:t> </a:t>
            </a:r>
            <a:r>
              <a:rPr lang="en-US" sz="1100" spc="-40" dirty="0">
                <a:effectLst/>
                <a:latin typeface="Arial MT"/>
                <a:ea typeface="Arial MT"/>
                <a:cs typeface="Arial MT"/>
              </a:rPr>
              <a:t>operating</a:t>
            </a:r>
            <a:r>
              <a:rPr lang="en-US" sz="1100" spc="-5" dirty="0">
                <a:effectLst/>
                <a:latin typeface="Arial MT"/>
                <a:ea typeface="Arial MT"/>
                <a:cs typeface="Arial MT"/>
              </a:rPr>
              <a:t> </a:t>
            </a:r>
            <a:r>
              <a:rPr lang="en-US" sz="1100" spc="-40" dirty="0">
                <a:effectLst/>
                <a:latin typeface="Arial MT"/>
                <a:ea typeface="Arial MT"/>
                <a:cs typeface="Arial MT"/>
              </a:rPr>
              <a:t>system).</a:t>
            </a:r>
            <a:endParaRPr lang="en-IN" sz="1100" dirty="0">
              <a:effectLst/>
              <a:latin typeface="Arial MT"/>
              <a:ea typeface="Arial MT"/>
              <a:cs typeface="Arial MT"/>
            </a:endParaRPr>
          </a:p>
          <a:p>
            <a:pPr>
              <a:spcBef>
                <a:spcPts val="900"/>
              </a:spcBef>
            </a:pPr>
            <a:r>
              <a:rPr lang="en-US" sz="1100" dirty="0">
                <a:effectLst/>
                <a:latin typeface="Arial MT"/>
                <a:ea typeface="Arial MT"/>
                <a:cs typeface="Arial MT"/>
              </a:rPr>
              <a:t> </a:t>
            </a:r>
            <a:endParaRPr lang="en-IN" sz="1100" dirty="0">
              <a:effectLst/>
              <a:latin typeface="Arial MT"/>
              <a:ea typeface="Arial MT"/>
              <a:cs typeface="Arial MT"/>
            </a:endParaRPr>
          </a:p>
          <a:p>
            <a:r>
              <a:rPr lang="en-US" sz="1100" dirty="0">
                <a:effectLst/>
                <a:latin typeface="Arial MT"/>
                <a:ea typeface="Arial MT"/>
                <a:cs typeface="Arial MT"/>
              </a:rPr>
              <a:t>Thread Manager: “Thread Manager” is a sub component in CLR, which manages the </a:t>
            </a:r>
            <a:r>
              <a:rPr lang="en-US" sz="1100" spc="-20" dirty="0">
                <a:effectLst/>
                <a:latin typeface="Arial MT"/>
                <a:ea typeface="Arial MT"/>
                <a:cs typeface="Arial MT"/>
              </a:rPr>
              <a:t>threads</a:t>
            </a:r>
            <a:r>
              <a:rPr lang="en-US" sz="1100" spc="-60" dirty="0">
                <a:effectLst/>
                <a:latin typeface="Arial MT"/>
                <a:ea typeface="Arial MT"/>
                <a:cs typeface="Arial MT"/>
              </a:rPr>
              <a:t> </a:t>
            </a:r>
            <a:r>
              <a:rPr lang="en-US" sz="1100" spc="-20" dirty="0">
                <a:effectLst/>
                <a:latin typeface="Arial MT"/>
                <a:ea typeface="Arial MT"/>
                <a:cs typeface="Arial MT"/>
              </a:rPr>
              <a:t>of</a:t>
            </a:r>
            <a:r>
              <a:rPr lang="en-US" sz="1100" spc="-55" dirty="0">
                <a:effectLst/>
                <a:latin typeface="Arial MT"/>
                <a:ea typeface="Arial MT"/>
                <a:cs typeface="Arial MT"/>
              </a:rPr>
              <a:t> </a:t>
            </a:r>
            <a:r>
              <a:rPr lang="en-US" sz="1100" spc="-20" dirty="0">
                <a:effectLst/>
                <a:latin typeface="Arial MT"/>
                <a:ea typeface="Arial MT"/>
                <a:cs typeface="Arial MT"/>
              </a:rPr>
              <a:t>the</a:t>
            </a:r>
            <a:r>
              <a:rPr lang="en-US" sz="1100" spc="-55" dirty="0">
                <a:effectLst/>
                <a:latin typeface="Arial MT"/>
                <a:ea typeface="Arial MT"/>
                <a:cs typeface="Arial MT"/>
              </a:rPr>
              <a:t> </a:t>
            </a:r>
            <a:r>
              <a:rPr lang="en-US" sz="1100" spc="-20" dirty="0">
                <a:effectLst/>
                <a:latin typeface="Arial MT"/>
                <a:ea typeface="Arial MT"/>
                <a:cs typeface="Arial MT"/>
              </a:rPr>
              <a:t>program.</a:t>
            </a:r>
            <a:r>
              <a:rPr lang="en-US" sz="1100" spc="-60" dirty="0">
                <a:effectLst/>
                <a:latin typeface="Arial MT"/>
                <a:ea typeface="Arial MT"/>
                <a:cs typeface="Arial MT"/>
              </a:rPr>
              <a:t> </a:t>
            </a:r>
            <a:r>
              <a:rPr lang="en-US" sz="1100" spc="-20" dirty="0">
                <a:effectLst/>
                <a:latin typeface="Arial MT"/>
                <a:ea typeface="Arial MT"/>
                <a:cs typeface="Arial MT"/>
              </a:rPr>
              <a:t>It</a:t>
            </a:r>
            <a:r>
              <a:rPr lang="en-US" sz="1100" spc="-55" dirty="0">
                <a:effectLst/>
                <a:latin typeface="Arial MT"/>
                <a:ea typeface="Arial MT"/>
                <a:cs typeface="Arial MT"/>
              </a:rPr>
              <a:t> </a:t>
            </a:r>
            <a:r>
              <a:rPr lang="en-US" sz="1100" spc="-20" dirty="0">
                <a:effectLst/>
                <a:latin typeface="Arial MT"/>
                <a:ea typeface="Arial MT"/>
                <a:cs typeface="Arial MT"/>
              </a:rPr>
              <a:t>gives</a:t>
            </a:r>
            <a:r>
              <a:rPr lang="en-US" sz="1100" spc="-55" dirty="0">
                <a:effectLst/>
                <a:latin typeface="Arial MT"/>
                <a:ea typeface="Arial MT"/>
                <a:cs typeface="Arial MT"/>
              </a:rPr>
              <a:t> </a:t>
            </a:r>
            <a:r>
              <a:rPr lang="en-US" sz="1100" spc="-20" dirty="0">
                <a:effectLst/>
                <a:latin typeface="Arial MT"/>
                <a:ea typeface="Arial MT"/>
                <a:cs typeface="Arial MT"/>
              </a:rPr>
              <a:t>necessary</a:t>
            </a:r>
            <a:r>
              <a:rPr lang="en-US" sz="1100" spc="-55" dirty="0">
                <a:effectLst/>
                <a:latin typeface="Arial MT"/>
                <a:ea typeface="Arial MT"/>
                <a:cs typeface="Arial MT"/>
              </a:rPr>
              <a:t> </a:t>
            </a:r>
            <a:r>
              <a:rPr lang="en-US" sz="1100" spc="-20" dirty="0">
                <a:effectLst/>
                <a:latin typeface="Arial MT"/>
                <a:ea typeface="Arial MT"/>
                <a:cs typeface="Arial MT"/>
              </a:rPr>
              <a:t>instructions</a:t>
            </a:r>
            <a:r>
              <a:rPr lang="en-US" sz="1100" spc="-60" dirty="0">
                <a:effectLst/>
                <a:latin typeface="Arial MT"/>
                <a:ea typeface="Arial MT"/>
                <a:cs typeface="Arial MT"/>
              </a:rPr>
              <a:t> </a:t>
            </a:r>
            <a:r>
              <a:rPr lang="en-US" sz="1100" spc="-20" dirty="0">
                <a:effectLst/>
                <a:latin typeface="Arial MT"/>
                <a:ea typeface="Arial MT"/>
                <a:cs typeface="Arial MT"/>
              </a:rPr>
              <a:t>to</a:t>
            </a:r>
            <a:r>
              <a:rPr lang="en-US" sz="1100" spc="-55" dirty="0">
                <a:effectLst/>
                <a:latin typeface="Arial MT"/>
                <a:ea typeface="Arial MT"/>
                <a:cs typeface="Arial MT"/>
              </a:rPr>
              <a:t> </a:t>
            </a:r>
            <a:r>
              <a:rPr lang="en-US" sz="1100" spc="-20" dirty="0">
                <a:effectLst/>
                <a:latin typeface="Arial MT"/>
                <a:ea typeface="Arial MT"/>
                <a:cs typeface="Arial MT"/>
              </a:rPr>
              <a:t>the</a:t>
            </a:r>
            <a:r>
              <a:rPr lang="en-US" sz="1100" spc="-55" dirty="0">
                <a:effectLst/>
                <a:latin typeface="Arial MT"/>
                <a:ea typeface="Arial MT"/>
                <a:cs typeface="Arial MT"/>
              </a:rPr>
              <a:t> </a:t>
            </a:r>
            <a:r>
              <a:rPr lang="en-US" sz="1100" spc="-20" dirty="0">
                <a:effectLst/>
                <a:latin typeface="Arial MT"/>
                <a:ea typeface="Arial MT"/>
                <a:cs typeface="Arial MT"/>
              </a:rPr>
              <a:t>processor,</a:t>
            </a:r>
            <a:r>
              <a:rPr lang="en-US" sz="1100" spc="-60" dirty="0">
                <a:effectLst/>
                <a:latin typeface="Arial MT"/>
                <a:ea typeface="Arial MT"/>
                <a:cs typeface="Arial MT"/>
              </a:rPr>
              <a:t> </a:t>
            </a:r>
            <a:r>
              <a:rPr lang="en-US" sz="1100" spc="-20" dirty="0">
                <a:effectLst/>
                <a:latin typeface="Arial MT"/>
                <a:ea typeface="Arial MT"/>
                <a:cs typeface="Arial MT"/>
              </a:rPr>
              <a:t>which</a:t>
            </a:r>
            <a:r>
              <a:rPr lang="en-US" sz="1100" spc="-55" dirty="0">
                <a:effectLst/>
                <a:latin typeface="Arial MT"/>
                <a:ea typeface="Arial MT"/>
                <a:cs typeface="Arial MT"/>
              </a:rPr>
              <a:t> </a:t>
            </a:r>
            <a:r>
              <a:rPr lang="en-US" sz="1100" spc="-20" dirty="0">
                <a:effectLst/>
                <a:latin typeface="Arial MT"/>
                <a:ea typeface="Arial MT"/>
                <a:cs typeface="Arial MT"/>
              </a:rPr>
              <a:t>thread</a:t>
            </a:r>
            <a:r>
              <a:rPr lang="en-US" sz="1100" spc="-55" dirty="0">
                <a:effectLst/>
                <a:latin typeface="Arial MT"/>
                <a:ea typeface="Arial MT"/>
                <a:cs typeface="Arial MT"/>
              </a:rPr>
              <a:t> </a:t>
            </a:r>
            <a:r>
              <a:rPr lang="en-US" sz="1100" spc="-20" dirty="0">
                <a:effectLst/>
                <a:latin typeface="Arial MT"/>
                <a:ea typeface="Arial MT"/>
                <a:cs typeface="Arial MT"/>
              </a:rPr>
              <a:t>is</a:t>
            </a:r>
            <a:r>
              <a:rPr lang="en-US" sz="1100" spc="-55" dirty="0">
                <a:effectLst/>
                <a:latin typeface="Arial MT"/>
                <a:ea typeface="Arial MT"/>
                <a:cs typeface="Arial MT"/>
              </a:rPr>
              <a:t> </a:t>
            </a:r>
            <a:r>
              <a:rPr lang="en-US" sz="1100" spc="-20" dirty="0">
                <a:effectLst/>
                <a:latin typeface="Arial MT"/>
                <a:ea typeface="Arial MT"/>
                <a:cs typeface="Arial MT"/>
              </a:rPr>
              <a:t>to </a:t>
            </a:r>
            <a:r>
              <a:rPr lang="en-US" sz="1100" spc="-10" dirty="0">
                <a:effectLst/>
                <a:latin typeface="Arial MT"/>
                <a:ea typeface="Arial MT"/>
                <a:cs typeface="Arial MT"/>
              </a:rPr>
              <a:t>be</a:t>
            </a:r>
            <a:r>
              <a:rPr lang="en-US" sz="1100" spc="-60" dirty="0">
                <a:effectLst/>
                <a:latin typeface="Arial MT"/>
                <a:ea typeface="Arial MT"/>
                <a:cs typeface="Arial MT"/>
              </a:rPr>
              <a:t> </a:t>
            </a:r>
            <a:r>
              <a:rPr lang="en-US" sz="1100" spc="-10" dirty="0">
                <a:effectLst/>
                <a:latin typeface="Arial MT"/>
                <a:ea typeface="Arial MT"/>
                <a:cs typeface="Arial MT"/>
              </a:rPr>
              <a:t>executed</a:t>
            </a:r>
            <a:r>
              <a:rPr lang="en-US" sz="1100" spc="-60" dirty="0">
                <a:effectLst/>
                <a:latin typeface="Arial MT"/>
                <a:ea typeface="Arial MT"/>
                <a:cs typeface="Arial MT"/>
              </a:rPr>
              <a:t> </a:t>
            </a:r>
            <a:r>
              <a:rPr lang="en-US" sz="1100" spc="-10" dirty="0">
                <a:effectLst/>
                <a:latin typeface="Arial MT"/>
                <a:ea typeface="Arial MT"/>
                <a:cs typeface="Arial MT"/>
              </a:rPr>
              <a:t>when.</a:t>
            </a:r>
            <a:r>
              <a:rPr lang="en-US" sz="1100" spc="-60" dirty="0">
                <a:effectLst/>
                <a:latin typeface="Arial MT"/>
                <a:ea typeface="Arial MT"/>
                <a:cs typeface="Arial MT"/>
              </a:rPr>
              <a:t> </a:t>
            </a:r>
            <a:r>
              <a:rPr lang="en-US" sz="1100" spc="-10" dirty="0">
                <a:effectLst/>
                <a:latin typeface="Arial MT"/>
                <a:ea typeface="Arial MT"/>
                <a:cs typeface="Arial MT"/>
              </a:rPr>
              <a:t>A</a:t>
            </a:r>
            <a:r>
              <a:rPr lang="en-US" sz="1100" spc="-70" dirty="0">
                <a:effectLst/>
                <a:latin typeface="Arial MT"/>
                <a:ea typeface="Arial MT"/>
                <a:cs typeface="Arial MT"/>
              </a:rPr>
              <a:t> </a:t>
            </a:r>
            <a:r>
              <a:rPr lang="en-US" sz="1100" spc="-10" dirty="0">
                <a:effectLst/>
                <a:latin typeface="Arial MT"/>
                <a:ea typeface="Arial MT"/>
                <a:cs typeface="Arial MT"/>
              </a:rPr>
              <a:t>thread</a:t>
            </a:r>
            <a:r>
              <a:rPr lang="en-US" sz="1100" spc="-65" dirty="0">
                <a:effectLst/>
                <a:latin typeface="Arial MT"/>
                <a:ea typeface="Arial MT"/>
                <a:cs typeface="Arial MT"/>
              </a:rPr>
              <a:t> </a:t>
            </a:r>
            <a:r>
              <a:rPr lang="en-US" sz="1100" spc="-10" dirty="0">
                <a:effectLst/>
                <a:latin typeface="Arial MT"/>
                <a:ea typeface="Arial MT"/>
                <a:cs typeface="Arial MT"/>
              </a:rPr>
              <a:t>is</a:t>
            </a:r>
            <a:r>
              <a:rPr lang="en-US" sz="1100" spc="-65" dirty="0">
                <a:effectLst/>
                <a:latin typeface="Arial MT"/>
                <a:ea typeface="Arial MT"/>
                <a:cs typeface="Arial MT"/>
              </a:rPr>
              <a:t> </a:t>
            </a:r>
            <a:r>
              <a:rPr lang="en-US" sz="1100" spc="-10" dirty="0">
                <a:effectLst/>
                <a:latin typeface="Arial MT"/>
                <a:ea typeface="Arial MT"/>
                <a:cs typeface="Arial MT"/>
              </a:rPr>
              <a:t>a</a:t>
            </a:r>
            <a:r>
              <a:rPr lang="en-US" sz="1100" spc="-60" dirty="0">
                <a:effectLst/>
                <a:latin typeface="Arial MT"/>
                <a:ea typeface="Arial MT"/>
                <a:cs typeface="Arial MT"/>
              </a:rPr>
              <a:t> </a:t>
            </a:r>
            <a:r>
              <a:rPr lang="en-US" sz="1100" spc="-10" dirty="0">
                <a:effectLst/>
                <a:latin typeface="Arial MT"/>
                <a:ea typeface="Arial MT"/>
                <a:cs typeface="Arial MT"/>
              </a:rPr>
              <a:t>"part</a:t>
            </a:r>
            <a:r>
              <a:rPr lang="en-US" sz="1100" spc="-60" dirty="0">
                <a:effectLst/>
                <a:latin typeface="Arial MT"/>
                <a:ea typeface="Arial MT"/>
                <a:cs typeface="Arial MT"/>
              </a:rPr>
              <a:t> </a:t>
            </a:r>
            <a:r>
              <a:rPr lang="en-US" sz="1100" spc="-10" dirty="0">
                <a:effectLst/>
                <a:latin typeface="Arial MT"/>
                <a:ea typeface="Arial MT"/>
                <a:cs typeface="Arial MT"/>
              </a:rPr>
              <a:t>of</a:t>
            </a:r>
            <a:r>
              <a:rPr lang="en-US" sz="1100" spc="-65" dirty="0">
                <a:effectLst/>
                <a:latin typeface="Arial MT"/>
                <a:ea typeface="Arial MT"/>
                <a:cs typeface="Arial MT"/>
              </a:rPr>
              <a:t> </a:t>
            </a:r>
            <a:r>
              <a:rPr lang="en-US" sz="1100" spc="-10" dirty="0">
                <a:effectLst/>
                <a:latin typeface="Arial MT"/>
                <a:ea typeface="Arial MT"/>
                <a:cs typeface="Arial MT"/>
              </a:rPr>
              <a:t>the</a:t>
            </a:r>
            <a:r>
              <a:rPr lang="en-US" sz="1100" spc="-55" dirty="0">
                <a:effectLst/>
                <a:latin typeface="Arial MT"/>
                <a:ea typeface="Arial MT"/>
                <a:cs typeface="Arial MT"/>
              </a:rPr>
              <a:t> </a:t>
            </a:r>
            <a:r>
              <a:rPr lang="en-US" sz="1100" spc="-10" dirty="0">
                <a:effectLst/>
                <a:latin typeface="Arial MT"/>
                <a:ea typeface="Arial MT"/>
                <a:cs typeface="Arial MT"/>
              </a:rPr>
              <a:t>program"</a:t>
            </a:r>
            <a:r>
              <a:rPr lang="en-US" sz="1100" spc="-60" dirty="0">
                <a:effectLst/>
                <a:latin typeface="Arial MT"/>
                <a:ea typeface="Arial MT"/>
                <a:cs typeface="Arial MT"/>
              </a:rPr>
              <a:t> </a:t>
            </a:r>
            <a:r>
              <a:rPr lang="en-US" sz="1100" spc="-10" dirty="0">
                <a:effectLst/>
                <a:latin typeface="Arial MT"/>
                <a:ea typeface="Arial MT"/>
                <a:cs typeface="Arial MT"/>
              </a:rPr>
              <a:t>or</a:t>
            </a:r>
            <a:r>
              <a:rPr lang="en-US" sz="1100" spc="-60" dirty="0">
                <a:effectLst/>
                <a:latin typeface="Arial MT"/>
                <a:ea typeface="Arial MT"/>
                <a:cs typeface="Arial MT"/>
              </a:rPr>
              <a:t> </a:t>
            </a:r>
            <a:r>
              <a:rPr lang="en-US" sz="1100" spc="-10" dirty="0">
                <a:effectLst/>
                <a:latin typeface="Arial MT"/>
                <a:ea typeface="Arial MT"/>
                <a:cs typeface="Arial MT"/>
              </a:rPr>
              <a:t>"background</a:t>
            </a:r>
            <a:r>
              <a:rPr lang="en-US" sz="1100" spc="-65" dirty="0">
                <a:effectLst/>
                <a:latin typeface="Arial MT"/>
                <a:ea typeface="Arial MT"/>
                <a:cs typeface="Arial MT"/>
              </a:rPr>
              <a:t> </a:t>
            </a:r>
            <a:r>
              <a:rPr lang="en-US" sz="1100" spc="-10" dirty="0">
                <a:effectLst/>
                <a:latin typeface="Arial MT"/>
                <a:ea typeface="Arial MT"/>
                <a:cs typeface="Arial MT"/>
              </a:rPr>
              <a:t>work".</a:t>
            </a:r>
            <a:br>
              <a:rPr lang="en-US" b="0" i="0" dirty="0">
                <a:solidFill>
                  <a:srgbClr val="303141"/>
                </a:solidFill>
                <a:effectLst/>
                <a:latin typeface="Udemy Sans"/>
              </a:rPr>
            </a:br>
            <a:endParaRPr lang="en-US" b="0" i="0" dirty="0">
              <a:solidFill>
                <a:srgbClr val="303141"/>
              </a:solidFill>
              <a:effectLst/>
              <a:latin typeface="Udemy Sans"/>
            </a:endParaRPr>
          </a:p>
          <a:p>
            <a:pPr algn="l"/>
            <a:r>
              <a:rPr lang="en-US" b="1" i="0" dirty="0">
                <a:solidFill>
                  <a:srgbClr val="303141"/>
                </a:solidFill>
                <a:effectLst/>
                <a:latin typeface="Udemy Sans"/>
              </a:rPr>
              <a:t>Memory Manager:</a:t>
            </a:r>
            <a:endParaRPr lang="en-US" b="0" i="0" dirty="0">
              <a:solidFill>
                <a:srgbClr val="303141"/>
              </a:solidFill>
              <a:effectLst/>
              <a:latin typeface="Udemy Sans"/>
            </a:endParaRPr>
          </a:p>
          <a:p>
            <a:pPr algn="l"/>
            <a:r>
              <a:rPr lang="en-US" b="0" i="0" dirty="0">
                <a:solidFill>
                  <a:srgbClr val="303141"/>
                </a:solidFill>
                <a:effectLst/>
                <a:latin typeface="Udemy Sans"/>
              </a:rPr>
              <a:t>Allocating necessary memory for objects.</a:t>
            </a:r>
          </a:p>
          <a:p>
            <a:pPr algn="l"/>
            <a:r>
              <a:rPr lang="en-US" b="0" i="0" dirty="0">
                <a:solidFill>
                  <a:srgbClr val="303141"/>
                </a:solidFill>
                <a:effectLst/>
                <a:latin typeface="Udemy Sans"/>
              </a:rPr>
              <a:t>When an object is created in the code, certain amount of memory will be allocated for the object in application's "heap".</a:t>
            </a:r>
          </a:p>
          <a:p>
            <a:pPr algn="l"/>
            <a:br>
              <a:rPr lang="en-US" b="0" i="0" dirty="0">
                <a:solidFill>
                  <a:srgbClr val="303141"/>
                </a:solidFill>
                <a:effectLst/>
                <a:latin typeface="Udemy Sans"/>
              </a:rPr>
            </a:br>
            <a:endParaRPr lang="en-US" b="0" i="0" dirty="0">
              <a:solidFill>
                <a:srgbClr val="303141"/>
              </a:solidFill>
              <a:effectLst/>
              <a:latin typeface="Udemy Sans"/>
            </a:endParaRPr>
          </a:p>
          <a:p>
            <a:pPr algn="l"/>
            <a:r>
              <a:rPr lang="en-US" b="1" i="0" dirty="0">
                <a:solidFill>
                  <a:srgbClr val="303141"/>
                </a:solidFill>
                <a:effectLst/>
                <a:latin typeface="Udemy Sans"/>
              </a:rPr>
              <a:t>Garbage Collector:</a:t>
            </a:r>
            <a:endParaRPr lang="en-US" b="0" i="0" dirty="0">
              <a:solidFill>
                <a:srgbClr val="303141"/>
              </a:solidFill>
              <a:effectLst/>
              <a:latin typeface="Udemy Sans"/>
            </a:endParaRPr>
          </a:p>
          <a:p>
            <a:pPr algn="l"/>
            <a:r>
              <a:rPr lang="en-US" b="0" i="0" dirty="0">
                <a:solidFill>
                  <a:srgbClr val="303141"/>
                </a:solidFill>
                <a:effectLst/>
                <a:latin typeface="Udemy Sans"/>
              </a:rPr>
              <a:t>Freeing (deleting) memory of objects.</a:t>
            </a:r>
          </a:p>
          <a:p>
            <a:pPr algn="l"/>
            <a:r>
              <a:rPr lang="en-US" b="0" i="0" dirty="0">
                <a:solidFill>
                  <a:srgbClr val="303141"/>
                </a:solidFill>
                <a:effectLst/>
                <a:latin typeface="Udemy Sans"/>
              </a:rPr>
              <a:t>Identifies all unreferenced objects and delete them in memory (RAM).</a:t>
            </a:r>
          </a:p>
          <a:p>
            <a:pPr algn="l"/>
            <a:br>
              <a:rPr lang="en-US" b="0" i="0" dirty="0">
                <a:solidFill>
                  <a:srgbClr val="303141"/>
                </a:solidFill>
                <a:effectLst/>
                <a:latin typeface="Udemy Sans"/>
              </a:rPr>
            </a:br>
            <a:endParaRPr lang="en-US" b="0" i="0" dirty="0">
              <a:solidFill>
                <a:srgbClr val="303141"/>
              </a:solidFill>
              <a:effectLst/>
              <a:latin typeface="Udemy Sans"/>
            </a:endParaRPr>
          </a:p>
          <a:p>
            <a:pPr algn="l"/>
            <a:r>
              <a:rPr lang="en-US" b="1" i="0" dirty="0">
                <a:solidFill>
                  <a:srgbClr val="303141"/>
                </a:solidFill>
                <a:effectLst/>
                <a:latin typeface="Udemy Sans"/>
              </a:rPr>
              <a:t>JIT (Just-In-Time) Compiler:</a:t>
            </a:r>
            <a:endParaRPr lang="en-US" b="0" i="0" dirty="0">
              <a:solidFill>
                <a:srgbClr val="303141"/>
              </a:solidFill>
              <a:effectLst/>
              <a:latin typeface="Udemy Sans"/>
            </a:endParaRPr>
          </a:p>
          <a:p>
            <a:pPr algn="l"/>
            <a:r>
              <a:rPr lang="en-US" b="0" i="0" dirty="0">
                <a:solidFill>
                  <a:srgbClr val="303141"/>
                </a:solidFill>
                <a:effectLst/>
                <a:latin typeface="Udemy Sans"/>
              </a:rPr>
              <a:t>Convert the MSIL Code into Native Machine Language.</a:t>
            </a:r>
          </a:p>
          <a:p>
            <a:pPr algn="l"/>
            <a:r>
              <a:rPr lang="en-US" b="0" i="0" dirty="0">
                <a:solidFill>
                  <a:srgbClr val="303141"/>
                </a:solidFill>
                <a:effectLst/>
                <a:latin typeface="Udemy Sans"/>
              </a:rPr>
              <a:t>Compiles the code of a class, when it is needed (before executing that particular class).</a:t>
            </a:r>
          </a:p>
          <a:p>
            <a:pPr algn="l"/>
            <a:br>
              <a:rPr lang="en-US" b="0" i="0" dirty="0">
                <a:solidFill>
                  <a:srgbClr val="303141"/>
                </a:solidFill>
                <a:effectLst/>
                <a:latin typeface="Udemy Sans"/>
              </a:rPr>
            </a:br>
            <a:endParaRPr lang="en-US" b="0" i="0" dirty="0">
              <a:solidFill>
                <a:srgbClr val="303141"/>
              </a:solidFill>
              <a:effectLst/>
              <a:latin typeface="Udemy Sans"/>
            </a:endParaRPr>
          </a:p>
          <a:p>
            <a:pPr algn="l"/>
            <a:r>
              <a:rPr lang="en-US" b="1" i="0" dirty="0">
                <a:solidFill>
                  <a:srgbClr val="303141"/>
                </a:solidFill>
                <a:effectLst/>
                <a:latin typeface="Udemy Sans"/>
              </a:rPr>
              <a:t>Exception Manager:</a:t>
            </a:r>
            <a:endParaRPr lang="en-US" b="0" i="0" dirty="0">
              <a:solidFill>
                <a:srgbClr val="303141"/>
              </a:solidFill>
              <a:effectLst/>
              <a:latin typeface="Udemy Sans"/>
            </a:endParaRPr>
          </a:p>
          <a:p>
            <a:pPr algn="l"/>
            <a:r>
              <a:rPr lang="en-US" b="0" i="0" dirty="0">
                <a:solidFill>
                  <a:srgbClr val="303141"/>
                </a:solidFill>
                <a:effectLst/>
                <a:latin typeface="Udemy Sans"/>
              </a:rPr>
              <a:t>Raise notifications while run-time errors.</a:t>
            </a:r>
          </a:p>
          <a:p>
            <a:pPr algn="l"/>
            <a:r>
              <a:rPr lang="en-US" b="0" i="0" dirty="0">
                <a:solidFill>
                  <a:srgbClr val="303141"/>
                </a:solidFill>
                <a:effectLst/>
                <a:latin typeface="Udemy Sans"/>
              </a:rPr>
              <a:t>Creates exception logs.</a:t>
            </a:r>
          </a:p>
          <a:p>
            <a:pPr algn="l"/>
            <a:br>
              <a:rPr lang="en-US" b="0" i="0" dirty="0">
                <a:solidFill>
                  <a:srgbClr val="303141"/>
                </a:solidFill>
                <a:effectLst/>
                <a:latin typeface="Udemy Sans"/>
              </a:rPr>
            </a:br>
            <a:endParaRPr lang="en-US" b="0" i="0" dirty="0">
              <a:solidFill>
                <a:srgbClr val="303141"/>
              </a:solidFill>
              <a:effectLst/>
              <a:latin typeface="Udemy Sans"/>
            </a:endParaRPr>
          </a:p>
          <a:p>
            <a:pPr algn="l"/>
            <a:r>
              <a:rPr lang="en-US" b="1" i="0" dirty="0">
                <a:solidFill>
                  <a:srgbClr val="303141"/>
                </a:solidFill>
                <a:effectLst/>
                <a:latin typeface="Udemy Sans"/>
              </a:rPr>
              <a:t>Thread Manager:</a:t>
            </a:r>
            <a:endParaRPr lang="en-US" b="0" i="0" dirty="0">
              <a:solidFill>
                <a:srgbClr val="303141"/>
              </a:solidFill>
              <a:effectLst/>
              <a:latin typeface="Udemy Sans"/>
            </a:endParaRPr>
          </a:p>
          <a:p>
            <a:pPr algn="l"/>
            <a:r>
              <a:rPr lang="en-US" b="0" i="0" dirty="0">
                <a:solidFill>
                  <a:srgbClr val="303141"/>
                </a:solidFill>
                <a:effectLst/>
                <a:latin typeface="Udemy Sans"/>
              </a:rPr>
              <a:t>Create threads (background process) to execute the code.</a:t>
            </a:r>
          </a:p>
          <a:p>
            <a:pPr algn="l"/>
            <a:r>
              <a:rPr lang="en-US" b="0" i="0" dirty="0">
                <a:solidFill>
                  <a:srgbClr val="303141"/>
                </a:solidFill>
                <a:effectLst/>
                <a:latin typeface="Udemy Sans"/>
              </a:rPr>
              <a:t>The entire program is treated as "Main thread".</a:t>
            </a:r>
          </a:p>
          <a:p>
            <a:pPr algn="l"/>
            <a:r>
              <a:rPr lang="en-US" b="0" i="0" dirty="0">
                <a:solidFill>
                  <a:srgbClr val="303141"/>
                </a:solidFill>
                <a:effectLst/>
                <a:latin typeface="Udemy Sans"/>
              </a:rPr>
              <a:t>Developer can create sub threads (child threads) to do background processes.</a:t>
            </a:r>
          </a:p>
          <a:p>
            <a:pPr algn="l"/>
            <a:br>
              <a:rPr lang="en-US" b="0" i="0" dirty="0">
                <a:solidFill>
                  <a:srgbClr val="303141"/>
                </a:solidFill>
                <a:effectLst/>
                <a:latin typeface="Udemy Sans"/>
              </a:rPr>
            </a:br>
            <a:endParaRPr lang="en-US" b="0" i="0" dirty="0">
              <a:solidFill>
                <a:srgbClr val="303141"/>
              </a:solidFill>
              <a:effectLst/>
              <a:latin typeface="Udemy Sans"/>
            </a:endParaRPr>
          </a:p>
          <a:p>
            <a:pPr algn="l"/>
            <a:r>
              <a:rPr lang="en-US" b="1" i="0" dirty="0">
                <a:solidFill>
                  <a:srgbClr val="303141"/>
                </a:solidFill>
                <a:effectLst/>
                <a:latin typeface="Udemy Sans"/>
              </a:rPr>
              <a:t>Security Manager:</a:t>
            </a:r>
            <a:endParaRPr lang="en-US" b="0" i="0" dirty="0">
              <a:solidFill>
                <a:srgbClr val="303141"/>
              </a:solidFill>
              <a:effectLst/>
              <a:latin typeface="Udemy Sans"/>
            </a:endParaRPr>
          </a:p>
          <a:p>
            <a:pPr algn="l"/>
            <a:r>
              <a:rPr lang="en-US" b="0" i="0" dirty="0">
                <a:solidFill>
                  <a:srgbClr val="303141"/>
                </a:solidFill>
                <a:effectLst/>
                <a:latin typeface="Udemy Sans"/>
              </a:rPr>
              <a:t>Verifies whether the application has permission to access system resources or not.</a:t>
            </a:r>
          </a:p>
          <a:p>
            <a:pPr algn="l"/>
            <a:r>
              <a:rPr lang="en-US" b="0" i="0" dirty="0">
                <a:solidFill>
                  <a:srgbClr val="303141"/>
                </a:solidFill>
                <a:effectLst/>
                <a:latin typeface="Udemy Sans"/>
              </a:rPr>
              <a:t>Before executing the application, it verifies whether the application has not attacked by malicious programs &amp; has necessary permissions to access files / folders and hardware resources.</a:t>
            </a:r>
          </a:p>
          <a:p>
            <a:endParaRPr lang="en-IN" dirty="0"/>
          </a:p>
        </p:txBody>
      </p:sp>
      <p:sp>
        <p:nvSpPr>
          <p:cNvPr id="4" name="Slide Number Placeholder 3"/>
          <p:cNvSpPr>
            <a:spLocks noGrp="1"/>
          </p:cNvSpPr>
          <p:nvPr>
            <p:ph type="sldNum" sz="quarter" idx="5"/>
          </p:nvPr>
        </p:nvSpPr>
        <p:spPr/>
        <p:txBody>
          <a:bodyPr/>
          <a:lstStyle/>
          <a:p>
            <a:fld id="{DDE10871-EAB6-4125-8C08-9B160102C342}" type="slidenum">
              <a:rPr lang="en-IN" smtClean="0"/>
              <a:t>5</a:t>
            </a:fld>
            <a:endParaRPr lang="en-IN"/>
          </a:p>
        </p:txBody>
      </p:sp>
    </p:spTree>
    <p:extLst>
      <p:ext uri="{BB962C8B-B14F-4D97-AF65-F5344CB8AC3E}">
        <p14:creationId xmlns:p14="http://schemas.microsoft.com/office/powerpoint/2010/main" val="1277356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E10871-EAB6-4125-8C08-9B160102C342}" type="slidenum">
              <a:rPr lang="en-IN" smtClean="0"/>
              <a:t>7</a:t>
            </a:fld>
            <a:endParaRPr lang="en-IN"/>
          </a:p>
        </p:txBody>
      </p:sp>
    </p:spTree>
    <p:extLst>
      <p:ext uri="{BB962C8B-B14F-4D97-AF65-F5344CB8AC3E}">
        <p14:creationId xmlns:p14="http://schemas.microsoft.com/office/powerpoint/2010/main" val="1046743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E10871-EAB6-4125-8C08-9B160102C342}" type="slidenum">
              <a:rPr lang="en-IN" smtClean="0"/>
              <a:t>13</a:t>
            </a:fld>
            <a:endParaRPr lang="en-IN"/>
          </a:p>
        </p:txBody>
      </p:sp>
    </p:spTree>
    <p:extLst>
      <p:ext uri="{BB962C8B-B14F-4D97-AF65-F5344CB8AC3E}">
        <p14:creationId xmlns:p14="http://schemas.microsoft.com/office/powerpoint/2010/main" val="132935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E10871-EAB6-4125-8C08-9B160102C342}" type="slidenum">
              <a:rPr lang="en-IN" smtClean="0"/>
              <a:t>16</a:t>
            </a:fld>
            <a:endParaRPr lang="en-IN"/>
          </a:p>
        </p:txBody>
      </p:sp>
    </p:spTree>
    <p:extLst>
      <p:ext uri="{BB962C8B-B14F-4D97-AF65-F5344CB8AC3E}">
        <p14:creationId xmlns:p14="http://schemas.microsoft.com/office/powerpoint/2010/main" val="2717021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E10871-EAB6-4125-8C08-9B160102C342}" type="slidenum">
              <a:rPr lang="en-IN" smtClean="0"/>
              <a:t>24</a:t>
            </a:fld>
            <a:endParaRPr lang="en-IN"/>
          </a:p>
        </p:txBody>
      </p:sp>
    </p:spTree>
    <p:extLst>
      <p:ext uri="{BB962C8B-B14F-4D97-AF65-F5344CB8AC3E}">
        <p14:creationId xmlns:p14="http://schemas.microsoft.com/office/powerpoint/2010/main" val="1134856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94945">
              <a:spcBef>
                <a:spcPts val="1335"/>
              </a:spcBef>
            </a:pPr>
            <a:r>
              <a:rPr lang="en-US" sz="1800" b="1" dirty="0">
                <a:effectLst/>
                <a:latin typeface="Arial MT"/>
                <a:ea typeface="Arial MT"/>
                <a:cs typeface="Arial MT"/>
              </a:rPr>
              <a:t>Reference</a:t>
            </a:r>
            <a:r>
              <a:rPr lang="en-US" sz="1800" b="1" spc="215" dirty="0">
                <a:effectLst/>
                <a:latin typeface="Arial MT"/>
                <a:ea typeface="Arial MT"/>
                <a:cs typeface="Arial MT"/>
              </a:rPr>
              <a:t> </a:t>
            </a:r>
            <a:r>
              <a:rPr lang="en-US" sz="1800" b="1" spc="-10" dirty="0">
                <a:effectLst/>
                <a:latin typeface="Arial MT"/>
                <a:ea typeface="Arial MT"/>
                <a:cs typeface="Arial MT"/>
              </a:rPr>
              <a:t>variables</a:t>
            </a:r>
            <a:endParaRPr lang="en-IN" sz="1800" dirty="0">
              <a:effectLst/>
              <a:latin typeface="Arial MT"/>
              <a:ea typeface="Arial MT"/>
              <a:cs typeface="Arial MT"/>
            </a:endParaRPr>
          </a:p>
          <a:p>
            <a:pPr marL="342900" lvl="0" indent="-342900">
              <a:spcBef>
                <a:spcPts val="740"/>
              </a:spcBef>
              <a:buSzPts val="1100"/>
              <a:buFont typeface="Symbol" panose="05050102010706020507" pitchFamily="18" charset="2"/>
              <a:buChar char=""/>
              <a:tabLst>
                <a:tab pos="652145" algn="l"/>
              </a:tabLst>
            </a:pPr>
            <a:r>
              <a:rPr lang="en-US" sz="1800" spc="0" dirty="0">
                <a:effectLst/>
                <a:latin typeface="Arial MT"/>
                <a:ea typeface="Symbol" panose="05050102010706020507" pitchFamily="18" charset="2"/>
                <a:cs typeface="Symbol" panose="05050102010706020507" pitchFamily="18" charset="2"/>
              </a:rPr>
              <a:t>A</a:t>
            </a:r>
            <a:r>
              <a:rPr lang="en-US" sz="1800" spc="35"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“reference</a:t>
            </a:r>
            <a:r>
              <a:rPr lang="en-US" sz="1800" spc="4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variable”</a:t>
            </a:r>
            <a:r>
              <a:rPr lang="en-US" sz="1800" spc="35"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stores</a:t>
            </a:r>
            <a:r>
              <a:rPr lang="en-US" sz="1800" spc="25"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address</a:t>
            </a:r>
            <a:r>
              <a:rPr lang="en-US" sz="1800" spc="25"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of</a:t>
            </a:r>
            <a:r>
              <a:rPr lang="en-US" sz="1800" spc="2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an</a:t>
            </a:r>
            <a:r>
              <a:rPr lang="en-US" sz="1800" spc="35"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object</a:t>
            </a:r>
            <a:r>
              <a:rPr lang="en-US" sz="1800" spc="3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of</a:t>
            </a:r>
            <a:r>
              <a:rPr lang="en-US" sz="1800" spc="3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same</a:t>
            </a:r>
            <a:r>
              <a:rPr lang="en-US" sz="1800" spc="30" dirty="0">
                <a:effectLst/>
                <a:latin typeface="Arial MT"/>
                <a:ea typeface="Symbol" panose="05050102010706020507" pitchFamily="18" charset="2"/>
                <a:cs typeface="Symbol" panose="05050102010706020507" pitchFamily="18" charset="2"/>
              </a:rPr>
              <a:t> </a:t>
            </a:r>
            <a:r>
              <a:rPr lang="en-US" sz="1800" spc="-10" dirty="0">
                <a:effectLst/>
                <a:latin typeface="Arial MT"/>
                <a:ea typeface="Symbol" panose="05050102010706020507" pitchFamily="18" charset="2"/>
                <a:cs typeface="Symbol" panose="05050102010706020507" pitchFamily="18" charset="2"/>
              </a:rPr>
              <a:t>class.</a:t>
            </a:r>
            <a:r>
              <a:rPr lang="en-US" sz="1800" dirty="0">
                <a:effectLst/>
                <a:latin typeface="Arial MT"/>
                <a:ea typeface="Arial MT"/>
                <a:cs typeface="Arial MT"/>
              </a:rPr>
              <a:t> </a:t>
            </a:r>
            <a:endParaRPr lang="en-IN" sz="1800" dirty="0">
              <a:effectLst/>
              <a:latin typeface="Arial MT"/>
              <a:ea typeface="Arial MT"/>
              <a:cs typeface="Arial MT"/>
            </a:endParaRPr>
          </a:p>
          <a:p>
            <a:pPr marL="342900" marR="462280" lvl="0" indent="-342900">
              <a:lnSpc>
                <a:spcPct val="163000"/>
              </a:lnSpc>
              <a:buSzPts val="1100"/>
              <a:buFont typeface="Symbol" panose="05050102010706020507" pitchFamily="18" charset="2"/>
              <a:buChar char=""/>
              <a:tabLst>
                <a:tab pos="652145" algn="l"/>
              </a:tabLst>
            </a:pPr>
            <a:r>
              <a:rPr lang="en-US" sz="1800" spc="0" dirty="0">
                <a:effectLst/>
                <a:latin typeface="Arial MT"/>
                <a:ea typeface="Symbol" panose="05050102010706020507" pitchFamily="18" charset="2"/>
                <a:cs typeface="Symbol" panose="05050102010706020507" pitchFamily="18" charset="2"/>
              </a:rPr>
              <a:t>You</a:t>
            </a:r>
            <a:r>
              <a:rPr lang="en-US" sz="1800" spc="15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should</a:t>
            </a:r>
            <a:r>
              <a:rPr lang="en-US" sz="1800" spc="15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store</a:t>
            </a:r>
            <a:r>
              <a:rPr lang="en-US" sz="1800" spc="155"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the</a:t>
            </a:r>
            <a:r>
              <a:rPr lang="en-US" sz="1800" spc="16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“address</a:t>
            </a:r>
            <a:r>
              <a:rPr lang="en-US" sz="1800" spc="15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of</a:t>
            </a:r>
            <a:r>
              <a:rPr lang="en-US" sz="1800" spc="16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an</a:t>
            </a:r>
            <a:r>
              <a:rPr lang="en-US" sz="1800" spc="16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object”</a:t>
            </a:r>
            <a:r>
              <a:rPr lang="en-US" sz="1800" spc="155"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in</a:t>
            </a:r>
            <a:r>
              <a:rPr lang="en-US" sz="1800" spc="16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the</a:t>
            </a:r>
            <a:r>
              <a:rPr lang="en-US" sz="1800" spc="16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reference</a:t>
            </a:r>
            <a:r>
              <a:rPr lang="en-US" sz="1800" spc="16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variable;</a:t>
            </a:r>
            <a:r>
              <a:rPr lang="en-US" sz="1800" spc="155"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through</a:t>
            </a:r>
            <a:r>
              <a:rPr lang="en-US" sz="1800" spc="15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the </a:t>
            </a:r>
            <a:r>
              <a:rPr lang="en-US" sz="1800" spc="-20" dirty="0">
                <a:effectLst/>
                <a:latin typeface="Arial MT"/>
                <a:ea typeface="Symbol" panose="05050102010706020507" pitchFamily="18" charset="2"/>
                <a:cs typeface="Symbol" panose="05050102010706020507" pitchFamily="18" charset="2"/>
              </a:rPr>
              <a:t>reference</a:t>
            </a:r>
            <a:r>
              <a:rPr lang="en-US" sz="1800" spc="-65" dirty="0">
                <a:effectLst/>
                <a:latin typeface="Arial MT"/>
                <a:ea typeface="Symbol" panose="05050102010706020507" pitchFamily="18" charset="2"/>
                <a:cs typeface="Symbol" panose="05050102010706020507" pitchFamily="18" charset="2"/>
              </a:rPr>
              <a:t> </a:t>
            </a:r>
            <a:r>
              <a:rPr lang="en-US" sz="1800" spc="-20" dirty="0">
                <a:effectLst/>
                <a:latin typeface="Arial MT"/>
                <a:ea typeface="Symbol" panose="05050102010706020507" pitchFamily="18" charset="2"/>
                <a:cs typeface="Symbol" panose="05050102010706020507" pitchFamily="18" charset="2"/>
              </a:rPr>
              <a:t>variable</a:t>
            </a:r>
            <a:r>
              <a:rPr lang="en-US" sz="1800" spc="-50" dirty="0">
                <a:effectLst/>
                <a:latin typeface="Arial MT"/>
                <a:ea typeface="Symbol" panose="05050102010706020507" pitchFamily="18" charset="2"/>
                <a:cs typeface="Symbol" panose="05050102010706020507" pitchFamily="18" charset="2"/>
              </a:rPr>
              <a:t> </a:t>
            </a:r>
            <a:r>
              <a:rPr lang="en-US" sz="1800" spc="-20" dirty="0">
                <a:effectLst/>
                <a:latin typeface="Arial MT"/>
                <a:ea typeface="Symbol" panose="05050102010706020507" pitchFamily="18" charset="2"/>
                <a:cs typeface="Symbol" panose="05050102010706020507" pitchFamily="18" charset="2"/>
              </a:rPr>
              <a:t>only,</a:t>
            </a:r>
            <a:r>
              <a:rPr lang="en-US" sz="1800" spc="-55" dirty="0">
                <a:effectLst/>
                <a:latin typeface="Arial MT"/>
                <a:ea typeface="Symbol" panose="05050102010706020507" pitchFamily="18" charset="2"/>
                <a:cs typeface="Symbol" panose="05050102010706020507" pitchFamily="18" charset="2"/>
              </a:rPr>
              <a:t> </a:t>
            </a:r>
            <a:r>
              <a:rPr lang="en-US" sz="1800" spc="-20" dirty="0">
                <a:effectLst/>
                <a:latin typeface="Arial MT"/>
                <a:ea typeface="Symbol" panose="05050102010706020507" pitchFamily="18" charset="2"/>
                <a:cs typeface="Symbol" panose="05050102010706020507" pitchFamily="18" charset="2"/>
              </a:rPr>
              <a:t>we</a:t>
            </a:r>
            <a:r>
              <a:rPr lang="en-US" sz="1800" spc="-70" dirty="0">
                <a:effectLst/>
                <a:latin typeface="Arial MT"/>
                <a:ea typeface="Symbol" panose="05050102010706020507" pitchFamily="18" charset="2"/>
                <a:cs typeface="Symbol" panose="05050102010706020507" pitchFamily="18" charset="2"/>
              </a:rPr>
              <a:t> </a:t>
            </a:r>
            <a:r>
              <a:rPr lang="en-US" sz="1800" spc="-20" dirty="0">
                <a:effectLst/>
                <a:latin typeface="Arial MT"/>
                <a:ea typeface="Symbol" panose="05050102010706020507" pitchFamily="18" charset="2"/>
                <a:cs typeface="Symbol" panose="05050102010706020507" pitchFamily="18" charset="2"/>
              </a:rPr>
              <a:t>can</a:t>
            </a:r>
            <a:r>
              <a:rPr lang="en-US" sz="1800" spc="-55" dirty="0">
                <a:effectLst/>
                <a:latin typeface="Arial MT"/>
                <a:ea typeface="Symbol" panose="05050102010706020507" pitchFamily="18" charset="2"/>
                <a:cs typeface="Symbol" panose="05050102010706020507" pitchFamily="18" charset="2"/>
              </a:rPr>
              <a:t> </a:t>
            </a:r>
            <a:r>
              <a:rPr lang="en-US" sz="1800" spc="-20" dirty="0">
                <a:effectLst/>
                <a:latin typeface="Arial MT"/>
                <a:ea typeface="Symbol" panose="05050102010706020507" pitchFamily="18" charset="2"/>
                <a:cs typeface="Symbol" panose="05050102010706020507" pitchFamily="18" charset="2"/>
              </a:rPr>
              <a:t>access</a:t>
            </a:r>
            <a:r>
              <a:rPr lang="en-US" sz="1800" spc="-65" dirty="0">
                <a:effectLst/>
                <a:latin typeface="Arial MT"/>
                <a:ea typeface="Symbol" panose="05050102010706020507" pitchFamily="18" charset="2"/>
                <a:cs typeface="Symbol" panose="05050102010706020507" pitchFamily="18" charset="2"/>
              </a:rPr>
              <a:t> </a:t>
            </a:r>
            <a:r>
              <a:rPr lang="en-US" sz="1800" spc="-20" dirty="0">
                <a:effectLst/>
                <a:latin typeface="Arial MT"/>
                <a:ea typeface="Symbol" panose="05050102010706020507" pitchFamily="18" charset="2"/>
                <a:cs typeface="Symbol" panose="05050102010706020507" pitchFamily="18" charset="2"/>
              </a:rPr>
              <a:t>the</a:t>
            </a:r>
            <a:r>
              <a:rPr lang="en-US" sz="1800" spc="-50" dirty="0">
                <a:effectLst/>
                <a:latin typeface="Arial MT"/>
                <a:ea typeface="Symbol" panose="05050102010706020507" pitchFamily="18" charset="2"/>
                <a:cs typeface="Symbol" panose="05050102010706020507" pitchFamily="18" charset="2"/>
              </a:rPr>
              <a:t> </a:t>
            </a:r>
            <a:r>
              <a:rPr lang="en-US" sz="1800" spc="-20" dirty="0">
                <a:effectLst/>
                <a:latin typeface="Arial MT"/>
                <a:ea typeface="Symbol" panose="05050102010706020507" pitchFamily="18" charset="2"/>
                <a:cs typeface="Symbol" panose="05050102010706020507" pitchFamily="18" charset="2"/>
              </a:rPr>
              <a:t>object,</a:t>
            </a:r>
            <a:r>
              <a:rPr lang="en-US" sz="1800" spc="-55" dirty="0">
                <a:effectLst/>
                <a:latin typeface="Arial MT"/>
                <a:ea typeface="Symbol" panose="05050102010706020507" pitchFamily="18" charset="2"/>
                <a:cs typeface="Symbol" panose="05050102010706020507" pitchFamily="18" charset="2"/>
              </a:rPr>
              <a:t> </a:t>
            </a:r>
            <a:r>
              <a:rPr lang="en-US" sz="1800" spc="-20" dirty="0">
                <a:effectLst/>
                <a:latin typeface="Arial MT"/>
                <a:ea typeface="Symbol" panose="05050102010706020507" pitchFamily="18" charset="2"/>
                <a:cs typeface="Symbol" panose="05050102010706020507" pitchFamily="18" charset="2"/>
              </a:rPr>
              <a:t>in</a:t>
            </a:r>
            <a:r>
              <a:rPr lang="en-US" sz="1800" spc="-50" dirty="0">
                <a:effectLst/>
                <a:latin typeface="Arial MT"/>
                <a:ea typeface="Symbol" panose="05050102010706020507" pitchFamily="18" charset="2"/>
                <a:cs typeface="Symbol" panose="05050102010706020507" pitchFamily="18" charset="2"/>
              </a:rPr>
              <a:t> </a:t>
            </a:r>
            <a:r>
              <a:rPr lang="en-US" sz="1800" spc="-20" dirty="0">
                <a:effectLst/>
                <a:latin typeface="Arial MT"/>
                <a:ea typeface="Symbol" panose="05050102010706020507" pitchFamily="18" charset="2"/>
                <a:cs typeface="Symbol" panose="05050102010706020507" pitchFamily="18" charset="2"/>
              </a:rPr>
              <a:t>further</a:t>
            </a:r>
            <a:r>
              <a:rPr lang="en-US" sz="1800" spc="-55" dirty="0">
                <a:effectLst/>
                <a:latin typeface="Arial MT"/>
                <a:ea typeface="Symbol" panose="05050102010706020507" pitchFamily="18" charset="2"/>
                <a:cs typeface="Symbol" panose="05050102010706020507" pitchFamily="18" charset="2"/>
              </a:rPr>
              <a:t> </a:t>
            </a:r>
            <a:r>
              <a:rPr lang="en-US" sz="1800" spc="-20" dirty="0">
                <a:effectLst/>
                <a:latin typeface="Arial MT"/>
                <a:ea typeface="Symbol" panose="05050102010706020507" pitchFamily="18" charset="2"/>
                <a:cs typeface="Symbol" panose="05050102010706020507" pitchFamily="18" charset="2"/>
              </a:rPr>
              <a:t>statements.</a:t>
            </a:r>
          </a:p>
          <a:p>
            <a:pPr marL="285750" indent="-285750">
              <a:buFont typeface="Arial" panose="020B0604020202020204" pitchFamily="34" charset="0"/>
              <a:buChar char="•"/>
            </a:pPr>
            <a:r>
              <a:rPr lang="en-US" sz="1800" spc="-30" dirty="0">
                <a:effectLst/>
                <a:latin typeface="Arial MT"/>
                <a:ea typeface="Arial MT"/>
                <a:cs typeface="Arial MT"/>
              </a:rPr>
              <a:t>All</a:t>
            </a:r>
            <a:r>
              <a:rPr lang="en-US" sz="1800" spc="-55" dirty="0">
                <a:effectLst/>
                <a:latin typeface="Arial MT"/>
                <a:ea typeface="Arial MT"/>
                <a:cs typeface="Arial MT"/>
              </a:rPr>
              <a:t> </a:t>
            </a:r>
            <a:r>
              <a:rPr lang="en-US" sz="1800" spc="-30" dirty="0">
                <a:effectLst/>
                <a:latin typeface="Arial MT"/>
                <a:ea typeface="Arial MT"/>
                <a:cs typeface="Arial MT"/>
              </a:rPr>
              <a:t>reference</a:t>
            </a:r>
            <a:r>
              <a:rPr lang="en-US" sz="1800" spc="-45" dirty="0">
                <a:effectLst/>
                <a:latin typeface="Arial MT"/>
                <a:ea typeface="Arial MT"/>
                <a:cs typeface="Arial MT"/>
              </a:rPr>
              <a:t> </a:t>
            </a:r>
            <a:r>
              <a:rPr lang="en-US" sz="1800" spc="-30" dirty="0">
                <a:effectLst/>
                <a:latin typeface="Arial MT"/>
                <a:ea typeface="Arial MT"/>
                <a:cs typeface="Arial MT"/>
              </a:rPr>
              <a:t>variables</a:t>
            </a:r>
            <a:r>
              <a:rPr lang="en-US" sz="1800" spc="-55" dirty="0">
                <a:effectLst/>
                <a:latin typeface="Arial MT"/>
                <a:ea typeface="Arial MT"/>
                <a:cs typeface="Arial MT"/>
              </a:rPr>
              <a:t> </a:t>
            </a:r>
            <a:r>
              <a:rPr lang="en-US" sz="1800" spc="-30" dirty="0">
                <a:effectLst/>
                <a:latin typeface="Arial MT"/>
                <a:ea typeface="Arial MT"/>
                <a:cs typeface="Arial MT"/>
              </a:rPr>
              <a:t>will</a:t>
            </a:r>
            <a:r>
              <a:rPr lang="en-US" sz="1800" spc="-65" dirty="0">
                <a:effectLst/>
                <a:latin typeface="Arial MT"/>
                <a:ea typeface="Arial MT"/>
                <a:cs typeface="Arial MT"/>
              </a:rPr>
              <a:t> </a:t>
            </a:r>
            <a:r>
              <a:rPr lang="en-US" sz="1800" spc="-30" dirty="0">
                <a:effectLst/>
                <a:latin typeface="Arial MT"/>
                <a:ea typeface="Arial MT"/>
                <a:cs typeface="Arial MT"/>
              </a:rPr>
              <a:t>be</a:t>
            </a:r>
            <a:r>
              <a:rPr lang="en-US" sz="1800" spc="-50" dirty="0">
                <a:effectLst/>
                <a:latin typeface="Arial MT"/>
                <a:ea typeface="Arial MT"/>
                <a:cs typeface="Arial MT"/>
              </a:rPr>
              <a:t> </a:t>
            </a:r>
            <a:r>
              <a:rPr lang="en-US" sz="1800" spc="-30" dirty="0">
                <a:effectLst/>
                <a:latin typeface="Arial MT"/>
                <a:ea typeface="Arial MT"/>
                <a:cs typeface="Arial MT"/>
              </a:rPr>
              <a:t>stored</a:t>
            </a:r>
            <a:r>
              <a:rPr lang="en-US" sz="1800" spc="-55" dirty="0">
                <a:effectLst/>
                <a:latin typeface="Arial MT"/>
                <a:ea typeface="Arial MT"/>
                <a:cs typeface="Arial MT"/>
              </a:rPr>
              <a:t> </a:t>
            </a:r>
            <a:r>
              <a:rPr lang="en-US" sz="1800" spc="-30" dirty="0">
                <a:effectLst/>
                <a:latin typeface="Arial MT"/>
                <a:ea typeface="Arial MT"/>
                <a:cs typeface="Arial MT"/>
              </a:rPr>
              <a:t>in</a:t>
            </a:r>
            <a:r>
              <a:rPr lang="en-US" sz="1800" spc="-50" dirty="0">
                <a:effectLst/>
                <a:latin typeface="Arial MT"/>
                <a:ea typeface="Arial MT"/>
                <a:cs typeface="Arial MT"/>
              </a:rPr>
              <a:t> </a:t>
            </a:r>
            <a:r>
              <a:rPr lang="en-US" sz="1800" spc="-30" dirty="0">
                <a:effectLst/>
                <a:latin typeface="Arial MT"/>
                <a:ea typeface="Arial MT"/>
                <a:cs typeface="Arial MT"/>
              </a:rPr>
              <a:t>an</a:t>
            </a:r>
            <a:r>
              <a:rPr lang="en-US" sz="1800" spc="-50" dirty="0">
                <a:effectLst/>
                <a:latin typeface="Arial MT"/>
                <a:ea typeface="Arial MT"/>
                <a:cs typeface="Arial MT"/>
              </a:rPr>
              <a:t> </a:t>
            </a:r>
            <a:r>
              <a:rPr lang="en-US" sz="1800" spc="-30" dirty="0">
                <a:effectLst/>
                <a:latin typeface="Arial MT"/>
                <a:ea typeface="Arial MT"/>
                <a:cs typeface="Arial MT"/>
              </a:rPr>
              <a:t>area</a:t>
            </a:r>
            <a:r>
              <a:rPr lang="en-US" sz="1800" spc="-50" dirty="0">
                <a:effectLst/>
                <a:latin typeface="Arial MT"/>
                <a:ea typeface="Arial MT"/>
                <a:cs typeface="Arial MT"/>
              </a:rPr>
              <a:t> </a:t>
            </a:r>
            <a:r>
              <a:rPr lang="en-US" sz="1800" spc="-30" dirty="0">
                <a:effectLst/>
                <a:latin typeface="Arial MT"/>
                <a:ea typeface="Arial MT"/>
                <a:cs typeface="Arial MT"/>
              </a:rPr>
              <a:t>called</a:t>
            </a:r>
            <a:r>
              <a:rPr lang="en-US" sz="1800" spc="-50" dirty="0">
                <a:effectLst/>
                <a:latin typeface="Arial MT"/>
                <a:ea typeface="Arial MT"/>
                <a:cs typeface="Arial MT"/>
              </a:rPr>
              <a:t> </a:t>
            </a:r>
            <a:r>
              <a:rPr lang="en-US" sz="1800" spc="-30" dirty="0">
                <a:effectLst/>
                <a:latin typeface="Arial MT"/>
                <a:ea typeface="Arial MT"/>
                <a:cs typeface="Arial MT"/>
              </a:rPr>
              <a:t>"stack"</a:t>
            </a:r>
            <a:r>
              <a:rPr lang="en-US" sz="1800" spc="-50" dirty="0">
                <a:effectLst/>
                <a:latin typeface="Arial MT"/>
                <a:ea typeface="Arial MT"/>
                <a:cs typeface="Arial MT"/>
              </a:rPr>
              <a:t> </a:t>
            </a:r>
            <a:r>
              <a:rPr lang="en-US" sz="1800" spc="-30" dirty="0">
                <a:effectLst/>
                <a:latin typeface="Arial MT"/>
                <a:ea typeface="Arial MT"/>
                <a:cs typeface="Arial MT"/>
              </a:rPr>
              <a:t>in</a:t>
            </a:r>
            <a:r>
              <a:rPr lang="en-US" sz="1800" spc="-50" dirty="0">
                <a:effectLst/>
                <a:latin typeface="Arial MT"/>
                <a:ea typeface="Arial MT"/>
                <a:cs typeface="Arial MT"/>
              </a:rPr>
              <a:t> </a:t>
            </a:r>
            <a:r>
              <a:rPr lang="en-US" sz="1800" spc="-30" dirty="0">
                <a:effectLst/>
                <a:latin typeface="Arial MT"/>
                <a:ea typeface="Arial MT"/>
                <a:cs typeface="Arial MT"/>
              </a:rPr>
              <a:t>RAM</a:t>
            </a:r>
            <a:endParaRPr lang="en-IN" dirty="0"/>
          </a:p>
        </p:txBody>
      </p:sp>
      <p:sp>
        <p:nvSpPr>
          <p:cNvPr id="4" name="Slide Number Placeholder 3"/>
          <p:cNvSpPr>
            <a:spLocks noGrp="1"/>
          </p:cNvSpPr>
          <p:nvPr>
            <p:ph type="sldNum" sz="quarter" idx="5"/>
          </p:nvPr>
        </p:nvSpPr>
        <p:spPr/>
        <p:txBody>
          <a:bodyPr/>
          <a:lstStyle/>
          <a:p>
            <a:fld id="{DDE10871-EAB6-4125-8C08-9B160102C342}" type="slidenum">
              <a:rPr lang="en-IN" smtClean="0"/>
              <a:t>25</a:t>
            </a:fld>
            <a:endParaRPr lang="en-IN"/>
          </a:p>
        </p:txBody>
      </p:sp>
    </p:spTree>
    <p:extLst>
      <p:ext uri="{BB962C8B-B14F-4D97-AF65-F5344CB8AC3E}">
        <p14:creationId xmlns:p14="http://schemas.microsoft.com/office/powerpoint/2010/main" val="810320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42950" marR="683260" lvl="1" indent="-285750">
              <a:lnSpc>
                <a:spcPct val="168000"/>
              </a:lnSpc>
              <a:spcBef>
                <a:spcPts val="5"/>
              </a:spcBef>
              <a:spcAft>
                <a:spcPts val="0"/>
              </a:spcAft>
              <a:buFont typeface="+mj-lt"/>
              <a:buAutoNum type="arabicPeriod"/>
              <a:tabLst>
                <a:tab pos="879475" algn="l"/>
                <a:tab pos="880745" algn="l"/>
              </a:tabLst>
            </a:pPr>
            <a:r>
              <a:rPr lang="en-US" sz="1100" spc="0" dirty="0">
                <a:effectLst/>
                <a:latin typeface="Arial MT"/>
                <a:ea typeface="Arial MT"/>
                <a:cs typeface="Arial MT"/>
              </a:rPr>
              <a:t>private: The private members are accessible “only within the same class”. These are not accessible in any other classes. “Private” is the default access modifier in c#.net. That means, if you don’t specify any access modifier, by default, “private” will be applied.</a:t>
            </a:r>
          </a:p>
          <a:p>
            <a:pPr marL="742950" marR="683260" lvl="1" indent="-285750">
              <a:lnSpc>
                <a:spcPct val="168000"/>
              </a:lnSpc>
              <a:spcBef>
                <a:spcPts val="5"/>
              </a:spcBef>
              <a:spcAft>
                <a:spcPts val="0"/>
              </a:spcAft>
              <a:buFont typeface="+mj-lt"/>
              <a:buAutoNum type="arabicPeriod"/>
              <a:tabLst>
                <a:tab pos="879475" algn="l"/>
                <a:tab pos="880745" algn="l"/>
              </a:tabLst>
            </a:pPr>
            <a:endParaRPr lang="en-US" sz="1100" spc="0" dirty="0">
              <a:effectLst/>
              <a:latin typeface="Arial MT"/>
              <a:ea typeface="Arial MT"/>
              <a:cs typeface="Arial MT"/>
            </a:endParaRPr>
          </a:p>
          <a:p>
            <a:pPr marL="742950" marR="683260" lvl="1" indent="-285750">
              <a:lnSpc>
                <a:spcPct val="168000"/>
              </a:lnSpc>
              <a:spcBef>
                <a:spcPts val="5"/>
              </a:spcBef>
              <a:spcAft>
                <a:spcPts val="0"/>
              </a:spcAft>
              <a:buFont typeface="+mj-lt"/>
              <a:buAutoNum type="arabicPeriod"/>
              <a:tabLst>
                <a:tab pos="879475" algn="l"/>
                <a:tab pos="880745" algn="l"/>
              </a:tabLst>
            </a:pPr>
            <a:r>
              <a:rPr lang="en-US" sz="1100" spc="0" dirty="0">
                <a:effectLst/>
                <a:latin typeface="Arial MT"/>
                <a:ea typeface="Arial MT"/>
                <a:cs typeface="Arial MT"/>
              </a:rPr>
              <a:t>protected: The protected members are accessible “within the same class” and also within the “child classes at same project” and “child classes at other projects”. These are not accessible in any other classes. Note: The other projects must add the reference of current  project </a:t>
            </a:r>
          </a:p>
          <a:p>
            <a:pPr marL="457200" marR="683260" lvl="1" indent="0">
              <a:lnSpc>
                <a:spcPct val="168000"/>
              </a:lnSpc>
              <a:spcBef>
                <a:spcPts val="5"/>
              </a:spcBef>
              <a:spcAft>
                <a:spcPts val="0"/>
              </a:spcAft>
              <a:buFont typeface="+mj-lt"/>
              <a:buNone/>
              <a:tabLst>
                <a:tab pos="879475" algn="l"/>
                <a:tab pos="880745" algn="l"/>
              </a:tabLst>
            </a:pPr>
            <a:endParaRPr lang="en-US" sz="1100" spc="0" dirty="0">
              <a:effectLst/>
              <a:latin typeface="Arial MT"/>
              <a:ea typeface="Arial MT"/>
              <a:cs typeface="Arial MT"/>
            </a:endParaRPr>
          </a:p>
          <a:p>
            <a:pPr marL="457200" marR="683260" lvl="1" indent="0">
              <a:lnSpc>
                <a:spcPct val="168000"/>
              </a:lnSpc>
              <a:spcBef>
                <a:spcPts val="5"/>
              </a:spcBef>
              <a:spcAft>
                <a:spcPts val="0"/>
              </a:spcAft>
              <a:buFont typeface="+mj-lt"/>
              <a:buNone/>
              <a:tabLst>
                <a:tab pos="879475" algn="l"/>
                <a:tab pos="880745" algn="l"/>
              </a:tabLst>
            </a:pPr>
            <a:r>
              <a:rPr lang="en-US" sz="1100" spc="0" dirty="0">
                <a:effectLst/>
                <a:latin typeface="Arial MT"/>
                <a:ea typeface="Arial MT"/>
                <a:cs typeface="Arial MT"/>
              </a:rPr>
              <a:t>3 internal: The internal members are accessible “anywhere within the same project”.</a:t>
            </a:r>
          </a:p>
          <a:p>
            <a:pPr marL="457200" marR="683260" lvl="1" indent="0">
              <a:lnSpc>
                <a:spcPct val="168000"/>
              </a:lnSpc>
              <a:spcBef>
                <a:spcPts val="5"/>
              </a:spcBef>
              <a:spcAft>
                <a:spcPts val="0"/>
              </a:spcAft>
              <a:buFont typeface="+mj-lt"/>
              <a:buNone/>
              <a:tabLst>
                <a:tab pos="879475" algn="l"/>
                <a:tab pos="880745" algn="l"/>
              </a:tabLst>
            </a:pPr>
            <a:endParaRPr lang="en-US" sz="1100" spc="0" dirty="0">
              <a:effectLst/>
              <a:latin typeface="Arial MT"/>
              <a:ea typeface="Arial MT"/>
              <a:cs typeface="Arial MT"/>
            </a:endParaRPr>
          </a:p>
          <a:p>
            <a:pPr marL="457200" marR="683260" lvl="1" indent="0">
              <a:lnSpc>
                <a:spcPct val="168000"/>
              </a:lnSpc>
              <a:spcBef>
                <a:spcPts val="5"/>
              </a:spcBef>
              <a:spcAft>
                <a:spcPts val="0"/>
              </a:spcAft>
              <a:buFont typeface="+mj-lt"/>
              <a:buNone/>
              <a:tabLst>
                <a:tab pos="879475" algn="l"/>
                <a:tab pos="880745" algn="l"/>
              </a:tabLst>
            </a:pPr>
            <a:r>
              <a:rPr lang="en-US" sz="1100" spc="0" dirty="0">
                <a:effectLst/>
                <a:latin typeface="Arial MT"/>
                <a:ea typeface="Arial MT"/>
                <a:cs typeface="Arial MT"/>
              </a:rPr>
              <a:t>4 .protected internal: “Protected internal” is a combination of “protected” and “internal”. The protected internal members are accessible “anywhere within the project” and also accessible “within the child classes at other projects”. These are not accessible in other classes at other projects. Note: The other projects must add the reference of current project.</a:t>
            </a:r>
          </a:p>
          <a:p>
            <a:pPr marL="742950" marR="683260" lvl="1" indent="-285750">
              <a:lnSpc>
                <a:spcPct val="168000"/>
              </a:lnSpc>
              <a:spcBef>
                <a:spcPts val="5"/>
              </a:spcBef>
              <a:spcAft>
                <a:spcPts val="0"/>
              </a:spcAft>
              <a:buFont typeface="+mj-lt"/>
              <a:buAutoNum type="arabicPeriod"/>
              <a:tabLst>
                <a:tab pos="879475" algn="l"/>
                <a:tab pos="880745" algn="l"/>
              </a:tabLst>
            </a:pPr>
            <a:endParaRPr lang="en-US" sz="1100" spc="0" dirty="0">
              <a:effectLst/>
              <a:latin typeface="Arial MT"/>
              <a:ea typeface="Arial MT"/>
              <a:cs typeface="Arial MT"/>
            </a:endParaRPr>
          </a:p>
          <a:p>
            <a:pPr marL="457200" marR="683260" lvl="1" indent="0">
              <a:lnSpc>
                <a:spcPct val="168000"/>
              </a:lnSpc>
              <a:spcBef>
                <a:spcPts val="5"/>
              </a:spcBef>
              <a:spcAft>
                <a:spcPts val="0"/>
              </a:spcAft>
              <a:buFont typeface="+mj-lt"/>
              <a:buNone/>
              <a:tabLst>
                <a:tab pos="879475" algn="l"/>
                <a:tab pos="880745" algn="l"/>
              </a:tabLst>
            </a:pPr>
            <a:r>
              <a:rPr lang="en-US" sz="1100" spc="0" dirty="0">
                <a:effectLst/>
                <a:latin typeface="Arial MT"/>
                <a:ea typeface="Arial MT"/>
                <a:cs typeface="Arial MT"/>
              </a:rPr>
              <a:t>5.	public: The public members are accessible “everywhere”</a:t>
            </a:r>
            <a:endParaRPr lang="en-IN" dirty="0"/>
          </a:p>
        </p:txBody>
      </p:sp>
      <p:sp>
        <p:nvSpPr>
          <p:cNvPr id="4" name="Slide Number Placeholder 3"/>
          <p:cNvSpPr>
            <a:spLocks noGrp="1"/>
          </p:cNvSpPr>
          <p:nvPr>
            <p:ph type="sldNum" sz="quarter" idx="5"/>
          </p:nvPr>
        </p:nvSpPr>
        <p:spPr/>
        <p:txBody>
          <a:bodyPr/>
          <a:lstStyle/>
          <a:p>
            <a:fld id="{DDE10871-EAB6-4125-8C08-9B160102C342}" type="slidenum">
              <a:rPr lang="en-IN" smtClean="0"/>
              <a:t>29</a:t>
            </a:fld>
            <a:endParaRPr lang="en-IN"/>
          </a:p>
        </p:txBody>
      </p:sp>
    </p:spTree>
    <p:extLst>
      <p:ext uri="{BB962C8B-B14F-4D97-AF65-F5344CB8AC3E}">
        <p14:creationId xmlns:p14="http://schemas.microsoft.com/office/powerpoint/2010/main" val="1835592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A2B3F"/>
                </a:solidFill>
                <a:effectLst/>
                <a:latin typeface="Udemy Sans"/>
              </a:rPr>
              <a:t>The parameter modifiers defines how the parameter value should be received from the calling portion.</a:t>
            </a:r>
          </a:p>
          <a:p>
            <a:pPr algn="l"/>
            <a:r>
              <a:rPr lang="en-US" b="0" i="0" u="sng" dirty="0">
                <a:solidFill>
                  <a:srgbClr val="521E9F"/>
                </a:solidFill>
                <a:effectLst/>
                <a:latin typeface="Udemy Sans"/>
              </a:rPr>
              <a:t>That means, it defines whether the parameter has to receive the value from the argument i.e. from the calling portion.</a:t>
            </a:r>
          </a:p>
          <a:p>
            <a:endParaRPr lang="en-IN" dirty="0"/>
          </a:p>
        </p:txBody>
      </p:sp>
      <p:sp>
        <p:nvSpPr>
          <p:cNvPr id="4" name="Slide Number Placeholder 3"/>
          <p:cNvSpPr>
            <a:spLocks noGrp="1"/>
          </p:cNvSpPr>
          <p:nvPr>
            <p:ph type="sldNum" sz="quarter" idx="5"/>
          </p:nvPr>
        </p:nvSpPr>
        <p:spPr/>
        <p:txBody>
          <a:bodyPr/>
          <a:lstStyle/>
          <a:p>
            <a:fld id="{DDE10871-EAB6-4125-8C08-9B160102C342}" type="slidenum">
              <a:rPr lang="en-IN" smtClean="0"/>
              <a:t>35</a:t>
            </a:fld>
            <a:endParaRPr lang="en-IN"/>
          </a:p>
        </p:txBody>
      </p:sp>
    </p:spTree>
    <p:extLst>
      <p:ext uri="{BB962C8B-B14F-4D97-AF65-F5344CB8AC3E}">
        <p14:creationId xmlns:p14="http://schemas.microsoft.com/office/powerpoint/2010/main" val="1108997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A0A0A"/>
                </a:solidFill>
                <a:effectLst/>
                <a:latin typeface="Google Sans"/>
              </a:rPr>
              <a:t>the ref keyword is used to pass arguments to methods by reference. This means that instead of passing a copy of the value</a:t>
            </a:r>
            <a:endParaRPr lang="en-IN" dirty="0"/>
          </a:p>
        </p:txBody>
      </p:sp>
      <p:sp>
        <p:nvSpPr>
          <p:cNvPr id="4" name="Slide Number Placeholder 3"/>
          <p:cNvSpPr>
            <a:spLocks noGrp="1"/>
          </p:cNvSpPr>
          <p:nvPr>
            <p:ph type="sldNum" sz="quarter" idx="5"/>
          </p:nvPr>
        </p:nvSpPr>
        <p:spPr/>
        <p:txBody>
          <a:bodyPr/>
          <a:lstStyle/>
          <a:p>
            <a:fld id="{DDE10871-EAB6-4125-8C08-9B160102C342}" type="slidenum">
              <a:rPr lang="en-IN" smtClean="0"/>
              <a:t>37</a:t>
            </a:fld>
            <a:endParaRPr lang="en-IN"/>
          </a:p>
        </p:txBody>
      </p:sp>
    </p:spTree>
    <p:extLst>
      <p:ext uri="{BB962C8B-B14F-4D97-AF65-F5344CB8AC3E}">
        <p14:creationId xmlns:p14="http://schemas.microsoft.com/office/powerpoint/2010/main" val="2887741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Ref returns is a newly introduced feature in C sharp 7.3</a:t>
            </a:r>
          </a:p>
          <a:p>
            <a:r>
              <a:rPr lang="en-IN" dirty="0"/>
              <a:t>Reef returns is the ability of a method to return a variable as reference</a:t>
            </a:r>
          </a:p>
          <a:p>
            <a:r>
              <a:rPr lang="en-IN" dirty="0"/>
              <a:t>Whenever you return a variable as reference ,the reference of the returned variable will be given back the same value</a:t>
            </a:r>
          </a:p>
        </p:txBody>
      </p:sp>
      <p:sp>
        <p:nvSpPr>
          <p:cNvPr id="4" name="Slide Number Placeholder 3"/>
          <p:cNvSpPr>
            <a:spLocks noGrp="1"/>
          </p:cNvSpPr>
          <p:nvPr>
            <p:ph type="sldNum" sz="quarter" idx="5"/>
          </p:nvPr>
        </p:nvSpPr>
        <p:spPr/>
        <p:txBody>
          <a:bodyPr/>
          <a:lstStyle/>
          <a:p>
            <a:fld id="{DDE10871-EAB6-4125-8C08-9B160102C342}" type="slidenum">
              <a:rPr lang="en-IN" smtClean="0"/>
              <a:t>40</a:t>
            </a:fld>
            <a:endParaRPr lang="en-IN"/>
          </a:p>
        </p:txBody>
      </p:sp>
    </p:spTree>
    <p:extLst>
      <p:ext uri="{BB962C8B-B14F-4D97-AF65-F5344CB8AC3E}">
        <p14:creationId xmlns:p14="http://schemas.microsoft.com/office/powerpoint/2010/main" val="1366622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1D35"/>
                </a:solidFill>
                <a:effectLst/>
                <a:latin typeface="Google Sans"/>
              </a:rPr>
              <a:t>Constructors:</a:t>
            </a:r>
          </a:p>
          <a:p>
            <a:pPr algn="l">
              <a:buFont typeface="Arial" panose="020B0604020202020204" pitchFamily="34" charset="0"/>
              <a:buChar char="•"/>
            </a:pPr>
            <a:r>
              <a:rPr lang="en-US" b="1" i="0" dirty="0">
                <a:solidFill>
                  <a:srgbClr val="001D35"/>
                </a:solidFill>
                <a:effectLst/>
                <a:latin typeface="Google Sans"/>
              </a:rPr>
              <a:t>Purpose:</a:t>
            </a:r>
            <a:r>
              <a:rPr lang="en-US" b="0" i="0" dirty="0">
                <a:solidFill>
                  <a:srgbClr val="001D35"/>
                </a:solidFill>
                <a:effectLst/>
                <a:latin typeface="Google Sans"/>
              </a:rPr>
              <a:t> To initialize a new object of a class. They are special methods invoked automatically when an instance of a class is created using the new keyword.</a:t>
            </a:r>
          </a:p>
          <a:p>
            <a:pPr algn="l" fontAlgn="ctr">
              <a:buFont typeface="Arial" panose="020B0604020202020204" pitchFamily="34" charset="0"/>
              <a:buChar char="•"/>
            </a:pPr>
            <a:r>
              <a:rPr lang="en-US" b="1" i="0" dirty="0">
                <a:solidFill>
                  <a:srgbClr val="001D35"/>
                </a:solidFill>
                <a:effectLst/>
                <a:latin typeface="Google Sans"/>
              </a:rPr>
              <a:t>Naming:</a:t>
            </a:r>
            <a:r>
              <a:rPr lang="en-US" b="0" i="0" dirty="0">
                <a:solidFill>
                  <a:srgbClr val="001D35"/>
                </a:solidFill>
                <a:effectLst/>
                <a:latin typeface="Google Sans"/>
              </a:rPr>
              <a:t> They must have the exact same name as the class.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Return Type:</a:t>
            </a:r>
            <a:r>
              <a:rPr lang="en-US" b="0" i="0" dirty="0">
                <a:solidFill>
                  <a:srgbClr val="001D35"/>
                </a:solidFill>
                <a:effectLst/>
                <a:latin typeface="Google Sans"/>
              </a:rPr>
              <a:t> They do not have an explicit return type, not even void.</a:t>
            </a:r>
          </a:p>
          <a:p>
            <a:pPr algn="l">
              <a:buFont typeface="Arial" panose="020B0604020202020204" pitchFamily="34" charset="0"/>
              <a:buChar char="•"/>
            </a:pPr>
            <a:r>
              <a:rPr lang="en-US" b="1" i="0" dirty="0">
                <a:solidFill>
                  <a:srgbClr val="001D35"/>
                </a:solidFill>
                <a:effectLst/>
                <a:latin typeface="Google Sans"/>
              </a:rPr>
              <a:t>Invocation:</a:t>
            </a:r>
            <a:r>
              <a:rPr lang="en-US" b="0" i="0" dirty="0">
                <a:solidFill>
                  <a:srgbClr val="001D35"/>
                </a:solidFill>
                <a:effectLst/>
                <a:latin typeface="Google Sans"/>
              </a:rPr>
              <a:t> They are invoked implicitly by the Common Language Runtime (CLR) during object creation.</a:t>
            </a:r>
          </a:p>
          <a:p>
            <a:pPr algn="l">
              <a:buFont typeface="Arial" panose="020B0604020202020204" pitchFamily="34" charset="0"/>
              <a:buChar char="•"/>
            </a:pPr>
            <a:r>
              <a:rPr lang="en-US" b="1" i="0" dirty="0">
                <a:solidFill>
                  <a:srgbClr val="001D35"/>
                </a:solidFill>
                <a:effectLst/>
                <a:latin typeface="Google Sans"/>
              </a:rPr>
              <a:t>Inheritance:</a:t>
            </a:r>
            <a:r>
              <a:rPr lang="en-US" b="0" i="0" dirty="0">
                <a:solidFill>
                  <a:srgbClr val="001D35"/>
                </a:solidFill>
                <a:effectLst/>
                <a:latin typeface="Google Sans"/>
              </a:rPr>
              <a:t> They are not inherited by subclasses. Subclasses call the base class constructor implicitly or explicitly.</a:t>
            </a:r>
          </a:p>
          <a:p>
            <a:endParaRPr lang="en-IN" dirty="0"/>
          </a:p>
        </p:txBody>
      </p:sp>
      <p:sp>
        <p:nvSpPr>
          <p:cNvPr id="4" name="Slide Number Placeholder 3"/>
          <p:cNvSpPr>
            <a:spLocks noGrp="1"/>
          </p:cNvSpPr>
          <p:nvPr>
            <p:ph type="sldNum" sz="quarter" idx="5"/>
          </p:nvPr>
        </p:nvSpPr>
        <p:spPr/>
        <p:txBody>
          <a:bodyPr/>
          <a:lstStyle/>
          <a:p>
            <a:fld id="{DDE10871-EAB6-4125-8C08-9B160102C342}" type="slidenum">
              <a:rPr lang="en-IN" smtClean="0"/>
              <a:t>45</a:t>
            </a:fld>
            <a:endParaRPr lang="en-IN"/>
          </a:p>
        </p:txBody>
      </p:sp>
    </p:spTree>
    <p:extLst>
      <p:ext uri="{BB962C8B-B14F-4D97-AF65-F5344CB8AC3E}">
        <p14:creationId xmlns:p14="http://schemas.microsoft.com/office/powerpoint/2010/main" val="14893144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D3C011C5-76CD-4944-964F-50393431931D}" type="datetimeFigureOut">
              <a:rPr lang="en-IN" smtClean="0"/>
              <a:t>02-12-2025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3176564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C011C5-76CD-4944-964F-50393431931D}"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1304771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C011C5-76CD-4944-964F-50393431931D}"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2073299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C011C5-76CD-4944-964F-50393431931D}"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444924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C011C5-76CD-4944-964F-50393431931D}" type="datetimeFigureOut">
              <a:rPr lang="en-IN" smtClean="0"/>
              <a:t>02-12-2025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1572736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C011C5-76CD-4944-964F-50393431931D}" type="datetimeFigureOut">
              <a:rPr lang="en-IN" smtClean="0"/>
              <a:t>02-12-2025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1091498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C011C5-76CD-4944-964F-50393431931D}" type="datetimeFigureOut">
              <a:rPr lang="en-IN" smtClean="0"/>
              <a:t>02-12-2025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3459982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C011C5-76CD-4944-964F-50393431931D}"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220629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C011C5-76CD-4944-964F-50393431931D}"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1633835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C011C5-76CD-4944-964F-50393431931D}"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4251657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C011C5-76CD-4944-964F-50393431931D}"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284564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C011C5-76CD-4944-964F-50393431931D}"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20AF6-EB38-4824-B2F4-D373A9C06CBD}"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08546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C011C5-76CD-4944-964F-50393431931D}" type="datetimeFigureOut">
              <a:rPr lang="en-IN" smtClean="0"/>
              <a:t>02-12-2025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2715562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3C011C5-76CD-4944-964F-50393431931D}" type="datetimeFigureOut">
              <a:rPr lang="en-IN" smtClean="0"/>
              <a:t>02-12-2025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5061477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3C011C5-76CD-4944-964F-50393431931D}" type="datetimeFigureOut">
              <a:rPr lang="en-IN" smtClean="0"/>
              <a:t>02-12-2025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440858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C011C5-76CD-4944-964F-50393431931D}"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11039958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C011C5-76CD-4944-964F-50393431931D}" type="datetimeFigureOut">
              <a:rPr lang="en-IN" smtClean="0"/>
              <a:t>02-12-2025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20AF6-EB38-4824-B2F4-D373A9C06CBD}" type="slidenum">
              <a:rPr lang="en-IN" smtClean="0"/>
              <a:t>‹#›</a:t>
            </a:fld>
            <a:endParaRPr lang="en-IN"/>
          </a:p>
        </p:txBody>
      </p:sp>
    </p:spTree>
    <p:extLst>
      <p:ext uri="{BB962C8B-B14F-4D97-AF65-F5344CB8AC3E}">
        <p14:creationId xmlns:p14="http://schemas.microsoft.com/office/powerpoint/2010/main" val="3838589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3C011C5-76CD-4944-964F-50393431931D}" type="datetimeFigureOut">
              <a:rPr lang="en-IN" smtClean="0"/>
              <a:t>02-12-2025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F520AF6-EB38-4824-B2F4-D373A9C06CBD}" type="slidenum">
              <a:rPr lang="en-IN" smtClean="0"/>
              <a:t>‹#›</a:t>
            </a:fld>
            <a:endParaRPr lang="en-IN"/>
          </a:p>
        </p:txBody>
      </p:sp>
    </p:spTree>
    <p:extLst>
      <p:ext uri="{BB962C8B-B14F-4D97-AF65-F5344CB8AC3E}">
        <p14:creationId xmlns:p14="http://schemas.microsoft.com/office/powerpoint/2010/main" val="630781926"/>
      </p:ext>
    </p:extLst>
  </p:cSld>
  <p:clrMap bg1="dk1" tx1="lt1" bg2="dk2" tx2="lt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66D70-316B-4F92-BBA7-CD9C202E0955}"/>
              </a:ext>
            </a:extLst>
          </p:cNvPr>
          <p:cNvSpPr>
            <a:spLocks noGrp="1"/>
          </p:cNvSpPr>
          <p:nvPr>
            <p:ph type="title"/>
          </p:nvPr>
        </p:nvSpPr>
        <p:spPr>
          <a:xfrm>
            <a:off x="1141411" y="1419226"/>
            <a:ext cx="9906000" cy="1143221"/>
          </a:xfrm>
        </p:spPr>
        <p:txBody>
          <a:bodyPr>
            <a:normAutofit/>
          </a:bodyPr>
          <a:lstStyle/>
          <a:p>
            <a:pPr algn="ctr"/>
            <a:r>
              <a:rPr lang="en-IN" sz="4000" dirty="0">
                <a:solidFill>
                  <a:srgbClr val="0070C0"/>
                </a:solidFill>
                <a:latin typeface="Udemy Sans"/>
              </a:rPr>
              <a:t>MS.NET Technologies</a:t>
            </a:r>
          </a:p>
        </p:txBody>
      </p:sp>
      <p:sp>
        <p:nvSpPr>
          <p:cNvPr id="3" name="Text Placeholder 2">
            <a:extLst>
              <a:ext uri="{FF2B5EF4-FFF2-40B4-BE49-F238E27FC236}">
                <a16:creationId xmlns:a16="http://schemas.microsoft.com/office/drawing/2014/main" id="{FC5B9F8D-5AE1-4AE1-9062-14D25234AA97}"/>
              </a:ext>
            </a:extLst>
          </p:cNvPr>
          <p:cNvSpPr>
            <a:spLocks noGrp="1"/>
          </p:cNvSpPr>
          <p:nvPr>
            <p:ph type="body" idx="1"/>
          </p:nvPr>
        </p:nvSpPr>
        <p:spPr>
          <a:xfrm>
            <a:off x="3415005" y="4711442"/>
            <a:ext cx="4763387" cy="817489"/>
          </a:xfrm>
        </p:spPr>
        <p:txBody>
          <a:bodyPr>
            <a:normAutofit/>
          </a:bodyPr>
          <a:lstStyle/>
          <a:p>
            <a:pPr algn="ctr">
              <a:spcBef>
                <a:spcPts val="0"/>
              </a:spcBef>
            </a:pPr>
            <a:r>
              <a:rPr lang="en-IN" dirty="0">
                <a:solidFill>
                  <a:srgbClr val="0070C0"/>
                </a:solidFill>
              </a:rPr>
              <a:t>MS. Shilpa B</a:t>
            </a:r>
          </a:p>
          <a:p>
            <a:pPr algn="ctr">
              <a:spcBef>
                <a:spcPts val="0"/>
              </a:spcBef>
            </a:pPr>
            <a:r>
              <a:rPr lang="en-IN" dirty="0">
                <a:solidFill>
                  <a:srgbClr val="0070C0"/>
                </a:solidFill>
              </a:rPr>
              <a:t>TRUST-STU Group</a:t>
            </a:r>
          </a:p>
        </p:txBody>
      </p:sp>
    </p:spTree>
    <p:extLst>
      <p:ext uri="{BB962C8B-B14F-4D97-AF65-F5344CB8AC3E}">
        <p14:creationId xmlns:p14="http://schemas.microsoft.com/office/powerpoint/2010/main" val="1900794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88272D-F37A-4855-A010-85A65794DBED}"/>
              </a:ext>
            </a:extLst>
          </p:cNvPr>
          <p:cNvSpPr>
            <a:spLocks noGrp="1"/>
          </p:cNvSpPr>
          <p:nvPr>
            <p:ph idx="1"/>
          </p:nvPr>
        </p:nvSpPr>
        <p:spPr>
          <a:xfrm>
            <a:off x="1141412" y="1695797"/>
            <a:ext cx="9905999" cy="3542954"/>
          </a:xfrm>
        </p:spPr>
        <p:txBody>
          <a:bodyPr/>
          <a:lstStyle/>
          <a:p>
            <a:r>
              <a:rPr lang="en-IN" b="0" i="0" dirty="0">
                <a:solidFill>
                  <a:srgbClr val="303141"/>
                </a:solidFill>
                <a:effectLst/>
                <a:latin typeface="Udemy Sans"/>
              </a:rPr>
              <a:t>Understanding .NET Framework</a:t>
            </a:r>
          </a:p>
          <a:p>
            <a:r>
              <a:rPr lang="en-IN" b="1" i="0" dirty="0">
                <a:solidFill>
                  <a:srgbClr val="303141"/>
                </a:solidFill>
                <a:effectLst/>
                <a:latin typeface="Udemy Sans"/>
              </a:rPr>
              <a:t>What is .NET?</a:t>
            </a:r>
          </a:p>
          <a:p>
            <a:pPr lvl="1"/>
            <a:r>
              <a:rPr lang="en-US" b="0" i="0" dirty="0">
                <a:solidFill>
                  <a:srgbClr val="303141"/>
                </a:solidFill>
                <a:effectLst/>
                <a:latin typeface="Udemy Sans"/>
              </a:rPr>
              <a:t>Application Development Platform, to build Desktop, Web and Mobile Apps.</a:t>
            </a:r>
          </a:p>
          <a:p>
            <a:pPr lvl="1"/>
            <a:r>
              <a:rPr lang="en-US" b="0" i="0" dirty="0">
                <a:solidFill>
                  <a:srgbClr val="303141"/>
                </a:solidFill>
                <a:effectLst/>
                <a:latin typeface="Udemy Sans"/>
              </a:rPr>
              <a:t>Developed by Microsoft, in 2002.</a:t>
            </a:r>
          </a:p>
          <a:p>
            <a:pPr lvl="1"/>
            <a:r>
              <a:rPr lang="en-US" b="0" i="0" dirty="0">
                <a:solidFill>
                  <a:srgbClr val="303141"/>
                </a:solidFill>
                <a:effectLst/>
                <a:latin typeface="Udemy Sans"/>
              </a:rPr>
              <a:t>Provides fully managed, secured application execution environment.</a:t>
            </a:r>
          </a:p>
          <a:p>
            <a:pPr lvl="1"/>
            <a:r>
              <a:rPr lang="en-US" b="0" i="0" dirty="0">
                <a:solidFill>
                  <a:srgbClr val="303141"/>
                </a:solidFill>
                <a:effectLst/>
                <a:latin typeface="Udemy Sans"/>
              </a:rPr>
              <a:t>Supports multiple languages such as C#, VB, VC++ </a:t>
            </a:r>
            <a:r>
              <a:rPr lang="en-US" b="0" i="0" dirty="0" err="1">
                <a:solidFill>
                  <a:srgbClr val="303141"/>
                </a:solidFill>
                <a:effectLst/>
                <a:latin typeface="Udemy Sans"/>
              </a:rPr>
              <a:t>etc</a:t>
            </a:r>
            <a:endParaRPr lang="en-US" b="0" i="0" dirty="0">
              <a:solidFill>
                <a:srgbClr val="303141"/>
              </a:solidFill>
              <a:effectLst/>
              <a:latin typeface="Udemy Sans"/>
            </a:endParaRPr>
          </a:p>
          <a:p>
            <a:pPr lvl="1"/>
            <a:endParaRPr lang="en-IN" dirty="0"/>
          </a:p>
        </p:txBody>
      </p:sp>
    </p:spTree>
    <p:extLst>
      <p:ext uri="{BB962C8B-B14F-4D97-AF65-F5344CB8AC3E}">
        <p14:creationId xmlns:p14="http://schemas.microsoft.com/office/powerpoint/2010/main" val="2916248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DE3F3-72C6-4BB9-9CFF-5AB21162EED0}"/>
              </a:ext>
            </a:extLst>
          </p:cNvPr>
          <p:cNvSpPr>
            <a:spLocks noGrp="1"/>
          </p:cNvSpPr>
          <p:nvPr>
            <p:ph type="title"/>
          </p:nvPr>
        </p:nvSpPr>
        <p:spPr>
          <a:xfrm>
            <a:off x="1143001" y="437543"/>
            <a:ext cx="9905998" cy="553057"/>
          </a:xfrm>
        </p:spPr>
        <p:txBody>
          <a:bodyPr>
            <a:normAutofit fontScale="90000"/>
          </a:bodyPr>
          <a:lstStyle/>
          <a:p>
            <a:br>
              <a:rPr lang="en-IN" b="0" i="0" dirty="0">
                <a:solidFill>
                  <a:srgbClr val="303141"/>
                </a:solidFill>
                <a:effectLst/>
                <a:latin typeface="Udemy Sans"/>
              </a:rPr>
            </a:br>
            <a:r>
              <a:rPr lang="en-IN" b="0" i="0" dirty="0">
                <a:solidFill>
                  <a:srgbClr val="303141"/>
                </a:solidFill>
                <a:effectLst/>
                <a:latin typeface="Udemy Sans"/>
              </a:rPr>
              <a:t>Modules and Apps</a:t>
            </a:r>
            <a:br>
              <a:rPr lang="en-IN" b="0" i="0" dirty="0">
                <a:solidFill>
                  <a:srgbClr val="303141"/>
                </a:solidFill>
                <a:effectLst/>
                <a:latin typeface="Udemy Sans"/>
              </a:rPr>
            </a:br>
            <a:endParaRPr lang="en-IN" dirty="0"/>
          </a:p>
        </p:txBody>
      </p:sp>
      <p:sp>
        <p:nvSpPr>
          <p:cNvPr id="3" name="Content Placeholder 2">
            <a:extLst>
              <a:ext uri="{FF2B5EF4-FFF2-40B4-BE49-F238E27FC236}">
                <a16:creationId xmlns:a16="http://schemas.microsoft.com/office/drawing/2014/main" id="{6888272D-F37A-4855-A010-85A65794DBED}"/>
              </a:ext>
            </a:extLst>
          </p:cNvPr>
          <p:cNvSpPr>
            <a:spLocks noGrp="1"/>
          </p:cNvSpPr>
          <p:nvPr>
            <p:ph idx="1"/>
          </p:nvPr>
        </p:nvSpPr>
        <p:spPr>
          <a:xfrm>
            <a:off x="1541462" y="2068664"/>
            <a:ext cx="3040063" cy="2989263"/>
          </a:xfrm>
        </p:spPr>
        <p:txBody>
          <a:bodyPr/>
          <a:lstStyle/>
          <a:p>
            <a:pPr algn="l"/>
            <a:r>
              <a:rPr lang="en-US" b="1" i="0" dirty="0">
                <a:solidFill>
                  <a:srgbClr val="303141"/>
                </a:solidFill>
                <a:effectLst/>
                <a:latin typeface="Udemy Sans"/>
              </a:rPr>
              <a:t>ASP.NET</a:t>
            </a:r>
            <a:endParaRPr lang="en-US" b="0" i="0" dirty="0">
              <a:solidFill>
                <a:srgbClr val="303141"/>
              </a:solidFill>
              <a:effectLst/>
              <a:latin typeface="Udemy Sans"/>
            </a:endParaRPr>
          </a:p>
          <a:p>
            <a:pPr lvl="1"/>
            <a:r>
              <a:rPr lang="en-US" b="0" i="0" dirty="0" err="1">
                <a:solidFill>
                  <a:srgbClr val="303141"/>
                </a:solidFill>
                <a:effectLst/>
                <a:latin typeface="Udemy Sans"/>
              </a:rPr>
              <a:t>WebSites</a:t>
            </a:r>
            <a:r>
              <a:rPr lang="en-US" b="0" i="0" dirty="0">
                <a:solidFill>
                  <a:srgbClr val="303141"/>
                </a:solidFill>
                <a:effectLst/>
                <a:latin typeface="Udemy Sans"/>
              </a:rPr>
              <a:t> </a:t>
            </a:r>
          </a:p>
          <a:p>
            <a:pPr lvl="1"/>
            <a:r>
              <a:rPr lang="en-US" b="0" i="0" dirty="0">
                <a:solidFill>
                  <a:srgbClr val="303141"/>
                </a:solidFill>
                <a:effectLst/>
                <a:latin typeface="Udemy Sans"/>
              </a:rPr>
              <a:t>Web Applications </a:t>
            </a:r>
          </a:p>
          <a:p>
            <a:pPr lvl="1"/>
            <a:r>
              <a:rPr lang="en-US" b="0" i="0" dirty="0" err="1">
                <a:solidFill>
                  <a:srgbClr val="303141"/>
                </a:solidFill>
                <a:effectLst/>
                <a:latin typeface="Udemy Sans"/>
              </a:rPr>
              <a:t>WebServices</a:t>
            </a:r>
            <a:r>
              <a:rPr lang="en-US" b="0" i="0" dirty="0">
                <a:solidFill>
                  <a:srgbClr val="303141"/>
                </a:solidFill>
                <a:effectLst/>
                <a:latin typeface="Udemy Sans"/>
              </a:rPr>
              <a:t>     </a:t>
            </a:r>
          </a:p>
        </p:txBody>
      </p:sp>
      <p:sp>
        <p:nvSpPr>
          <p:cNvPr id="4" name="Content Placeholder 2">
            <a:extLst>
              <a:ext uri="{FF2B5EF4-FFF2-40B4-BE49-F238E27FC236}">
                <a16:creationId xmlns:a16="http://schemas.microsoft.com/office/drawing/2014/main" id="{0EAFE451-3B04-4D8C-8007-E041FE0926C2}"/>
              </a:ext>
            </a:extLst>
          </p:cNvPr>
          <p:cNvSpPr txBox="1">
            <a:spLocks/>
          </p:cNvSpPr>
          <p:nvPr/>
        </p:nvSpPr>
        <p:spPr>
          <a:xfrm>
            <a:off x="8381978" y="1809107"/>
            <a:ext cx="3535363" cy="29892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IN" b="1" dirty="0">
                <a:solidFill>
                  <a:schemeClr val="bg1"/>
                </a:solidFill>
                <a:effectLst/>
              </a:rPr>
              <a:t>Xamarin.NET</a:t>
            </a:r>
            <a:endParaRPr lang="en-IN" b="0" dirty="0">
              <a:solidFill>
                <a:schemeClr val="bg1"/>
              </a:solidFill>
              <a:effectLst/>
            </a:endParaRPr>
          </a:p>
          <a:p>
            <a:pPr lvl="1"/>
            <a:r>
              <a:rPr lang="en-IN" b="0" dirty="0">
                <a:solidFill>
                  <a:schemeClr val="bg1"/>
                </a:solidFill>
                <a:effectLst/>
              </a:rPr>
              <a:t>Covers mobile programming</a:t>
            </a:r>
          </a:p>
          <a:p>
            <a:pPr lvl="1"/>
            <a:r>
              <a:rPr lang="en-IN" b="0" dirty="0">
                <a:solidFill>
                  <a:schemeClr val="bg1"/>
                </a:solidFill>
                <a:effectLst/>
              </a:rPr>
              <a:t>It is used to develop “Mobile applications “ that runs based on “Mobile devices”</a:t>
            </a:r>
            <a:br>
              <a:rPr lang="en-IN" b="0" dirty="0">
                <a:solidFill>
                  <a:schemeClr val="bg1"/>
                </a:solidFill>
                <a:effectLst/>
              </a:rPr>
            </a:br>
            <a:endParaRPr lang="en-US" dirty="0">
              <a:solidFill>
                <a:schemeClr val="bg1"/>
              </a:solidFill>
              <a:latin typeface="Udemy Sans"/>
            </a:endParaRPr>
          </a:p>
        </p:txBody>
      </p:sp>
      <p:sp>
        <p:nvSpPr>
          <p:cNvPr id="6" name="Content Placeholder 2">
            <a:extLst>
              <a:ext uri="{FF2B5EF4-FFF2-40B4-BE49-F238E27FC236}">
                <a16:creationId xmlns:a16="http://schemas.microsoft.com/office/drawing/2014/main" id="{BBCEF335-6925-4308-94B1-9DC9D6E5A035}"/>
              </a:ext>
            </a:extLst>
          </p:cNvPr>
          <p:cNvSpPr txBox="1">
            <a:spLocks/>
          </p:cNvSpPr>
          <p:nvPr/>
        </p:nvSpPr>
        <p:spPr>
          <a:xfrm>
            <a:off x="4714070" y="1934368"/>
            <a:ext cx="3535363" cy="298926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IN" b="1" dirty="0">
                <a:solidFill>
                  <a:schemeClr val="bg1"/>
                </a:solidFill>
                <a:effectLst/>
              </a:rPr>
              <a:t>C#.NET</a:t>
            </a:r>
            <a:endParaRPr lang="en-IN" b="0" dirty="0">
              <a:solidFill>
                <a:schemeClr val="bg1"/>
              </a:solidFill>
              <a:effectLst/>
            </a:endParaRPr>
          </a:p>
          <a:p>
            <a:pPr lvl="1"/>
            <a:r>
              <a:rPr lang="en-IN" b="0" dirty="0">
                <a:solidFill>
                  <a:schemeClr val="bg1"/>
                </a:solidFill>
                <a:effectLst/>
              </a:rPr>
              <a:t>Windows GUI Applications</a:t>
            </a:r>
          </a:p>
          <a:p>
            <a:pPr lvl="1"/>
            <a:r>
              <a:rPr lang="en-IN" b="0" dirty="0">
                <a:solidFill>
                  <a:schemeClr val="bg1"/>
                </a:solidFill>
                <a:effectLst/>
              </a:rPr>
              <a:t>Windows Services</a:t>
            </a:r>
          </a:p>
          <a:p>
            <a:pPr lvl="1"/>
            <a:r>
              <a:rPr lang="en-IN" b="0" dirty="0">
                <a:solidFill>
                  <a:schemeClr val="bg1"/>
                </a:solidFill>
                <a:effectLst/>
              </a:rPr>
              <a:t>Console Applications</a:t>
            </a:r>
            <a:br>
              <a:rPr lang="en-IN" b="0" dirty="0">
                <a:solidFill>
                  <a:schemeClr val="bg1"/>
                </a:solidFill>
                <a:effectLst/>
              </a:rPr>
            </a:br>
            <a:endParaRPr lang="en-US" dirty="0">
              <a:solidFill>
                <a:schemeClr val="bg1"/>
              </a:solidFill>
              <a:latin typeface="Udemy Sans"/>
            </a:endParaRPr>
          </a:p>
        </p:txBody>
      </p:sp>
    </p:spTree>
    <p:extLst>
      <p:ext uri="{BB962C8B-B14F-4D97-AF65-F5344CB8AC3E}">
        <p14:creationId xmlns:p14="http://schemas.microsoft.com/office/powerpoint/2010/main" val="4086969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AD5C95E-699F-4216-99F9-903EFEC062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425" y="1257299"/>
            <a:ext cx="10239376" cy="486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4130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41354-A87E-4922-A547-5297AAE324A6}"/>
              </a:ext>
            </a:extLst>
          </p:cNvPr>
          <p:cNvSpPr>
            <a:spLocks noGrp="1"/>
          </p:cNvSpPr>
          <p:nvPr>
            <p:ph type="title"/>
          </p:nvPr>
        </p:nvSpPr>
        <p:spPr/>
        <p:txBody>
          <a:bodyPr/>
          <a:lstStyle/>
          <a:p>
            <a:r>
              <a:rPr lang="en-US" b="1" i="0" dirty="0">
                <a:solidFill>
                  <a:srgbClr val="303141"/>
                </a:solidFill>
                <a:effectLst/>
                <a:latin typeface="Udemy Sans"/>
              </a:rPr>
              <a:t>CLR Components</a:t>
            </a:r>
            <a:endParaRPr lang="en-IN" dirty="0"/>
          </a:p>
        </p:txBody>
      </p:sp>
      <p:sp>
        <p:nvSpPr>
          <p:cNvPr id="3" name="Content Placeholder 2">
            <a:extLst>
              <a:ext uri="{FF2B5EF4-FFF2-40B4-BE49-F238E27FC236}">
                <a16:creationId xmlns:a16="http://schemas.microsoft.com/office/drawing/2014/main" id="{8C4444A1-D420-425C-9D91-B67E09C3B004}"/>
              </a:ext>
            </a:extLst>
          </p:cNvPr>
          <p:cNvSpPr>
            <a:spLocks noGrp="1"/>
          </p:cNvSpPr>
          <p:nvPr>
            <p:ph idx="1"/>
          </p:nvPr>
        </p:nvSpPr>
        <p:spPr>
          <a:xfrm>
            <a:off x="1141412" y="1823460"/>
            <a:ext cx="9905999" cy="3541714"/>
          </a:xfrm>
        </p:spPr>
        <p:txBody>
          <a:bodyPr>
            <a:normAutofit fontScale="85000" lnSpcReduction="20000"/>
          </a:bodyPr>
          <a:lstStyle/>
          <a:p>
            <a:pPr marL="0" indent="0" algn="l">
              <a:buNone/>
            </a:pPr>
            <a:endParaRPr lang="en-US" b="0" i="0" dirty="0">
              <a:solidFill>
                <a:srgbClr val="303141"/>
              </a:solidFill>
              <a:effectLst/>
              <a:latin typeface="Udemy Sans"/>
            </a:endParaRPr>
          </a:p>
          <a:p>
            <a:pPr algn="l">
              <a:buFont typeface="Arial" panose="020B0604020202020204" pitchFamily="34" charset="0"/>
              <a:buChar char="•"/>
            </a:pPr>
            <a:r>
              <a:rPr lang="en-US" b="0" i="0" dirty="0">
                <a:solidFill>
                  <a:srgbClr val="303141"/>
                </a:solidFill>
                <a:effectLst/>
                <a:latin typeface="Udemy Sans"/>
              </a:rPr>
              <a:t>Class Loader</a:t>
            </a:r>
          </a:p>
          <a:p>
            <a:pPr algn="l">
              <a:buFont typeface="Arial" panose="020B0604020202020204" pitchFamily="34" charset="0"/>
              <a:buChar char="•"/>
            </a:pPr>
            <a:r>
              <a:rPr lang="en-US" b="0" i="0" dirty="0">
                <a:solidFill>
                  <a:srgbClr val="303141"/>
                </a:solidFill>
                <a:effectLst/>
                <a:latin typeface="Udemy Sans"/>
              </a:rPr>
              <a:t>Memory Manager</a:t>
            </a:r>
          </a:p>
          <a:p>
            <a:pPr algn="l">
              <a:buFont typeface="Arial" panose="020B0604020202020204" pitchFamily="34" charset="0"/>
              <a:buChar char="•"/>
            </a:pPr>
            <a:r>
              <a:rPr lang="en-US" b="0" i="0" dirty="0">
                <a:solidFill>
                  <a:srgbClr val="303141"/>
                </a:solidFill>
                <a:effectLst/>
                <a:latin typeface="Udemy Sans"/>
              </a:rPr>
              <a:t>Garbage Collector</a:t>
            </a:r>
          </a:p>
          <a:p>
            <a:pPr algn="l">
              <a:buFont typeface="Arial" panose="020B0604020202020204" pitchFamily="34" charset="0"/>
              <a:buChar char="•"/>
            </a:pPr>
            <a:r>
              <a:rPr lang="en-US" b="0" i="0" dirty="0">
                <a:solidFill>
                  <a:srgbClr val="303141"/>
                </a:solidFill>
                <a:effectLst/>
                <a:latin typeface="Udemy Sans"/>
              </a:rPr>
              <a:t>JIT Compiler</a:t>
            </a:r>
          </a:p>
          <a:p>
            <a:pPr algn="l">
              <a:buFont typeface="Arial" panose="020B0604020202020204" pitchFamily="34" charset="0"/>
              <a:buChar char="•"/>
            </a:pPr>
            <a:r>
              <a:rPr lang="en-US" b="0" i="0" dirty="0">
                <a:solidFill>
                  <a:srgbClr val="303141"/>
                </a:solidFill>
                <a:effectLst/>
                <a:latin typeface="Udemy Sans"/>
              </a:rPr>
              <a:t>Exception Manager</a:t>
            </a:r>
          </a:p>
          <a:p>
            <a:pPr algn="l">
              <a:buFont typeface="Arial" panose="020B0604020202020204" pitchFamily="34" charset="0"/>
              <a:buChar char="•"/>
            </a:pPr>
            <a:r>
              <a:rPr lang="en-US" b="0" i="0" dirty="0">
                <a:solidFill>
                  <a:srgbClr val="303141"/>
                </a:solidFill>
                <a:effectLst/>
                <a:latin typeface="Udemy Sans"/>
              </a:rPr>
              <a:t>Thread Manager</a:t>
            </a:r>
          </a:p>
          <a:p>
            <a:pPr algn="l">
              <a:buFont typeface="Arial" panose="020B0604020202020204" pitchFamily="34" charset="0"/>
              <a:buChar char="•"/>
            </a:pPr>
            <a:r>
              <a:rPr lang="en-US" b="0" i="0" dirty="0">
                <a:solidFill>
                  <a:srgbClr val="303141"/>
                </a:solidFill>
                <a:effectLst/>
                <a:latin typeface="Udemy Sans"/>
              </a:rPr>
              <a:t>Security Manager</a:t>
            </a:r>
          </a:p>
        </p:txBody>
      </p:sp>
      <p:pic>
        <p:nvPicPr>
          <p:cNvPr id="4" name="Image 70">
            <a:extLst>
              <a:ext uri="{FF2B5EF4-FFF2-40B4-BE49-F238E27FC236}">
                <a16:creationId xmlns:a16="http://schemas.microsoft.com/office/drawing/2014/main" id="{741FC174-046A-40AA-97D1-E6DC6EC10608}"/>
              </a:ext>
            </a:extLst>
          </p:cNvPr>
          <p:cNvPicPr/>
          <p:nvPr/>
        </p:nvPicPr>
        <p:blipFill>
          <a:blip r:embed="rId3" cstate="print"/>
          <a:stretch>
            <a:fillRect/>
          </a:stretch>
        </p:blipFill>
        <p:spPr>
          <a:xfrm>
            <a:off x="5425624" y="2142418"/>
            <a:ext cx="5958205" cy="3090545"/>
          </a:xfrm>
          <a:prstGeom prst="rect">
            <a:avLst/>
          </a:prstGeom>
        </p:spPr>
      </p:pic>
    </p:spTree>
    <p:extLst>
      <p:ext uri="{BB962C8B-B14F-4D97-AF65-F5344CB8AC3E}">
        <p14:creationId xmlns:p14="http://schemas.microsoft.com/office/powerpoint/2010/main" val="374842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A7443514-81A0-4C7D-B007-9B6377A57F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253" y="1343024"/>
            <a:ext cx="10039493" cy="3977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459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727AF-6075-4D62-99BD-A65D7DE101F9}"/>
              </a:ext>
            </a:extLst>
          </p:cNvPr>
          <p:cNvSpPr>
            <a:spLocks noGrp="1"/>
          </p:cNvSpPr>
          <p:nvPr>
            <p:ph type="title"/>
          </p:nvPr>
        </p:nvSpPr>
        <p:spPr>
          <a:xfrm>
            <a:off x="1141413" y="618518"/>
            <a:ext cx="9905998" cy="555655"/>
          </a:xfrm>
        </p:spPr>
        <p:txBody>
          <a:bodyPr>
            <a:normAutofit fontScale="90000"/>
          </a:bodyPr>
          <a:lstStyle/>
          <a:p>
            <a:r>
              <a:rPr lang="en-IN" dirty="0"/>
              <a:t>.NET Framework Architecture</a:t>
            </a:r>
          </a:p>
        </p:txBody>
      </p:sp>
      <p:pic>
        <p:nvPicPr>
          <p:cNvPr id="3074" name="Picture 2">
            <a:extLst>
              <a:ext uri="{FF2B5EF4-FFF2-40B4-BE49-F238E27FC236}">
                <a16:creationId xmlns:a16="http://schemas.microsoft.com/office/drawing/2014/main" id="{4DFDE6D5-D2E9-4592-8A4E-0D09789D957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41413" y="1499191"/>
            <a:ext cx="9571613" cy="3956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94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669A-836A-4050-97ED-7791162EF6E9}"/>
              </a:ext>
            </a:extLst>
          </p:cNvPr>
          <p:cNvSpPr>
            <a:spLocks noGrp="1"/>
          </p:cNvSpPr>
          <p:nvPr>
            <p:ph type="title"/>
          </p:nvPr>
        </p:nvSpPr>
        <p:spPr>
          <a:xfrm>
            <a:off x="1141413" y="618518"/>
            <a:ext cx="9905998" cy="555655"/>
          </a:xfrm>
        </p:spPr>
        <p:txBody>
          <a:bodyPr>
            <a:normAutofit fontScale="90000"/>
          </a:bodyPr>
          <a:lstStyle/>
          <a:p>
            <a:r>
              <a:rPr lang="en-IN" b="1" i="0">
                <a:solidFill>
                  <a:srgbClr val="303141"/>
                </a:solidFill>
                <a:effectLst/>
                <a:latin typeface="Udemy Sans"/>
              </a:rPr>
              <a:t>Base Class Library (BCL)</a:t>
            </a:r>
            <a:endParaRPr lang="en-IN" dirty="0"/>
          </a:p>
        </p:txBody>
      </p:sp>
      <p:sp>
        <p:nvSpPr>
          <p:cNvPr id="3" name="Content Placeholder 2">
            <a:extLst>
              <a:ext uri="{FF2B5EF4-FFF2-40B4-BE49-F238E27FC236}">
                <a16:creationId xmlns:a16="http://schemas.microsoft.com/office/drawing/2014/main" id="{1F0C6189-8C37-4E33-BFF0-CBC17EF76E1D}"/>
              </a:ext>
            </a:extLst>
          </p:cNvPr>
          <p:cNvSpPr>
            <a:spLocks noGrp="1"/>
          </p:cNvSpPr>
          <p:nvPr>
            <p:ph idx="1"/>
          </p:nvPr>
        </p:nvSpPr>
        <p:spPr>
          <a:xfrm>
            <a:off x="1141412" y="1318437"/>
            <a:ext cx="9905999" cy="4136790"/>
          </a:xfrm>
        </p:spPr>
        <p:txBody>
          <a:bodyPr>
            <a:normAutofit/>
          </a:bodyPr>
          <a:lstStyle/>
          <a:p>
            <a:pPr marL="0" indent="0" algn="l">
              <a:buNone/>
            </a:pPr>
            <a:r>
              <a:rPr lang="en-US" b="0" i="0" dirty="0">
                <a:solidFill>
                  <a:srgbClr val="303141"/>
                </a:solidFill>
                <a:effectLst/>
                <a:latin typeface="Udemy Sans"/>
              </a:rPr>
              <a:t>Contains a set of pre-defined classes that can be used in all types of </a:t>
            </a:r>
            <a:r>
              <a:rPr lang="en-US" b="0" i="0" dirty="0" err="1">
                <a:solidFill>
                  <a:srgbClr val="303141"/>
                </a:solidFill>
                <a:effectLst/>
                <a:latin typeface="Udemy Sans"/>
              </a:rPr>
              <a:t>.net</a:t>
            </a:r>
            <a:r>
              <a:rPr lang="en-US" b="0" i="0" dirty="0">
                <a:solidFill>
                  <a:srgbClr val="303141"/>
                </a:solidFill>
                <a:effectLst/>
                <a:latin typeface="Udemy Sans"/>
              </a:rPr>
              <a:t> applications &amp; languages for general I/O operations, type conversion, creation of threads etc.</a:t>
            </a:r>
          </a:p>
          <a:p>
            <a:pPr lvl="1"/>
            <a:r>
              <a:rPr lang="en-US" b="0" i="0" dirty="0">
                <a:solidFill>
                  <a:srgbClr val="303141"/>
                </a:solidFill>
                <a:effectLst/>
                <a:latin typeface="Udemy Sans"/>
              </a:rPr>
              <a:t>Console</a:t>
            </a:r>
          </a:p>
          <a:p>
            <a:pPr lvl="1"/>
            <a:r>
              <a:rPr lang="en-US" b="0" i="0" dirty="0">
                <a:solidFill>
                  <a:srgbClr val="303141"/>
                </a:solidFill>
                <a:effectLst/>
                <a:latin typeface="Udemy Sans"/>
              </a:rPr>
              <a:t>String</a:t>
            </a:r>
          </a:p>
          <a:p>
            <a:pPr lvl="1"/>
            <a:r>
              <a:rPr lang="en-US" b="0" i="0" dirty="0">
                <a:solidFill>
                  <a:srgbClr val="303141"/>
                </a:solidFill>
                <a:effectLst/>
                <a:latin typeface="Udemy Sans"/>
              </a:rPr>
              <a:t>StringBuilder</a:t>
            </a:r>
          </a:p>
          <a:p>
            <a:pPr lvl="1"/>
            <a:r>
              <a:rPr lang="en-US" b="0" i="0" dirty="0">
                <a:solidFill>
                  <a:srgbClr val="303141"/>
                </a:solidFill>
                <a:effectLst/>
                <a:latin typeface="Udemy Sans"/>
              </a:rPr>
              <a:t>Convert</a:t>
            </a:r>
          </a:p>
          <a:p>
            <a:pPr lvl="1"/>
            <a:r>
              <a:rPr lang="en-US" b="0" i="0" dirty="0">
                <a:solidFill>
                  <a:srgbClr val="303141"/>
                </a:solidFill>
                <a:effectLst/>
                <a:latin typeface="Udemy Sans"/>
              </a:rPr>
              <a:t>Thread</a:t>
            </a:r>
          </a:p>
          <a:p>
            <a:pPr lvl="1"/>
            <a:r>
              <a:rPr lang="en-US" b="0" i="0" dirty="0">
                <a:solidFill>
                  <a:srgbClr val="303141"/>
                </a:solidFill>
                <a:effectLst/>
                <a:latin typeface="Udemy Sans"/>
              </a:rPr>
              <a:t>Task</a:t>
            </a:r>
          </a:p>
          <a:p>
            <a:endParaRPr lang="en-IN" dirty="0"/>
          </a:p>
        </p:txBody>
      </p:sp>
    </p:spTree>
    <p:extLst>
      <p:ext uri="{BB962C8B-B14F-4D97-AF65-F5344CB8AC3E}">
        <p14:creationId xmlns:p14="http://schemas.microsoft.com/office/powerpoint/2010/main" val="2789881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669A-836A-4050-97ED-7791162EF6E9}"/>
              </a:ext>
            </a:extLst>
          </p:cNvPr>
          <p:cNvSpPr>
            <a:spLocks noGrp="1"/>
          </p:cNvSpPr>
          <p:nvPr>
            <p:ph type="title"/>
          </p:nvPr>
        </p:nvSpPr>
        <p:spPr>
          <a:xfrm>
            <a:off x="1141413" y="618518"/>
            <a:ext cx="9905998" cy="555655"/>
          </a:xfrm>
        </p:spPr>
        <p:txBody>
          <a:bodyPr>
            <a:normAutofit fontScale="90000"/>
          </a:bodyPr>
          <a:lstStyle/>
          <a:p>
            <a:r>
              <a:rPr lang="en-IN" b="1" i="0" dirty="0">
                <a:solidFill>
                  <a:srgbClr val="303141"/>
                </a:solidFill>
                <a:effectLst/>
                <a:latin typeface="Udemy Sans"/>
              </a:rPr>
              <a:t>Version of .NET Framework</a:t>
            </a:r>
            <a:endParaRPr lang="en-IN" dirty="0"/>
          </a:p>
        </p:txBody>
      </p:sp>
      <p:pic>
        <p:nvPicPr>
          <p:cNvPr id="1026" name="Picture 2">
            <a:extLst>
              <a:ext uri="{FF2B5EF4-FFF2-40B4-BE49-F238E27FC236}">
                <a16:creationId xmlns:a16="http://schemas.microsoft.com/office/drawing/2014/main" id="{5A9B27CA-B058-4D63-A414-8FE7B60A4F8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05445" y="1611313"/>
            <a:ext cx="7148946" cy="4467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271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669A-836A-4050-97ED-7791162EF6E9}"/>
              </a:ext>
            </a:extLst>
          </p:cNvPr>
          <p:cNvSpPr>
            <a:spLocks noGrp="1"/>
          </p:cNvSpPr>
          <p:nvPr>
            <p:ph type="title"/>
          </p:nvPr>
        </p:nvSpPr>
        <p:spPr>
          <a:xfrm>
            <a:off x="1427161" y="635114"/>
            <a:ext cx="8299089" cy="425456"/>
          </a:xfrm>
        </p:spPr>
        <p:txBody>
          <a:bodyPr>
            <a:normAutofit fontScale="90000"/>
          </a:bodyPr>
          <a:lstStyle/>
          <a:p>
            <a:r>
              <a:rPr lang="en-IN" b="1" i="0" dirty="0">
                <a:solidFill>
                  <a:srgbClr val="303141"/>
                </a:solidFill>
                <a:effectLst/>
                <a:latin typeface="Udemy Sans"/>
              </a:rPr>
              <a:t>Versions of Visual Studio</a:t>
            </a:r>
            <a:endParaRPr lang="en-IN" dirty="0"/>
          </a:p>
        </p:txBody>
      </p:sp>
      <p:pic>
        <p:nvPicPr>
          <p:cNvPr id="2050" name="Picture 2">
            <a:extLst>
              <a:ext uri="{FF2B5EF4-FFF2-40B4-BE49-F238E27FC236}">
                <a16:creationId xmlns:a16="http://schemas.microsoft.com/office/drawing/2014/main" id="{B3499F77-94E0-434B-B59F-E48764C4DE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171" y="1388917"/>
            <a:ext cx="10214265" cy="4533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896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669A-836A-4050-97ED-7791162EF6E9}"/>
              </a:ext>
            </a:extLst>
          </p:cNvPr>
          <p:cNvSpPr>
            <a:spLocks noGrp="1"/>
          </p:cNvSpPr>
          <p:nvPr>
            <p:ph type="title"/>
          </p:nvPr>
        </p:nvSpPr>
        <p:spPr>
          <a:xfrm>
            <a:off x="1141413" y="618518"/>
            <a:ext cx="9905998" cy="555655"/>
          </a:xfrm>
        </p:spPr>
        <p:txBody>
          <a:bodyPr>
            <a:normAutofit fontScale="90000"/>
          </a:bodyPr>
          <a:lstStyle/>
          <a:p>
            <a:r>
              <a:rPr lang="en-IN" b="1" i="0" dirty="0">
                <a:solidFill>
                  <a:srgbClr val="303141"/>
                </a:solidFill>
                <a:effectLst/>
                <a:latin typeface="Udemy Sans"/>
              </a:rPr>
              <a:t>Versions of Visual Studio</a:t>
            </a:r>
            <a:endParaRPr lang="en-IN" dirty="0"/>
          </a:p>
        </p:txBody>
      </p:sp>
      <p:pic>
        <p:nvPicPr>
          <p:cNvPr id="3074" name="Picture 2">
            <a:extLst>
              <a:ext uri="{FF2B5EF4-FFF2-40B4-BE49-F238E27FC236}">
                <a16:creationId xmlns:a16="http://schemas.microsoft.com/office/drawing/2014/main" id="{515A6E37-586B-4BDB-8FC2-C512CD9701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791" y="1174173"/>
            <a:ext cx="10564234" cy="4799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758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669A-836A-4050-97ED-7791162EF6E9}"/>
              </a:ext>
            </a:extLst>
          </p:cNvPr>
          <p:cNvSpPr>
            <a:spLocks noGrp="1"/>
          </p:cNvSpPr>
          <p:nvPr>
            <p:ph type="title"/>
          </p:nvPr>
        </p:nvSpPr>
        <p:spPr>
          <a:xfrm>
            <a:off x="1141413" y="618518"/>
            <a:ext cx="9905998" cy="555655"/>
          </a:xfrm>
        </p:spPr>
        <p:txBody>
          <a:bodyPr>
            <a:normAutofit fontScale="90000"/>
          </a:bodyPr>
          <a:lstStyle/>
          <a:p>
            <a:r>
              <a:rPr lang="en-IN" b="1" i="0" dirty="0">
                <a:solidFill>
                  <a:srgbClr val="303141"/>
                </a:solidFill>
                <a:effectLst/>
                <a:latin typeface="Udemy Sans"/>
              </a:rPr>
              <a:t>Versions of Visual Studio</a:t>
            </a:r>
            <a:endParaRPr lang="en-IN" dirty="0"/>
          </a:p>
        </p:txBody>
      </p:sp>
      <p:pic>
        <p:nvPicPr>
          <p:cNvPr id="4098" name="Picture 2">
            <a:extLst>
              <a:ext uri="{FF2B5EF4-FFF2-40B4-BE49-F238E27FC236}">
                <a16:creationId xmlns:a16="http://schemas.microsoft.com/office/drawing/2014/main" id="{73BC5535-49E4-45A2-B5A3-1E34BA927C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5736" y="1517073"/>
            <a:ext cx="9403773" cy="4728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259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5669A-836A-4050-97ED-7791162EF6E9}"/>
              </a:ext>
            </a:extLst>
          </p:cNvPr>
          <p:cNvSpPr>
            <a:spLocks noGrp="1"/>
          </p:cNvSpPr>
          <p:nvPr>
            <p:ph type="title"/>
          </p:nvPr>
        </p:nvSpPr>
        <p:spPr>
          <a:xfrm>
            <a:off x="853314" y="305368"/>
            <a:ext cx="9905998" cy="583981"/>
          </a:xfrm>
        </p:spPr>
        <p:txBody>
          <a:bodyPr>
            <a:normAutofit fontScale="90000"/>
          </a:bodyPr>
          <a:lstStyle/>
          <a:p>
            <a:r>
              <a:rPr lang="en-IN" b="1" i="0" dirty="0">
                <a:solidFill>
                  <a:srgbClr val="303141"/>
                </a:solidFill>
                <a:effectLst/>
                <a:latin typeface="Udemy Sans"/>
              </a:rPr>
              <a:t>C# Language and Fundamentals</a:t>
            </a:r>
            <a:endParaRPr lang="en-IN" dirty="0"/>
          </a:p>
        </p:txBody>
      </p:sp>
      <p:sp>
        <p:nvSpPr>
          <p:cNvPr id="4" name="Content Placeholder 3">
            <a:extLst>
              <a:ext uri="{FF2B5EF4-FFF2-40B4-BE49-F238E27FC236}">
                <a16:creationId xmlns:a16="http://schemas.microsoft.com/office/drawing/2014/main" id="{163227CA-4330-4CFE-B780-5062824062DC}"/>
              </a:ext>
            </a:extLst>
          </p:cNvPr>
          <p:cNvSpPr>
            <a:spLocks noGrp="1"/>
          </p:cNvSpPr>
          <p:nvPr>
            <p:ph sz="half" idx="1"/>
          </p:nvPr>
        </p:nvSpPr>
        <p:spPr>
          <a:xfrm>
            <a:off x="1141410" y="1027133"/>
            <a:ext cx="9731182" cy="5123145"/>
          </a:xfrm>
        </p:spPr>
        <p:txBody>
          <a:bodyPr>
            <a:normAutofit fontScale="25000" lnSpcReduction="20000"/>
          </a:bodyPr>
          <a:lstStyle/>
          <a:p>
            <a:pPr marL="0" indent="0" algn="just">
              <a:lnSpc>
                <a:spcPct val="168000"/>
              </a:lnSpc>
              <a:spcBef>
                <a:spcPts val="815"/>
              </a:spcBef>
              <a:spcAft>
                <a:spcPts val="0"/>
              </a:spcAft>
              <a:buNone/>
            </a:pPr>
            <a:r>
              <a:rPr lang="en-US" sz="7200" dirty="0">
                <a:solidFill>
                  <a:srgbClr val="303141"/>
                </a:solidFill>
                <a:latin typeface="Udemy Sans"/>
              </a:rPr>
              <a:t>C#.NET is the .NET’s most popular programming language, which is used to create stand-alone applications (console applications and windows applications, windows services) primarily.</a:t>
            </a:r>
          </a:p>
          <a:p>
            <a:pPr algn="just">
              <a:lnSpc>
                <a:spcPct val="168000"/>
              </a:lnSpc>
              <a:spcBef>
                <a:spcPts val="815"/>
              </a:spcBef>
              <a:spcAft>
                <a:spcPts val="0"/>
              </a:spcAft>
            </a:pPr>
            <a:r>
              <a:rPr lang="en-IN" sz="7200" dirty="0">
                <a:solidFill>
                  <a:srgbClr val="303141"/>
                </a:solidFill>
                <a:latin typeface="Udemy Sans"/>
              </a:rPr>
              <a:t>C#.NET is developed on basis of C, C+</a:t>
            </a:r>
          </a:p>
          <a:p>
            <a:pPr algn="just">
              <a:lnSpc>
                <a:spcPct val="168000"/>
              </a:lnSpc>
              <a:spcBef>
                <a:spcPts val="815"/>
              </a:spcBef>
              <a:spcAft>
                <a:spcPts val="0"/>
              </a:spcAft>
            </a:pPr>
            <a:r>
              <a:rPr lang="en-US" sz="7200" dirty="0">
                <a:solidFill>
                  <a:srgbClr val="303141"/>
                </a:solidFill>
                <a:latin typeface="Udemy Sans"/>
              </a:rPr>
              <a:t>C#.NET is an “Object Oriented Programming Language”.</a:t>
            </a:r>
            <a:endParaRPr lang="en-IN" sz="7200" dirty="0">
              <a:solidFill>
                <a:srgbClr val="303141"/>
              </a:solidFill>
              <a:latin typeface="Udemy Sans"/>
            </a:endParaRPr>
          </a:p>
          <a:p>
            <a:pPr algn="just">
              <a:lnSpc>
                <a:spcPct val="168000"/>
              </a:lnSpc>
              <a:spcBef>
                <a:spcPts val="815"/>
              </a:spcBef>
              <a:spcAft>
                <a:spcPts val="0"/>
              </a:spcAft>
            </a:pPr>
            <a:r>
              <a:rPr lang="en-US" sz="7200" dirty="0">
                <a:solidFill>
                  <a:srgbClr val="303141"/>
                </a:solidFill>
                <a:latin typeface="Udemy Sans"/>
              </a:rPr>
              <a:t>C#.NET is a case sensitive language.</a:t>
            </a:r>
          </a:p>
          <a:p>
            <a:pPr algn="just">
              <a:lnSpc>
                <a:spcPct val="168000"/>
              </a:lnSpc>
              <a:spcBef>
                <a:spcPts val="815"/>
              </a:spcBef>
              <a:spcAft>
                <a:spcPts val="0"/>
              </a:spcAft>
            </a:pPr>
            <a:r>
              <a:rPr lang="en-US" sz="7200" dirty="0">
                <a:solidFill>
                  <a:srgbClr val="303141"/>
                </a:solidFill>
                <a:latin typeface="Udemy Sans"/>
              </a:rPr>
              <a:t>C#.NET is an advanced and matured language.</a:t>
            </a:r>
          </a:p>
          <a:p>
            <a:pPr algn="just">
              <a:lnSpc>
                <a:spcPct val="168000"/>
              </a:lnSpc>
              <a:spcBef>
                <a:spcPts val="815"/>
              </a:spcBef>
              <a:spcAft>
                <a:spcPts val="0"/>
              </a:spcAft>
            </a:pPr>
            <a:r>
              <a:rPr lang="en-US" sz="7200" dirty="0">
                <a:solidFill>
                  <a:srgbClr val="303141"/>
                </a:solidFill>
                <a:latin typeface="Udemy Sans"/>
              </a:rPr>
              <a:t>C#.NET is a high-level programming language.</a:t>
            </a:r>
          </a:p>
          <a:p>
            <a:pPr algn="just">
              <a:lnSpc>
                <a:spcPct val="168000"/>
              </a:lnSpc>
              <a:spcBef>
                <a:spcPts val="815"/>
              </a:spcBef>
              <a:spcAft>
                <a:spcPts val="0"/>
              </a:spcAft>
            </a:pPr>
            <a:r>
              <a:rPr lang="en-US" sz="7200" dirty="0">
                <a:solidFill>
                  <a:srgbClr val="303141"/>
                </a:solidFill>
                <a:latin typeface="Udemy Sans"/>
              </a:rPr>
              <a:t>C#.NET is a compiler-based language.</a:t>
            </a:r>
          </a:p>
          <a:p>
            <a:pPr algn="just">
              <a:lnSpc>
                <a:spcPct val="168000"/>
              </a:lnSpc>
              <a:spcBef>
                <a:spcPts val="815"/>
              </a:spcBef>
              <a:spcAft>
                <a:spcPts val="0"/>
              </a:spcAft>
            </a:pPr>
            <a:r>
              <a:rPr lang="en-US" sz="7200" dirty="0">
                <a:solidFill>
                  <a:srgbClr val="303141"/>
                </a:solidFill>
                <a:latin typeface="Udemy Sans"/>
              </a:rPr>
              <a:t>C#.NET is a part of .NET Framework.</a:t>
            </a:r>
          </a:p>
          <a:p>
            <a:pPr algn="just">
              <a:lnSpc>
                <a:spcPct val="168000"/>
              </a:lnSpc>
              <a:spcBef>
                <a:spcPts val="815"/>
              </a:spcBef>
              <a:spcAft>
                <a:spcPts val="0"/>
              </a:spcAft>
            </a:pPr>
            <a:r>
              <a:rPr lang="en-US" sz="7200" dirty="0">
                <a:solidFill>
                  <a:srgbClr val="303141"/>
                </a:solidFill>
                <a:latin typeface="Udemy Sans"/>
              </a:rPr>
              <a:t>C#.NET programs run based on the CLR (.NET run time environment).</a:t>
            </a:r>
          </a:p>
          <a:p>
            <a:pPr marL="0" indent="0" algn="just">
              <a:lnSpc>
                <a:spcPct val="168000"/>
              </a:lnSpc>
              <a:spcBef>
                <a:spcPts val="815"/>
              </a:spcBef>
              <a:spcAft>
                <a:spcPts val="0"/>
              </a:spcAft>
              <a:buNone/>
            </a:pPr>
            <a:endParaRPr lang="en-US" sz="1800" dirty="0">
              <a:solidFill>
                <a:srgbClr val="303141"/>
              </a:solidFill>
              <a:latin typeface="Udemy Sans"/>
            </a:endParaRPr>
          </a:p>
          <a:p>
            <a:pPr algn="just">
              <a:lnSpc>
                <a:spcPct val="168000"/>
              </a:lnSpc>
              <a:spcBef>
                <a:spcPts val="815"/>
              </a:spcBef>
              <a:spcAft>
                <a:spcPts val="0"/>
              </a:spcAft>
            </a:pPr>
            <a:endParaRPr lang="en-IN" sz="1800" dirty="0">
              <a:solidFill>
                <a:srgbClr val="303141"/>
              </a:solidFill>
              <a:latin typeface="Udemy Sans"/>
            </a:endParaRPr>
          </a:p>
          <a:p>
            <a:pPr marL="342900" lvl="0" indent="-342900">
              <a:spcBef>
                <a:spcPts val="525"/>
              </a:spcBef>
              <a:buSzPts val="1100"/>
              <a:buFont typeface="Symbol" panose="05050102010706020507" pitchFamily="18" charset="2"/>
              <a:buChar char=""/>
              <a:tabLst>
                <a:tab pos="652145" algn="l"/>
              </a:tabLst>
            </a:pPr>
            <a:r>
              <a:rPr lang="en-US" sz="1800" spc="0" dirty="0">
                <a:effectLst/>
                <a:latin typeface="Arial MT"/>
                <a:ea typeface="Symbol" panose="05050102010706020507" pitchFamily="18" charset="2"/>
                <a:cs typeface="Symbol" panose="05050102010706020507" pitchFamily="18" charset="2"/>
              </a:rPr>
              <a:t>C#.NET</a:t>
            </a:r>
            <a:r>
              <a:rPr lang="en-US" sz="1800" spc="-3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is</a:t>
            </a:r>
            <a:r>
              <a:rPr lang="en-US" sz="1800" spc="-25"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developed</a:t>
            </a:r>
            <a:r>
              <a:rPr lang="en-US" sz="1800" spc="-25"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on</a:t>
            </a:r>
            <a:r>
              <a:rPr lang="en-US" sz="1800" spc="-3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basis</a:t>
            </a:r>
            <a:r>
              <a:rPr lang="en-US" sz="1800" spc="-3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of</a:t>
            </a:r>
            <a:r>
              <a:rPr lang="en-US" sz="1800" spc="-20" dirty="0">
                <a:effectLst/>
                <a:latin typeface="Arial MT"/>
                <a:ea typeface="Symbol" panose="05050102010706020507" pitchFamily="18" charset="2"/>
                <a:cs typeface="Symbol" panose="05050102010706020507" pitchFamily="18" charset="2"/>
              </a:rPr>
              <a:t> </a:t>
            </a:r>
            <a:r>
              <a:rPr lang="en-US" sz="1800" spc="0" dirty="0">
                <a:effectLst/>
                <a:latin typeface="Arial MT"/>
                <a:ea typeface="Symbol" panose="05050102010706020507" pitchFamily="18" charset="2"/>
                <a:cs typeface="Symbol" panose="05050102010706020507" pitchFamily="18" charset="2"/>
              </a:rPr>
              <a:t>C,</a:t>
            </a:r>
            <a:r>
              <a:rPr lang="en-US" sz="1800" spc="-20" dirty="0">
                <a:effectLst/>
                <a:latin typeface="Arial MT"/>
                <a:ea typeface="Symbol" panose="05050102010706020507" pitchFamily="18" charset="2"/>
                <a:cs typeface="Symbol" panose="05050102010706020507" pitchFamily="18" charset="2"/>
              </a:rPr>
              <a:t> C++.</a:t>
            </a:r>
            <a:endParaRPr lang="en-IN" sz="1800" spc="0" dirty="0">
              <a:effectLst/>
              <a:latin typeface="Arial MT"/>
              <a:ea typeface="Symbol" panose="05050102010706020507" pitchFamily="18" charset="2"/>
              <a:cs typeface="Symbol" panose="05050102010706020507" pitchFamily="18" charset="2"/>
            </a:endParaRPr>
          </a:p>
          <a:p>
            <a:pPr marL="342900" lvl="0" indent="-342900">
              <a:spcBef>
                <a:spcPts val="525"/>
              </a:spcBef>
              <a:buSzPts val="1100"/>
              <a:buFont typeface="Symbol" panose="05050102010706020507" pitchFamily="18" charset="2"/>
              <a:buChar char=""/>
              <a:tabLst>
                <a:tab pos="652145" algn="l"/>
              </a:tabLst>
            </a:pPr>
            <a:r>
              <a:rPr lang="en-US" sz="1800" dirty="0">
                <a:effectLst/>
                <a:latin typeface="Arial MT"/>
                <a:ea typeface="Arial MT"/>
                <a:cs typeface="Arial MT"/>
              </a:rPr>
              <a:t> </a:t>
            </a:r>
            <a:endParaRPr lang="en-IN" dirty="0"/>
          </a:p>
        </p:txBody>
      </p:sp>
    </p:spTree>
    <p:extLst>
      <p:ext uri="{BB962C8B-B14F-4D97-AF65-F5344CB8AC3E}">
        <p14:creationId xmlns:p14="http://schemas.microsoft.com/office/powerpoint/2010/main" val="239657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D3A9E-EAB5-4FE5-98DE-E04D80C7A593}"/>
              </a:ext>
            </a:extLst>
          </p:cNvPr>
          <p:cNvSpPr>
            <a:spLocks noGrp="1"/>
          </p:cNvSpPr>
          <p:nvPr>
            <p:ph type="title"/>
          </p:nvPr>
        </p:nvSpPr>
        <p:spPr>
          <a:xfrm>
            <a:off x="1141413" y="618518"/>
            <a:ext cx="9905998" cy="634085"/>
          </a:xfrm>
        </p:spPr>
        <p:txBody>
          <a:bodyPr>
            <a:normAutofit/>
          </a:bodyPr>
          <a:lstStyle/>
          <a:p>
            <a:r>
              <a:rPr lang="en-US" sz="1800" b="1" spc="-40" dirty="0">
                <a:effectLst/>
                <a:latin typeface="Arial MT"/>
                <a:ea typeface="Arial MT"/>
                <a:cs typeface="Arial MT"/>
              </a:rPr>
              <a:t>Versions</a:t>
            </a:r>
            <a:r>
              <a:rPr lang="en-US" sz="1800" b="1" spc="-35" dirty="0">
                <a:effectLst/>
                <a:latin typeface="Arial MT"/>
                <a:ea typeface="Arial MT"/>
                <a:cs typeface="Arial MT"/>
              </a:rPr>
              <a:t> </a:t>
            </a:r>
            <a:r>
              <a:rPr lang="en-US" sz="1800" b="1" spc="-40" dirty="0">
                <a:effectLst/>
                <a:latin typeface="Arial MT"/>
                <a:ea typeface="Arial MT"/>
                <a:cs typeface="Arial MT"/>
              </a:rPr>
              <a:t>of</a:t>
            </a:r>
            <a:r>
              <a:rPr lang="en-US" sz="1800" b="1" spc="-35" dirty="0">
                <a:effectLst/>
                <a:latin typeface="Arial MT"/>
                <a:ea typeface="Arial MT"/>
                <a:cs typeface="Arial MT"/>
              </a:rPr>
              <a:t> </a:t>
            </a:r>
            <a:r>
              <a:rPr lang="en-US" sz="1800" b="1" spc="-40" dirty="0">
                <a:effectLst/>
                <a:latin typeface="Arial MT"/>
                <a:ea typeface="Arial MT"/>
                <a:cs typeface="Arial MT"/>
              </a:rPr>
              <a:t>C#.NET</a:t>
            </a:r>
            <a:br>
              <a:rPr lang="en-IN" sz="1800" b="1" dirty="0">
                <a:effectLst/>
                <a:latin typeface="Arial MT"/>
                <a:ea typeface="Arial MT"/>
                <a:cs typeface="Arial MT"/>
              </a:rPr>
            </a:br>
            <a:r>
              <a:rPr lang="en-IN" sz="1800" b="1" dirty="0">
                <a:solidFill>
                  <a:schemeClr val="bg1"/>
                </a:solidFill>
                <a:effectLst/>
                <a:latin typeface="Arial MT"/>
                <a:ea typeface="Arial MT"/>
                <a:cs typeface="Arial MT"/>
              </a:rPr>
              <a:t>Version of C#</a:t>
            </a:r>
            <a:endParaRPr lang="en-IN" dirty="0">
              <a:solidFill>
                <a:schemeClr val="bg1"/>
              </a:solidFill>
            </a:endParaRPr>
          </a:p>
        </p:txBody>
      </p:sp>
      <p:graphicFrame>
        <p:nvGraphicFramePr>
          <p:cNvPr id="4" name="Content Placeholder 3">
            <a:extLst>
              <a:ext uri="{FF2B5EF4-FFF2-40B4-BE49-F238E27FC236}">
                <a16:creationId xmlns:a16="http://schemas.microsoft.com/office/drawing/2014/main" id="{38E69A99-129D-4C7C-866E-6444B613A2FA}"/>
              </a:ext>
            </a:extLst>
          </p:cNvPr>
          <p:cNvGraphicFramePr>
            <a:graphicFrameLocks noGrp="1"/>
          </p:cNvGraphicFramePr>
          <p:nvPr>
            <p:ph idx="1"/>
            <p:extLst>
              <p:ext uri="{D42A27DB-BD31-4B8C-83A1-F6EECF244321}">
                <p14:modId xmlns:p14="http://schemas.microsoft.com/office/powerpoint/2010/main" val="155179790"/>
              </p:ext>
            </p:extLst>
          </p:nvPr>
        </p:nvGraphicFramePr>
        <p:xfrm>
          <a:off x="1679171" y="1641987"/>
          <a:ext cx="8556209" cy="4597500"/>
        </p:xfrm>
        <a:graphic>
          <a:graphicData uri="http://schemas.openxmlformats.org/drawingml/2006/table">
            <a:tbl>
              <a:tblPr firstRow="1" firstCol="1" lastRow="1" lastCol="1" bandRow="1" bandCol="1"/>
              <a:tblGrid>
                <a:gridCol w="928210">
                  <a:extLst>
                    <a:ext uri="{9D8B030D-6E8A-4147-A177-3AD203B41FA5}">
                      <a16:colId xmlns:a16="http://schemas.microsoft.com/office/drawing/2014/main" val="3977431370"/>
                    </a:ext>
                  </a:extLst>
                </a:gridCol>
                <a:gridCol w="2342538">
                  <a:extLst>
                    <a:ext uri="{9D8B030D-6E8A-4147-A177-3AD203B41FA5}">
                      <a16:colId xmlns:a16="http://schemas.microsoft.com/office/drawing/2014/main" val="1485180959"/>
                    </a:ext>
                  </a:extLst>
                </a:gridCol>
                <a:gridCol w="3313833">
                  <a:extLst>
                    <a:ext uri="{9D8B030D-6E8A-4147-A177-3AD203B41FA5}">
                      <a16:colId xmlns:a16="http://schemas.microsoft.com/office/drawing/2014/main" val="639575101"/>
                    </a:ext>
                  </a:extLst>
                </a:gridCol>
                <a:gridCol w="1971628">
                  <a:extLst>
                    <a:ext uri="{9D8B030D-6E8A-4147-A177-3AD203B41FA5}">
                      <a16:colId xmlns:a16="http://schemas.microsoft.com/office/drawing/2014/main" val="393843554"/>
                    </a:ext>
                  </a:extLst>
                </a:gridCol>
              </a:tblGrid>
              <a:tr h="560516">
                <a:tc>
                  <a:txBody>
                    <a:bodyPr/>
                    <a:lstStyle/>
                    <a:p>
                      <a:pPr marL="4445" marR="635" algn="ctr">
                        <a:spcBef>
                          <a:spcPts val="840"/>
                        </a:spcBef>
                        <a:spcAft>
                          <a:spcPts val="0"/>
                        </a:spcAft>
                      </a:pPr>
                      <a:r>
                        <a:rPr lang="en-US" sz="1100" dirty="0">
                          <a:solidFill>
                            <a:schemeClr val="bg1"/>
                          </a:solidFill>
                          <a:effectLst/>
                          <a:latin typeface="Arial MT"/>
                          <a:ea typeface="Arial MT"/>
                          <a:cs typeface="Arial MT"/>
                        </a:rPr>
                        <a:t>Sl.</a:t>
                      </a:r>
                      <a:r>
                        <a:rPr lang="en-US" sz="1100" spc="-5" dirty="0">
                          <a:solidFill>
                            <a:schemeClr val="bg1"/>
                          </a:solidFill>
                          <a:effectLst/>
                          <a:latin typeface="Arial MT"/>
                          <a:ea typeface="Arial MT"/>
                          <a:cs typeface="Arial MT"/>
                        </a:rPr>
                        <a:t> </a:t>
                      </a:r>
                      <a:r>
                        <a:rPr lang="en-US" sz="1100" spc="-25" dirty="0">
                          <a:solidFill>
                            <a:schemeClr val="bg1"/>
                          </a:solidFill>
                          <a:effectLst/>
                          <a:latin typeface="Arial MT"/>
                          <a:ea typeface="Arial MT"/>
                          <a:cs typeface="Arial MT"/>
                        </a:rPr>
                        <a:t>No</a:t>
                      </a:r>
                      <a:endParaRPr lang="en-IN" sz="11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tc>
                  <a:txBody>
                    <a:bodyPr/>
                    <a:lstStyle/>
                    <a:p>
                      <a:pPr marL="3810" marR="635" algn="ctr">
                        <a:spcBef>
                          <a:spcPts val="840"/>
                        </a:spcBef>
                        <a:spcAft>
                          <a:spcPts val="0"/>
                        </a:spcAft>
                      </a:pPr>
                      <a:r>
                        <a:rPr lang="en-US" sz="1100">
                          <a:solidFill>
                            <a:schemeClr val="bg1"/>
                          </a:solidFill>
                          <a:effectLst/>
                          <a:latin typeface="Arial MT"/>
                          <a:ea typeface="Arial MT"/>
                          <a:cs typeface="Arial MT"/>
                        </a:rPr>
                        <a:t>C#.NET</a:t>
                      </a:r>
                      <a:r>
                        <a:rPr lang="en-US" sz="1100" spc="65">
                          <a:solidFill>
                            <a:schemeClr val="bg1"/>
                          </a:solidFill>
                          <a:effectLst/>
                          <a:latin typeface="Arial MT"/>
                          <a:ea typeface="Arial MT"/>
                          <a:cs typeface="Arial MT"/>
                        </a:rPr>
                        <a:t> </a:t>
                      </a:r>
                      <a:r>
                        <a:rPr lang="en-US" sz="1100" spc="-10">
                          <a:solidFill>
                            <a:schemeClr val="bg1"/>
                          </a:solidFill>
                          <a:effectLst/>
                          <a:latin typeface="Arial MT"/>
                          <a:ea typeface="Arial MT"/>
                          <a:cs typeface="Arial MT"/>
                        </a:rPr>
                        <a:t>Version</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tc>
                  <a:txBody>
                    <a:bodyPr/>
                    <a:lstStyle/>
                    <a:p>
                      <a:pPr marL="396240">
                        <a:spcBef>
                          <a:spcPts val="840"/>
                        </a:spcBef>
                        <a:spcAft>
                          <a:spcPts val="0"/>
                        </a:spcAft>
                      </a:pPr>
                      <a:r>
                        <a:rPr lang="en-US" sz="1100">
                          <a:solidFill>
                            <a:schemeClr val="bg1"/>
                          </a:solidFill>
                          <a:effectLst/>
                          <a:latin typeface="Arial MT"/>
                          <a:ea typeface="Arial MT"/>
                          <a:cs typeface="Arial MT"/>
                        </a:rPr>
                        <a:t>.NET</a:t>
                      </a:r>
                      <a:r>
                        <a:rPr lang="en-US" sz="1100" spc="5">
                          <a:solidFill>
                            <a:schemeClr val="bg1"/>
                          </a:solidFill>
                          <a:effectLst/>
                          <a:latin typeface="Arial MT"/>
                          <a:ea typeface="Arial MT"/>
                          <a:cs typeface="Arial MT"/>
                        </a:rPr>
                        <a:t> </a:t>
                      </a:r>
                      <a:r>
                        <a:rPr lang="en-US" sz="1100">
                          <a:solidFill>
                            <a:schemeClr val="bg1"/>
                          </a:solidFill>
                          <a:effectLst/>
                          <a:latin typeface="Arial MT"/>
                          <a:ea typeface="Arial MT"/>
                          <a:cs typeface="Arial MT"/>
                        </a:rPr>
                        <a:t>Framework</a:t>
                      </a:r>
                      <a:r>
                        <a:rPr lang="en-US" sz="1100" spc="15">
                          <a:solidFill>
                            <a:schemeClr val="bg1"/>
                          </a:solidFill>
                          <a:effectLst/>
                          <a:latin typeface="Arial MT"/>
                          <a:ea typeface="Arial MT"/>
                          <a:cs typeface="Arial MT"/>
                        </a:rPr>
                        <a:t> </a:t>
                      </a:r>
                      <a:r>
                        <a:rPr lang="en-US" sz="1100" spc="-10">
                          <a:solidFill>
                            <a:schemeClr val="bg1"/>
                          </a:solidFill>
                          <a:effectLst/>
                          <a:latin typeface="Arial MT"/>
                          <a:ea typeface="Arial MT"/>
                          <a:cs typeface="Arial MT"/>
                        </a:rPr>
                        <a:t>Version</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tc>
                  <a:txBody>
                    <a:bodyPr/>
                    <a:lstStyle/>
                    <a:p>
                      <a:pPr marL="6350" algn="ctr">
                        <a:spcBef>
                          <a:spcPts val="840"/>
                        </a:spcBef>
                        <a:spcAft>
                          <a:spcPts val="0"/>
                        </a:spcAft>
                      </a:pPr>
                      <a:r>
                        <a:rPr lang="en-US" sz="1100" spc="-30">
                          <a:solidFill>
                            <a:schemeClr val="bg1"/>
                          </a:solidFill>
                          <a:effectLst/>
                          <a:latin typeface="Arial MT"/>
                          <a:ea typeface="Arial MT"/>
                          <a:cs typeface="Arial MT"/>
                        </a:rPr>
                        <a:t>Year</a:t>
                      </a:r>
                      <a:r>
                        <a:rPr lang="en-US" sz="1100" spc="-55">
                          <a:solidFill>
                            <a:schemeClr val="bg1"/>
                          </a:solidFill>
                          <a:effectLst/>
                          <a:latin typeface="Arial MT"/>
                          <a:ea typeface="Arial MT"/>
                          <a:cs typeface="Arial MT"/>
                        </a:rPr>
                        <a:t> </a:t>
                      </a:r>
                      <a:r>
                        <a:rPr lang="en-US" sz="1100" spc="-30">
                          <a:solidFill>
                            <a:schemeClr val="bg1"/>
                          </a:solidFill>
                          <a:effectLst/>
                          <a:latin typeface="Arial MT"/>
                          <a:ea typeface="Arial MT"/>
                          <a:cs typeface="Arial MT"/>
                        </a:rPr>
                        <a:t>of</a:t>
                      </a:r>
                      <a:r>
                        <a:rPr lang="en-US" sz="1100" spc="-45">
                          <a:solidFill>
                            <a:schemeClr val="bg1"/>
                          </a:solidFill>
                          <a:effectLst/>
                          <a:latin typeface="Arial MT"/>
                          <a:ea typeface="Arial MT"/>
                          <a:cs typeface="Arial MT"/>
                        </a:rPr>
                        <a:t> </a:t>
                      </a:r>
                      <a:r>
                        <a:rPr lang="en-US" sz="1100" spc="-30">
                          <a:solidFill>
                            <a:schemeClr val="bg1"/>
                          </a:solidFill>
                          <a:effectLst/>
                          <a:latin typeface="Arial MT"/>
                          <a:ea typeface="Arial MT"/>
                          <a:cs typeface="Arial MT"/>
                        </a:rPr>
                        <a:t>release</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extLst>
                  <a:ext uri="{0D108BD9-81ED-4DB2-BD59-A6C34878D82A}">
                    <a16:rowId xmlns:a16="http://schemas.microsoft.com/office/drawing/2014/main" val="644025087"/>
                  </a:ext>
                </a:extLst>
              </a:tr>
              <a:tr h="336491">
                <a:tc>
                  <a:txBody>
                    <a:bodyPr/>
                    <a:lstStyle/>
                    <a:p>
                      <a:pPr marL="4445" marR="635" algn="ctr">
                        <a:spcBef>
                          <a:spcPts val="215"/>
                        </a:spcBef>
                        <a:spcAft>
                          <a:spcPts val="0"/>
                        </a:spcAft>
                      </a:pPr>
                      <a:r>
                        <a:rPr lang="en-US" sz="1100" spc="-50" dirty="0">
                          <a:solidFill>
                            <a:schemeClr val="bg1"/>
                          </a:solidFill>
                          <a:effectLst/>
                          <a:latin typeface="Arial MT"/>
                          <a:ea typeface="Arial MT"/>
                          <a:cs typeface="Arial MT"/>
                        </a:rPr>
                        <a:t>1</a:t>
                      </a:r>
                      <a:endParaRPr lang="en-IN" sz="11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 marR="635" algn="ctr">
                        <a:spcBef>
                          <a:spcPts val="215"/>
                        </a:spcBef>
                        <a:spcAft>
                          <a:spcPts val="0"/>
                        </a:spcAft>
                      </a:pPr>
                      <a:r>
                        <a:rPr lang="en-US" sz="1100">
                          <a:solidFill>
                            <a:schemeClr val="bg1"/>
                          </a:solidFill>
                          <a:effectLst/>
                          <a:latin typeface="Arial MT"/>
                          <a:ea typeface="Arial MT"/>
                          <a:cs typeface="Arial MT"/>
                        </a:rPr>
                        <a:t>C#.NET</a:t>
                      </a:r>
                      <a:r>
                        <a:rPr lang="en-US" sz="1100" spc="6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1.0</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97180">
                        <a:spcBef>
                          <a:spcPts val="215"/>
                        </a:spcBef>
                      </a:pPr>
                      <a:r>
                        <a:rPr lang="en-US" sz="1100">
                          <a:solidFill>
                            <a:schemeClr val="bg1"/>
                          </a:solidFill>
                          <a:effectLst/>
                          <a:latin typeface="Arial MT"/>
                          <a:ea typeface="Arial MT"/>
                          <a:cs typeface="Arial MT"/>
                        </a:rPr>
                        <a:t>.NET</a:t>
                      </a:r>
                      <a:r>
                        <a:rPr lang="en-US" sz="1100" spc="10">
                          <a:solidFill>
                            <a:schemeClr val="bg1"/>
                          </a:solidFill>
                          <a:effectLst/>
                          <a:latin typeface="Arial MT"/>
                          <a:ea typeface="Arial MT"/>
                          <a:cs typeface="Arial MT"/>
                        </a:rPr>
                        <a:t> </a:t>
                      </a:r>
                      <a:r>
                        <a:rPr lang="en-US" sz="1100">
                          <a:solidFill>
                            <a:schemeClr val="bg1"/>
                          </a:solidFill>
                          <a:effectLst/>
                          <a:latin typeface="Arial MT"/>
                          <a:ea typeface="Arial MT"/>
                          <a:cs typeface="Arial MT"/>
                        </a:rPr>
                        <a:t>Framework</a:t>
                      </a:r>
                      <a:r>
                        <a:rPr lang="en-US" sz="1100" spc="1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1.0</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 algn="ctr">
                        <a:spcBef>
                          <a:spcPts val="215"/>
                        </a:spcBef>
                      </a:pPr>
                      <a:r>
                        <a:rPr lang="en-US" sz="1100" spc="-20">
                          <a:solidFill>
                            <a:schemeClr val="bg1"/>
                          </a:solidFill>
                          <a:effectLst/>
                          <a:latin typeface="Arial MT"/>
                          <a:ea typeface="Arial MT"/>
                          <a:cs typeface="Arial MT"/>
                        </a:rPr>
                        <a:t>2002</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5074296"/>
                  </a:ext>
                </a:extLst>
              </a:tr>
              <a:tr h="336491">
                <a:tc>
                  <a:txBody>
                    <a:bodyPr/>
                    <a:lstStyle/>
                    <a:p>
                      <a:pPr marL="4445" marR="635" algn="ctr">
                        <a:spcBef>
                          <a:spcPts val="215"/>
                        </a:spcBef>
                        <a:spcAft>
                          <a:spcPts val="0"/>
                        </a:spcAft>
                      </a:pPr>
                      <a:r>
                        <a:rPr lang="en-US" sz="1100" spc="-50">
                          <a:solidFill>
                            <a:schemeClr val="bg1"/>
                          </a:solidFill>
                          <a:effectLst/>
                          <a:latin typeface="Arial MT"/>
                          <a:ea typeface="Arial MT"/>
                          <a:cs typeface="Arial MT"/>
                        </a:rPr>
                        <a:t>2</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 algn="ctr">
                        <a:spcBef>
                          <a:spcPts val="215"/>
                        </a:spcBef>
                      </a:pPr>
                      <a:r>
                        <a:rPr lang="en-US" sz="1100">
                          <a:solidFill>
                            <a:schemeClr val="bg1"/>
                          </a:solidFill>
                          <a:effectLst/>
                          <a:latin typeface="Arial MT"/>
                          <a:ea typeface="Arial MT"/>
                          <a:cs typeface="Arial MT"/>
                        </a:rPr>
                        <a:t>C#.NET</a:t>
                      </a:r>
                      <a:r>
                        <a:rPr lang="en-US" sz="1100" spc="6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1.1</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97180">
                        <a:spcBef>
                          <a:spcPts val="215"/>
                        </a:spcBef>
                      </a:pPr>
                      <a:r>
                        <a:rPr lang="en-US" sz="1100">
                          <a:solidFill>
                            <a:schemeClr val="bg1"/>
                          </a:solidFill>
                          <a:effectLst/>
                          <a:latin typeface="Arial MT"/>
                          <a:ea typeface="Arial MT"/>
                          <a:cs typeface="Arial MT"/>
                        </a:rPr>
                        <a:t>.NET</a:t>
                      </a:r>
                      <a:r>
                        <a:rPr lang="en-US" sz="1100" spc="10">
                          <a:solidFill>
                            <a:schemeClr val="bg1"/>
                          </a:solidFill>
                          <a:effectLst/>
                          <a:latin typeface="Arial MT"/>
                          <a:ea typeface="Arial MT"/>
                          <a:cs typeface="Arial MT"/>
                        </a:rPr>
                        <a:t> </a:t>
                      </a:r>
                      <a:r>
                        <a:rPr lang="en-US" sz="1100">
                          <a:solidFill>
                            <a:schemeClr val="bg1"/>
                          </a:solidFill>
                          <a:effectLst/>
                          <a:latin typeface="Arial MT"/>
                          <a:ea typeface="Arial MT"/>
                          <a:cs typeface="Arial MT"/>
                        </a:rPr>
                        <a:t>Framework</a:t>
                      </a:r>
                      <a:r>
                        <a:rPr lang="en-US" sz="1100" spc="1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1.1</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 algn="ctr">
                        <a:spcBef>
                          <a:spcPts val="215"/>
                        </a:spcBef>
                      </a:pPr>
                      <a:r>
                        <a:rPr lang="en-US" sz="1100" spc="-20">
                          <a:solidFill>
                            <a:schemeClr val="bg1"/>
                          </a:solidFill>
                          <a:effectLst/>
                          <a:latin typeface="Arial MT"/>
                          <a:ea typeface="Arial MT"/>
                          <a:cs typeface="Arial MT"/>
                        </a:rPr>
                        <a:t>2003</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3177287"/>
                  </a:ext>
                </a:extLst>
              </a:tr>
              <a:tr h="336491">
                <a:tc>
                  <a:txBody>
                    <a:bodyPr/>
                    <a:lstStyle/>
                    <a:p>
                      <a:pPr marL="4445" marR="635" algn="ctr">
                        <a:spcBef>
                          <a:spcPts val="215"/>
                        </a:spcBef>
                        <a:spcAft>
                          <a:spcPts val="0"/>
                        </a:spcAft>
                      </a:pPr>
                      <a:r>
                        <a:rPr lang="en-US" sz="1100" spc="-50">
                          <a:solidFill>
                            <a:schemeClr val="bg1"/>
                          </a:solidFill>
                          <a:effectLst/>
                          <a:latin typeface="Arial MT"/>
                          <a:ea typeface="Arial MT"/>
                          <a:cs typeface="Arial MT"/>
                        </a:rPr>
                        <a:t>3</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 algn="ctr">
                        <a:spcBef>
                          <a:spcPts val="215"/>
                        </a:spcBef>
                      </a:pPr>
                      <a:r>
                        <a:rPr lang="en-US" sz="1100" dirty="0">
                          <a:solidFill>
                            <a:schemeClr val="bg1"/>
                          </a:solidFill>
                          <a:effectLst/>
                          <a:latin typeface="Arial MT"/>
                          <a:ea typeface="Arial MT"/>
                          <a:cs typeface="Arial MT"/>
                        </a:rPr>
                        <a:t>C#.NET</a:t>
                      </a:r>
                      <a:r>
                        <a:rPr lang="en-US" sz="1100" spc="65" dirty="0">
                          <a:solidFill>
                            <a:schemeClr val="bg1"/>
                          </a:solidFill>
                          <a:effectLst/>
                          <a:latin typeface="Arial MT"/>
                          <a:ea typeface="Arial MT"/>
                          <a:cs typeface="Arial MT"/>
                        </a:rPr>
                        <a:t> </a:t>
                      </a:r>
                      <a:r>
                        <a:rPr lang="en-US" sz="1100" spc="-25" dirty="0">
                          <a:solidFill>
                            <a:schemeClr val="bg1"/>
                          </a:solidFill>
                          <a:effectLst/>
                          <a:latin typeface="Arial MT"/>
                          <a:ea typeface="Arial MT"/>
                          <a:cs typeface="Arial MT"/>
                        </a:rPr>
                        <a:t>2.0</a:t>
                      </a:r>
                      <a:endParaRPr lang="en-IN" sz="11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97180">
                        <a:spcBef>
                          <a:spcPts val="215"/>
                        </a:spcBef>
                      </a:pPr>
                      <a:r>
                        <a:rPr lang="en-US" sz="1100">
                          <a:solidFill>
                            <a:schemeClr val="bg1"/>
                          </a:solidFill>
                          <a:effectLst/>
                          <a:latin typeface="Arial MT"/>
                          <a:ea typeface="Arial MT"/>
                          <a:cs typeface="Arial MT"/>
                        </a:rPr>
                        <a:t>.NET</a:t>
                      </a:r>
                      <a:r>
                        <a:rPr lang="en-US" sz="1100" spc="10">
                          <a:solidFill>
                            <a:schemeClr val="bg1"/>
                          </a:solidFill>
                          <a:effectLst/>
                          <a:latin typeface="Arial MT"/>
                          <a:ea typeface="Arial MT"/>
                          <a:cs typeface="Arial MT"/>
                        </a:rPr>
                        <a:t> </a:t>
                      </a:r>
                      <a:r>
                        <a:rPr lang="en-US" sz="1100">
                          <a:solidFill>
                            <a:schemeClr val="bg1"/>
                          </a:solidFill>
                          <a:effectLst/>
                          <a:latin typeface="Arial MT"/>
                          <a:ea typeface="Arial MT"/>
                          <a:cs typeface="Arial MT"/>
                        </a:rPr>
                        <a:t>Framework</a:t>
                      </a:r>
                      <a:r>
                        <a:rPr lang="en-US" sz="1100" spc="1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2.0</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 algn="ctr">
                        <a:spcBef>
                          <a:spcPts val="215"/>
                        </a:spcBef>
                      </a:pPr>
                      <a:r>
                        <a:rPr lang="en-US" sz="1100" spc="-20">
                          <a:solidFill>
                            <a:schemeClr val="bg1"/>
                          </a:solidFill>
                          <a:effectLst/>
                          <a:latin typeface="Arial MT"/>
                          <a:ea typeface="Arial MT"/>
                          <a:cs typeface="Arial MT"/>
                        </a:rPr>
                        <a:t>2005</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7811003"/>
                  </a:ext>
                </a:extLst>
              </a:tr>
              <a:tr h="336491">
                <a:tc>
                  <a:txBody>
                    <a:bodyPr/>
                    <a:lstStyle/>
                    <a:p>
                      <a:pPr marL="4445" marR="635" algn="ctr">
                        <a:spcBef>
                          <a:spcPts val="215"/>
                        </a:spcBef>
                        <a:spcAft>
                          <a:spcPts val="0"/>
                        </a:spcAft>
                      </a:pPr>
                      <a:r>
                        <a:rPr lang="en-US" sz="1100" spc="-50">
                          <a:solidFill>
                            <a:schemeClr val="bg1"/>
                          </a:solidFill>
                          <a:effectLst/>
                          <a:latin typeface="Arial MT"/>
                          <a:ea typeface="Arial MT"/>
                          <a:cs typeface="Arial MT"/>
                        </a:rPr>
                        <a:t>4</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 algn="ctr">
                        <a:spcBef>
                          <a:spcPts val="215"/>
                        </a:spcBef>
                      </a:pPr>
                      <a:r>
                        <a:rPr lang="en-US" sz="1100">
                          <a:solidFill>
                            <a:schemeClr val="bg1"/>
                          </a:solidFill>
                          <a:effectLst/>
                          <a:latin typeface="Arial MT"/>
                          <a:ea typeface="Arial MT"/>
                          <a:cs typeface="Arial MT"/>
                        </a:rPr>
                        <a:t>C#.NET</a:t>
                      </a:r>
                      <a:r>
                        <a:rPr lang="en-US" sz="1100" spc="6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3.0</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97180">
                        <a:spcBef>
                          <a:spcPts val="215"/>
                        </a:spcBef>
                      </a:pPr>
                      <a:r>
                        <a:rPr lang="en-US" sz="1100">
                          <a:solidFill>
                            <a:schemeClr val="bg1"/>
                          </a:solidFill>
                          <a:effectLst/>
                          <a:latin typeface="Arial MT"/>
                          <a:ea typeface="Arial MT"/>
                          <a:cs typeface="Arial MT"/>
                        </a:rPr>
                        <a:t>.NET</a:t>
                      </a:r>
                      <a:r>
                        <a:rPr lang="en-US" sz="1100" spc="10">
                          <a:solidFill>
                            <a:schemeClr val="bg1"/>
                          </a:solidFill>
                          <a:effectLst/>
                          <a:latin typeface="Arial MT"/>
                          <a:ea typeface="Arial MT"/>
                          <a:cs typeface="Arial MT"/>
                        </a:rPr>
                        <a:t> </a:t>
                      </a:r>
                      <a:r>
                        <a:rPr lang="en-US" sz="1100">
                          <a:solidFill>
                            <a:schemeClr val="bg1"/>
                          </a:solidFill>
                          <a:effectLst/>
                          <a:latin typeface="Arial MT"/>
                          <a:ea typeface="Arial MT"/>
                          <a:cs typeface="Arial MT"/>
                        </a:rPr>
                        <a:t>Framework</a:t>
                      </a:r>
                      <a:r>
                        <a:rPr lang="en-US" sz="1100" spc="1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3.0</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 algn="ctr">
                        <a:spcBef>
                          <a:spcPts val="215"/>
                        </a:spcBef>
                      </a:pPr>
                      <a:r>
                        <a:rPr lang="en-US" sz="1100" spc="-20">
                          <a:solidFill>
                            <a:schemeClr val="bg1"/>
                          </a:solidFill>
                          <a:effectLst/>
                          <a:latin typeface="Arial MT"/>
                          <a:ea typeface="Arial MT"/>
                          <a:cs typeface="Arial MT"/>
                        </a:rPr>
                        <a:t>2006</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4885983"/>
                  </a:ext>
                </a:extLst>
              </a:tr>
              <a:tr h="336491">
                <a:tc>
                  <a:txBody>
                    <a:bodyPr/>
                    <a:lstStyle/>
                    <a:p>
                      <a:pPr marL="4445" marR="635" algn="ctr">
                        <a:spcBef>
                          <a:spcPts val="215"/>
                        </a:spcBef>
                        <a:spcAft>
                          <a:spcPts val="0"/>
                        </a:spcAft>
                      </a:pPr>
                      <a:r>
                        <a:rPr lang="en-US" sz="1100" spc="-50">
                          <a:solidFill>
                            <a:schemeClr val="bg1"/>
                          </a:solidFill>
                          <a:effectLst/>
                          <a:latin typeface="Arial MT"/>
                          <a:ea typeface="Arial MT"/>
                          <a:cs typeface="Arial MT"/>
                        </a:rPr>
                        <a:t>5</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 algn="ctr">
                        <a:spcBef>
                          <a:spcPts val="215"/>
                        </a:spcBef>
                      </a:pPr>
                      <a:r>
                        <a:rPr lang="en-US" sz="1100">
                          <a:solidFill>
                            <a:schemeClr val="bg1"/>
                          </a:solidFill>
                          <a:effectLst/>
                          <a:latin typeface="Arial MT"/>
                          <a:ea typeface="Arial MT"/>
                          <a:cs typeface="Arial MT"/>
                        </a:rPr>
                        <a:t>C#.NET</a:t>
                      </a:r>
                      <a:r>
                        <a:rPr lang="en-US" sz="1100" spc="6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3.5</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97180">
                        <a:spcBef>
                          <a:spcPts val="215"/>
                        </a:spcBef>
                      </a:pPr>
                      <a:r>
                        <a:rPr lang="en-US" sz="1100" dirty="0">
                          <a:solidFill>
                            <a:schemeClr val="bg1"/>
                          </a:solidFill>
                          <a:effectLst/>
                          <a:latin typeface="Arial MT"/>
                          <a:ea typeface="Arial MT"/>
                          <a:cs typeface="Arial MT"/>
                        </a:rPr>
                        <a:t>.NET</a:t>
                      </a:r>
                      <a:r>
                        <a:rPr lang="en-US" sz="1100" spc="10" dirty="0">
                          <a:solidFill>
                            <a:schemeClr val="bg1"/>
                          </a:solidFill>
                          <a:effectLst/>
                          <a:latin typeface="Arial MT"/>
                          <a:ea typeface="Arial MT"/>
                          <a:cs typeface="Arial MT"/>
                        </a:rPr>
                        <a:t> </a:t>
                      </a:r>
                      <a:r>
                        <a:rPr lang="en-US" sz="1100" dirty="0">
                          <a:solidFill>
                            <a:schemeClr val="bg1"/>
                          </a:solidFill>
                          <a:effectLst/>
                          <a:latin typeface="Arial MT"/>
                          <a:ea typeface="Arial MT"/>
                          <a:cs typeface="Arial MT"/>
                        </a:rPr>
                        <a:t>Framework</a:t>
                      </a:r>
                      <a:r>
                        <a:rPr lang="en-US" sz="1100" spc="15" dirty="0">
                          <a:solidFill>
                            <a:schemeClr val="bg1"/>
                          </a:solidFill>
                          <a:effectLst/>
                          <a:latin typeface="Arial MT"/>
                          <a:ea typeface="Arial MT"/>
                          <a:cs typeface="Arial MT"/>
                        </a:rPr>
                        <a:t> </a:t>
                      </a:r>
                      <a:r>
                        <a:rPr lang="en-US" sz="1100" spc="-25" dirty="0">
                          <a:solidFill>
                            <a:schemeClr val="bg1"/>
                          </a:solidFill>
                          <a:effectLst/>
                          <a:latin typeface="Arial MT"/>
                          <a:ea typeface="Arial MT"/>
                          <a:cs typeface="Arial MT"/>
                        </a:rPr>
                        <a:t>3.5</a:t>
                      </a:r>
                      <a:endParaRPr lang="en-IN" sz="11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 algn="ctr">
                        <a:spcBef>
                          <a:spcPts val="215"/>
                        </a:spcBef>
                      </a:pPr>
                      <a:r>
                        <a:rPr lang="en-US" sz="1100" spc="-20">
                          <a:solidFill>
                            <a:schemeClr val="bg1"/>
                          </a:solidFill>
                          <a:effectLst/>
                          <a:latin typeface="Arial MT"/>
                          <a:ea typeface="Arial MT"/>
                          <a:cs typeface="Arial MT"/>
                        </a:rPr>
                        <a:t>2007</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2128400"/>
                  </a:ext>
                </a:extLst>
              </a:tr>
              <a:tr h="336491">
                <a:tc>
                  <a:txBody>
                    <a:bodyPr/>
                    <a:lstStyle/>
                    <a:p>
                      <a:pPr marL="4445" marR="635" algn="ctr">
                        <a:spcBef>
                          <a:spcPts val="215"/>
                        </a:spcBef>
                        <a:spcAft>
                          <a:spcPts val="0"/>
                        </a:spcAft>
                      </a:pPr>
                      <a:r>
                        <a:rPr lang="en-US" sz="1100" spc="-50">
                          <a:solidFill>
                            <a:schemeClr val="bg1"/>
                          </a:solidFill>
                          <a:effectLst/>
                          <a:latin typeface="Arial MT"/>
                          <a:ea typeface="Arial MT"/>
                          <a:cs typeface="Arial MT"/>
                        </a:rPr>
                        <a:t>6</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 algn="ctr">
                        <a:spcBef>
                          <a:spcPts val="215"/>
                        </a:spcBef>
                      </a:pPr>
                      <a:r>
                        <a:rPr lang="en-US" sz="1100">
                          <a:solidFill>
                            <a:schemeClr val="bg1"/>
                          </a:solidFill>
                          <a:effectLst/>
                          <a:latin typeface="Arial MT"/>
                          <a:ea typeface="Arial MT"/>
                          <a:cs typeface="Arial MT"/>
                        </a:rPr>
                        <a:t>C#.NET</a:t>
                      </a:r>
                      <a:r>
                        <a:rPr lang="en-US" sz="1100" spc="6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4.0</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97180">
                        <a:spcBef>
                          <a:spcPts val="215"/>
                        </a:spcBef>
                      </a:pPr>
                      <a:r>
                        <a:rPr lang="en-US" sz="1100" dirty="0">
                          <a:solidFill>
                            <a:schemeClr val="bg1"/>
                          </a:solidFill>
                          <a:effectLst/>
                          <a:latin typeface="Arial MT"/>
                          <a:ea typeface="Arial MT"/>
                          <a:cs typeface="Arial MT"/>
                        </a:rPr>
                        <a:t>.NET</a:t>
                      </a:r>
                      <a:r>
                        <a:rPr lang="en-US" sz="1100" spc="5" dirty="0">
                          <a:solidFill>
                            <a:schemeClr val="bg1"/>
                          </a:solidFill>
                          <a:effectLst/>
                          <a:latin typeface="Arial MT"/>
                          <a:ea typeface="Arial MT"/>
                          <a:cs typeface="Arial MT"/>
                        </a:rPr>
                        <a:t> </a:t>
                      </a:r>
                      <a:r>
                        <a:rPr lang="en-US" sz="1100" dirty="0">
                          <a:solidFill>
                            <a:schemeClr val="bg1"/>
                          </a:solidFill>
                          <a:effectLst/>
                          <a:latin typeface="Arial MT"/>
                          <a:ea typeface="Arial MT"/>
                          <a:cs typeface="Arial MT"/>
                        </a:rPr>
                        <a:t>Framework</a:t>
                      </a:r>
                      <a:r>
                        <a:rPr lang="en-US" sz="1100" spc="25" dirty="0">
                          <a:solidFill>
                            <a:schemeClr val="bg1"/>
                          </a:solidFill>
                          <a:effectLst/>
                          <a:latin typeface="Arial MT"/>
                          <a:ea typeface="Arial MT"/>
                          <a:cs typeface="Arial MT"/>
                        </a:rPr>
                        <a:t> </a:t>
                      </a:r>
                      <a:r>
                        <a:rPr lang="en-US" sz="1100" spc="-25" dirty="0">
                          <a:solidFill>
                            <a:schemeClr val="bg1"/>
                          </a:solidFill>
                          <a:effectLst/>
                          <a:latin typeface="Arial MT"/>
                          <a:ea typeface="Arial MT"/>
                          <a:cs typeface="Arial MT"/>
                        </a:rPr>
                        <a:t>4.0</a:t>
                      </a:r>
                      <a:endParaRPr lang="en-IN" sz="11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 algn="ctr">
                        <a:spcBef>
                          <a:spcPts val="215"/>
                        </a:spcBef>
                      </a:pPr>
                      <a:r>
                        <a:rPr lang="en-US" sz="1100" spc="-20">
                          <a:solidFill>
                            <a:schemeClr val="bg1"/>
                          </a:solidFill>
                          <a:effectLst/>
                          <a:latin typeface="Arial MT"/>
                          <a:ea typeface="Arial MT"/>
                          <a:cs typeface="Arial MT"/>
                        </a:rPr>
                        <a:t>2010</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5284877"/>
                  </a:ext>
                </a:extLst>
              </a:tr>
              <a:tr h="336491">
                <a:tc>
                  <a:txBody>
                    <a:bodyPr/>
                    <a:lstStyle/>
                    <a:p>
                      <a:pPr marL="4445" marR="635" algn="ctr">
                        <a:spcBef>
                          <a:spcPts val="215"/>
                        </a:spcBef>
                        <a:spcAft>
                          <a:spcPts val="0"/>
                        </a:spcAft>
                      </a:pPr>
                      <a:r>
                        <a:rPr lang="en-US" sz="1100" spc="-50">
                          <a:solidFill>
                            <a:schemeClr val="bg1"/>
                          </a:solidFill>
                          <a:effectLst/>
                          <a:latin typeface="Arial MT"/>
                          <a:ea typeface="Arial MT"/>
                          <a:cs typeface="Arial MT"/>
                        </a:rPr>
                        <a:t>7</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 algn="ctr">
                        <a:spcBef>
                          <a:spcPts val="215"/>
                        </a:spcBef>
                      </a:pPr>
                      <a:r>
                        <a:rPr lang="en-US" sz="1100">
                          <a:solidFill>
                            <a:schemeClr val="bg1"/>
                          </a:solidFill>
                          <a:effectLst/>
                          <a:latin typeface="Arial MT"/>
                          <a:ea typeface="Arial MT"/>
                          <a:cs typeface="Arial MT"/>
                        </a:rPr>
                        <a:t>C#.NET</a:t>
                      </a:r>
                      <a:r>
                        <a:rPr lang="en-US" sz="1100" spc="6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5.0</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97180">
                        <a:spcBef>
                          <a:spcPts val="215"/>
                        </a:spcBef>
                      </a:pPr>
                      <a:r>
                        <a:rPr lang="en-US" sz="1100" dirty="0">
                          <a:solidFill>
                            <a:schemeClr val="bg1"/>
                          </a:solidFill>
                          <a:effectLst/>
                          <a:latin typeface="Arial MT"/>
                          <a:ea typeface="Arial MT"/>
                          <a:cs typeface="Arial MT"/>
                        </a:rPr>
                        <a:t>.NET Framework</a:t>
                      </a:r>
                      <a:r>
                        <a:rPr lang="en-US" sz="1100" spc="5" dirty="0">
                          <a:solidFill>
                            <a:schemeClr val="bg1"/>
                          </a:solidFill>
                          <a:effectLst/>
                          <a:latin typeface="Arial MT"/>
                          <a:ea typeface="Arial MT"/>
                          <a:cs typeface="Arial MT"/>
                        </a:rPr>
                        <a:t> </a:t>
                      </a:r>
                      <a:r>
                        <a:rPr lang="en-US" sz="1100" spc="-25" dirty="0">
                          <a:solidFill>
                            <a:schemeClr val="bg1"/>
                          </a:solidFill>
                          <a:effectLst/>
                          <a:latin typeface="Arial MT"/>
                          <a:ea typeface="Arial MT"/>
                          <a:cs typeface="Arial MT"/>
                        </a:rPr>
                        <a:t>4.5</a:t>
                      </a:r>
                      <a:endParaRPr lang="en-IN" sz="11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 algn="ctr">
                        <a:spcBef>
                          <a:spcPts val="215"/>
                        </a:spcBef>
                      </a:pPr>
                      <a:r>
                        <a:rPr lang="en-US" sz="1100" spc="-20">
                          <a:solidFill>
                            <a:schemeClr val="bg1"/>
                          </a:solidFill>
                          <a:effectLst/>
                          <a:latin typeface="Arial MT"/>
                          <a:ea typeface="Arial MT"/>
                          <a:cs typeface="Arial MT"/>
                        </a:rPr>
                        <a:t>2012</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6450755"/>
                  </a:ext>
                </a:extLst>
              </a:tr>
              <a:tr h="337397">
                <a:tc>
                  <a:txBody>
                    <a:bodyPr/>
                    <a:lstStyle/>
                    <a:p>
                      <a:pPr marL="4445" marR="635" algn="ctr">
                        <a:spcBef>
                          <a:spcPts val="215"/>
                        </a:spcBef>
                        <a:spcAft>
                          <a:spcPts val="0"/>
                        </a:spcAft>
                      </a:pPr>
                      <a:r>
                        <a:rPr lang="en-US" sz="1100" spc="-50">
                          <a:solidFill>
                            <a:schemeClr val="bg1"/>
                          </a:solidFill>
                          <a:effectLst/>
                          <a:latin typeface="Arial MT"/>
                          <a:ea typeface="Arial MT"/>
                          <a:cs typeface="Arial MT"/>
                        </a:rPr>
                        <a:t>8</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 algn="ctr">
                        <a:spcBef>
                          <a:spcPts val="215"/>
                        </a:spcBef>
                      </a:pPr>
                      <a:r>
                        <a:rPr lang="en-US" sz="1100" dirty="0">
                          <a:solidFill>
                            <a:schemeClr val="bg1"/>
                          </a:solidFill>
                          <a:effectLst/>
                          <a:latin typeface="Arial MT"/>
                          <a:ea typeface="Arial MT"/>
                          <a:cs typeface="Arial MT"/>
                        </a:rPr>
                        <a:t>C#.NET</a:t>
                      </a:r>
                      <a:r>
                        <a:rPr lang="en-US" sz="1100" spc="65" dirty="0">
                          <a:solidFill>
                            <a:schemeClr val="bg1"/>
                          </a:solidFill>
                          <a:effectLst/>
                          <a:latin typeface="Arial MT"/>
                          <a:ea typeface="Arial MT"/>
                          <a:cs typeface="Arial MT"/>
                        </a:rPr>
                        <a:t> </a:t>
                      </a:r>
                      <a:r>
                        <a:rPr lang="en-US" sz="1100" spc="-25" dirty="0">
                          <a:solidFill>
                            <a:schemeClr val="bg1"/>
                          </a:solidFill>
                          <a:effectLst/>
                          <a:latin typeface="Arial MT"/>
                          <a:ea typeface="Arial MT"/>
                          <a:cs typeface="Arial MT"/>
                        </a:rPr>
                        <a:t>5.1</a:t>
                      </a:r>
                      <a:endParaRPr lang="en-IN" sz="11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97180">
                        <a:spcBef>
                          <a:spcPts val="215"/>
                        </a:spcBef>
                      </a:pPr>
                      <a:r>
                        <a:rPr lang="en-US" sz="1100" dirty="0">
                          <a:solidFill>
                            <a:schemeClr val="bg1"/>
                          </a:solidFill>
                          <a:effectLst/>
                          <a:latin typeface="Arial MT"/>
                          <a:ea typeface="Arial MT"/>
                          <a:cs typeface="Arial MT"/>
                        </a:rPr>
                        <a:t>.NET</a:t>
                      </a:r>
                      <a:r>
                        <a:rPr lang="en-US" sz="1100" spc="10" dirty="0">
                          <a:solidFill>
                            <a:schemeClr val="bg1"/>
                          </a:solidFill>
                          <a:effectLst/>
                          <a:latin typeface="Arial MT"/>
                          <a:ea typeface="Arial MT"/>
                          <a:cs typeface="Arial MT"/>
                        </a:rPr>
                        <a:t> </a:t>
                      </a:r>
                      <a:r>
                        <a:rPr lang="en-US" sz="1100" dirty="0">
                          <a:solidFill>
                            <a:schemeClr val="bg1"/>
                          </a:solidFill>
                          <a:effectLst/>
                          <a:latin typeface="Arial MT"/>
                          <a:ea typeface="Arial MT"/>
                          <a:cs typeface="Arial MT"/>
                        </a:rPr>
                        <a:t>Framework</a:t>
                      </a:r>
                      <a:r>
                        <a:rPr lang="en-US" sz="1100" spc="15" dirty="0">
                          <a:solidFill>
                            <a:schemeClr val="bg1"/>
                          </a:solidFill>
                          <a:effectLst/>
                          <a:latin typeface="Arial MT"/>
                          <a:ea typeface="Arial MT"/>
                          <a:cs typeface="Arial MT"/>
                        </a:rPr>
                        <a:t> </a:t>
                      </a:r>
                      <a:r>
                        <a:rPr lang="en-US" sz="1100" spc="-10" dirty="0">
                          <a:solidFill>
                            <a:schemeClr val="bg1"/>
                          </a:solidFill>
                          <a:effectLst/>
                          <a:latin typeface="Arial MT"/>
                          <a:ea typeface="Arial MT"/>
                          <a:cs typeface="Arial MT"/>
                        </a:rPr>
                        <a:t>4.5.1</a:t>
                      </a:r>
                      <a:endParaRPr lang="en-IN" sz="11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 algn="ctr">
                        <a:spcBef>
                          <a:spcPts val="215"/>
                        </a:spcBef>
                      </a:pPr>
                      <a:r>
                        <a:rPr lang="en-US" sz="1100" spc="-20">
                          <a:solidFill>
                            <a:schemeClr val="bg1"/>
                          </a:solidFill>
                          <a:effectLst/>
                          <a:latin typeface="Arial MT"/>
                          <a:ea typeface="Arial MT"/>
                          <a:cs typeface="Arial MT"/>
                        </a:rPr>
                        <a:t>2013</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301222"/>
                  </a:ext>
                </a:extLst>
              </a:tr>
              <a:tr h="336491">
                <a:tc>
                  <a:txBody>
                    <a:bodyPr/>
                    <a:lstStyle/>
                    <a:p>
                      <a:pPr marL="4445" marR="635" algn="ctr">
                        <a:spcBef>
                          <a:spcPts val="215"/>
                        </a:spcBef>
                        <a:spcAft>
                          <a:spcPts val="0"/>
                        </a:spcAft>
                      </a:pPr>
                      <a:r>
                        <a:rPr lang="en-US" sz="1100" spc="-50">
                          <a:solidFill>
                            <a:schemeClr val="bg1"/>
                          </a:solidFill>
                          <a:effectLst/>
                          <a:latin typeface="Arial MT"/>
                          <a:ea typeface="Arial MT"/>
                          <a:cs typeface="Arial MT"/>
                        </a:rPr>
                        <a:t>9</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 algn="ctr">
                        <a:spcBef>
                          <a:spcPts val="215"/>
                        </a:spcBef>
                      </a:pPr>
                      <a:r>
                        <a:rPr lang="en-US" sz="1100">
                          <a:solidFill>
                            <a:schemeClr val="bg1"/>
                          </a:solidFill>
                          <a:effectLst/>
                          <a:latin typeface="Arial MT"/>
                          <a:ea typeface="Arial MT"/>
                          <a:cs typeface="Arial MT"/>
                        </a:rPr>
                        <a:t>C#.NET</a:t>
                      </a:r>
                      <a:r>
                        <a:rPr lang="en-US" sz="1100" spc="6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5.2</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97180">
                        <a:spcBef>
                          <a:spcPts val="215"/>
                        </a:spcBef>
                      </a:pPr>
                      <a:r>
                        <a:rPr lang="en-US" sz="1100">
                          <a:solidFill>
                            <a:schemeClr val="bg1"/>
                          </a:solidFill>
                          <a:effectLst/>
                          <a:latin typeface="Arial MT"/>
                          <a:ea typeface="Arial MT"/>
                          <a:cs typeface="Arial MT"/>
                        </a:rPr>
                        <a:t>.NET</a:t>
                      </a:r>
                      <a:r>
                        <a:rPr lang="en-US" sz="1100" spc="10">
                          <a:solidFill>
                            <a:schemeClr val="bg1"/>
                          </a:solidFill>
                          <a:effectLst/>
                          <a:latin typeface="Arial MT"/>
                          <a:ea typeface="Arial MT"/>
                          <a:cs typeface="Arial MT"/>
                        </a:rPr>
                        <a:t> </a:t>
                      </a:r>
                      <a:r>
                        <a:rPr lang="en-US" sz="1100">
                          <a:solidFill>
                            <a:schemeClr val="bg1"/>
                          </a:solidFill>
                          <a:effectLst/>
                          <a:latin typeface="Arial MT"/>
                          <a:ea typeface="Arial MT"/>
                          <a:cs typeface="Arial MT"/>
                        </a:rPr>
                        <a:t>Framework</a:t>
                      </a:r>
                      <a:r>
                        <a:rPr lang="en-US" sz="1100" spc="15">
                          <a:solidFill>
                            <a:schemeClr val="bg1"/>
                          </a:solidFill>
                          <a:effectLst/>
                          <a:latin typeface="Arial MT"/>
                          <a:ea typeface="Arial MT"/>
                          <a:cs typeface="Arial MT"/>
                        </a:rPr>
                        <a:t> </a:t>
                      </a:r>
                      <a:r>
                        <a:rPr lang="en-US" sz="1100" spc="-10">
                          <a:solidFill>
                            <a:schemeClr val="bg1"/>
                          </a:solidFill>
                          <a:effectLst/>
                          <a:latin typeface="Arial MT"/>
                          <a:ea typeface="Arial MT"/>
                          <a:cs typeface="Arial MT"/>
                        </a:rPr>
                        <a:t>4.5.2</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 algn="ctr">
                        <a:spcBef>
                          <a:spcPts val="215"/>
                        </a:spcBef>
                      </a:pPr>
                      <a:r>
                        <a:rPr lang="en-US" sz="1100" spc="-20" dirty="0">
                          <a:solidFill>
                            <a:schemeClr val="bg1"/>
                          </a:solidFill>
                          <a:effectLst/>
                          <a:latin typeface="Arial MT"/>
                          <a:ea typeface="Arial MT"/>
                          <a:cs typeface="Arial MT"/>
                        </a:rPr>
                        <a:t>2014</a:t>
                      </a:r>
                      <a:endParaRPr lang="en-IN" sz="11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5750812"/>
                  </a:ext>
                </a:extLst>
              </a:tr>
              <a:tr h="334677">
                <a:tc>
                  <a:txBody>
                    <a:bodyPr/>
                    <a:lstStyle/>
                    <a:p>
                      <a:pPr marL="4445" algn="ctr">
                        <a:spcBef>
                          <a:spcPts val="200"/>
                        </a:spcBef>
                        <a:spcAft>
                          <a:spcPts val="0"/>
                        </a:spcAft>
                      </a:pPr>
                      <a:r>
                        <a:rPr lang="en-US" sz="1100" spc="-25">
                          <a:solidFill>
                            <a:schemeClr val="bg1"/>
                          </a:solidFill>
                          <a:effectLst/>
                          <a:latin typeface="Arial MT"/>
                          <a:ea typeface="Arial MT"/>
                          <a:cs typeface="Arial MT"/>
                        </a:rPr>
                        <a:t>10</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 algn="ctr">
                        <a:spcBef>
                          <a:spcPts val="200"/>
                        </a:spcBef>
                        <a:spcAft>
                          <a:spcPts val="0"/>
                        </a:spcAft>
                      </a:pPr>
                      <a:r>
                        <a:rPr lang="en-US" sz="1100">
                          <a:solidFill>
                            <a:schemeClr val="bg1"/>
                          </a:solidFill>
                          <a:effectLst/>
                          <a:latin typeface="Arial MT"/>
                          <a:ea typeface="Arial MT"/>
                          <a:cs typeface="Arial MT"/>
                        </a:rPr>
                        <a:t>C#.NET</a:t>
                      </a:r>
                      <a:r>
                        <a:rPr lang="en-US" sz="1100" spc="6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6.0</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97180">
                        <a:spcBef>
                          <a:spcPts val="200"/>
                        </a:spcBef>
                        <a:spcAft>
                          <a:spcPts val="0"/>
                        </a:spcAft>
                      </a:pPr>
                      <a:r>
                        <a:rPr lang="en-US" sz="1100">
                          <a:solidFill>
                            <a:schemeClr val="bg1"/>
                          </a:solidFill>
                          <a:effectLst/>
                          <a:latin typeface="Arial MT"/>
                          <a:ea typeface="Arial MT"/>
                          <a:cs typeface="Arial MT"/>
                        </a:rPr>
                        <a:t>.NET</a:t>
                      </a:r>
                      <a:r>
                        <a:rPr lang="en-US" sz="1100" spc="10">
                          <a:solidFill>
                            <a:schemeClr val="bg1"/>
                          </a:solidFill>
                          <a:effectLst/>
                          <a:latin typeface="Arial MT"/>
                          <a:ea typeface="Arial MT"/>
                          <a:cs typeface="Arial MT"/>
                        </a:rPr>
                        <a:t> </a:t>
                      </a:r>
                      <a:r>
                        <a:rPr lang="en-US" sz="1100">
                          <a:solidFill>
                            <a:schemeClr val="bg1"/>
                          </a:solidFill>
                          <a:effectLst/>
                          <a:latin typeface="Arial MT"/>
                          <a:ea typeface="Arial MT"/>
                          <a:cs typeface="Arial MT"/>
                        </a:rPr>
                        <a:t>Framework</a:t>
                      </a:r>
                      <a:r>
                        <a:rPr lang="en-US" sz="1100" spc="1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4.6</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 algn="ctr">
                        <a:spcBef>
                          <a:spcPts val="200"/>
                        </a:spcBef>
                        <a:spcAft>
                          <a:spcPts val="0"/>
                        </a:spcAft>
                      </a:pPr>
                      <a:r>
                        <a:rPr lang="en-US" sz="1100" spc="-20" dirty="0">
                          <a:solidFill>
                            <a:schemeClr val="bg1"/>
                          </a:solidFill>
                          <a:effectLst/>
                          <a:latin typeface="Arial MT"/>
                          <a:ea typeface="Arial MT"/>
                          <a:cs typeface="Arial MT"/>
                        </a:rPr>
                        <a:t>2015</a:t>
                      </a:r>
                      <a:endParaRPr lang="en-IN" sz="11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778735"/>
                  </a:ext>
                </a:extLst>
              </a:tr>
              <a:tr h="336491">
                <a:tc>
                  <a:txBody>
                    <a:bodyPr/>
                    <a:lstStyle/>
                    <a:p>
                      <a:pPr marL="4445" algn="ctr">
                        <a:spcBef>
                          <a:spcPts val="215"/>
                        </a:spcBef>
                      </a:pPr>
                      <a:r>
                        <a:rPr lang="en-US" sz="1100" spc="-25">
                          <a:solidFill>
                            <a:schemeClr val="bg1"/>
                          </a:solidFill>
                          <a:effectLst/>
                          <a:latin typeface="Arial MT"/>
                          <a:ea typeface="Arial MT"/>
                          <a:cs typeface="Arial MT"/>
                        </a:rPr>
                        <a:t>11</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 algn="ctr">
                        <a:spcBef>
                          <a:spcPts val="215"/>
                        </a:spcBef>
                      </a:pPr>
                      <a:r>
                        <a:rPr lang="en-US" sz="1100">
                          <a:solidFill>
                            <a:schemeClr val="bg1"/>
                          </a:solidFill>
                          <a:effectLst/>
                          <a:latin typeface="Arial MT"/>
                          <a:ea typeface="Arial MT"/>
                          <a:cs typeface="Arial MT"/>
                        </a:rPr>
                        <a:t>C#.NET</a:t>
                      </a:r>
                      <a:r>
                        <a:rPr lang="en-US" sz="1100" spc="6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7.0</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97180">
                        <a:spcBef>
                          <a:spcPts val="215"/>
                        </a:spcBef>
                      </a:pPr>
                      <a:r>
                        <a:rPr lang="en-US" sz="1100">
                          <a:solidFill>
                            <a:schemeClr val="bg1"/>
                          </a:solidFill>
                          <a:effectLst/>
                          <a:latin typeface="Arial MT"/>
                          <a:ea typeface="Arial MT"/>
                          <a:cs typeface="Arial MT"/>
                        </a:rPr>
                        <a:t>.NET</a:t>
                      </a:r>
                      <a:r>
                        <a:rPr lang="en-US" sz="1100" spc="5">
                          <a:solidFill>
                            <a:schemeClr val="bg1"/>
                          </a:solidFill>
                          <a:effectLst/>
                          <a:latin typeface="Arial MT"/>
                          <a:ea typeface="Arial MT"/>
                          <a:cs typeface="Arial MT"/>
                        </a:rPr>
                        <a:t> </a:t>
                      </a:r>
                      <a:r>
                        <a:rPr lang="en-US" sz="1100">
                          <a:solidFill>
                            <a:schemeClr val="bg1"/>
                          </a:solidFill>
                          <a:effectLst/>
                          <a:latin typeface="Arial MT"/>
                          <a:ea typeface="Arial MT"/>
                          <a:cs typeface="Arial MT"/>
                        </a:rPr>
                        <a:t>Framework</a:t>
                      </a:r>
                      <a:r>
                        <a:rPr lang="en-US" sz="1100" spc="2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4.7</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 algn="ctr">
                        <a:spcBef>
                          <a:spcPts val="215"/>
                        </a:spcBef>
                      </a:pPr>
                      <a:r>
                        <a:rPr lang="en-US" sz="1100" spc="-20" dirty="0">
                          <a:solidFill>
                            <a:schemeClr val="bg1"/>
                          </a:solidFill>
                          <a:effectLst/>
                          <a:latin typeface="Arial MT"/>
                          <a:ea typeface="Arial MT"/>
                          <a:cs typeface="Arial MT"/>
                        </a:rPr>
                        <a:t>2017</a:t>
                      </a:r>
                      <a:endParaRPr lang="en-IN" sz="11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50684712"/>
                  </a:ext>
                </a:extLst>
              </a:tr>
              <a:tr h="336491">
                <a:tc>
                  <a:txBody>
                    <a:bodyPr/>
                    <a:lstStyle/>
                    <a:p>
                      <a:pPr marL="4445" algn="ctr">
                        <a:spcBef>
                          <a:spcPts val="215"/>
                        </a:spcBef>
                      </a:pPr>
                      <a:r>
                        <a:rPr lang="en-US" sz="1100" spc="-25">
                          <a:solidFill>
                            <a:schemeClr val="bg1"/>
                          </a:solidFill>
                          <a:effectLst/>
                          <a:latin typeface="Arial MT"/>
                          <a:ea typeface="Arial MT"/>
                          <a:cs typeface="Arial MT"/>
                        </a:rPr>
                        <a:t>12</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 algn="ctr">
                        <a:spcBef>
                          <a:spcPts val="215"/>
                        </a:spcBef>
                      </a:pPr>
                      <a:r>
                        <a:rPr lang="en-US" sz="1100">
                          <a:solidFill>
                            <a:schemeClr val="bg1"/>
                          </a:solidFill>
                          <a:effectLst/>
                          <a:latin typeface="Arial MT"/>
                          <a:ea typeface="Arial MT"/>
                          <a:cs typeface="Arial MT"/>
                        </a:rPr>
                        <a:t>C#.NET</a:t>
                      </a:r>
                      <a:r>
                        <a:rPr lang="en-US" sz="1100" spc="6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8.0</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97180">
                        <a:spcBef>
                          <a:spcPts val="215"/>
                        </a:spcBef>
                      </a:pPr>
                      <a:r>
                        <a:rPr lang="en-US" sz="1100">
                          <a:solidFill>
                            <a:schemeClr val="bg1"/>
                          </a:solidFill>
                          <a:effectLst/>
                          <a:latin typeface="Arial MT"/>
                          <a:ea typeface="Arial MT"/>
                          <a:cs typeface="Arial MT"/>
                        </a:rPr>
                        <a:t>.NET</a:t>
                      </a:r>
                      <a:r>
                        <a:rPr lang="en-US" sz="1100" spc="10">
                          <a:solidFill>
                            <a:schemeClr val="bg1"/>
                          </a:solidFill>
                          <a:effectLst/>
                          <a:latin typeface="Arial MT"/>
                          <a:ea typeface="Arial MT"/>
                          <a:cs typeface="Arial MT"/>
                        </a:rPr>
                        <a:t> </a:t>
                      </a:r>
                      <a:r>
                        <a:rPr lang="en-US" sz="1100">
                          <a:solidFill>
                            <a:schemeClr val="bg1"/>
                          </a:solidFill>
                          <a:effectLst/>
                          <a:latin typeface="Arial MT"/>
                          <a:ea typeface="Arial MT"/>
                          <a:cs typeface="Arial MT"/>
                        </a:rPr>
                        <a:t>Framework</a:t>
                      </a:r>
                      <a:r>
                        <a:rPr lang="en-US" sz="1100" spc="15">
                          <a:solidFill>
                            <a:schemeClr val="bg1"/>
                          </a:solidFill>
                          <a:effectLst/>
                          <a:latin typeface="Arial MT"/>
                          <a:ea typeface="Arial MT"/>
                          <a:cs typeface="Arial MT"/>
                        </a:rPr>
                        <a:t> </a:t>
                      </a:r>
                      <a:r>
                        <a:rPr lang="en-US" sz="1100" spc="-25">
                          <a:solidFill>
                            <a:schemeClr val="bg1"/>
                          </a:solidFill>
                          <a:effectLst/>
                          <a:latin typeface="Arial MT"/>
                          <a:ea typeface="Arial MT"/>
                          <a:cs typeface="Arial MT"/>
                        </a:rPr>
                        <a:t>4.8</a:t>
                      </a:r>
                      <a:endParaRPr lang="en-IN" sz="11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350" algn="ctr">
                        <a:spcBef>
                          <a:spcPts val="215"/>
                        </a:spcBef>
                      </a:pPr>
                      <a:r>
                        <a:rPr lang="en-US" sz="1100" spc="-20" dirty="0">
                          <a:solidFill>
                            <a:schemeClr val="bg1"/>
                          </a:solidFill>
                          <a:effectLst/>
                          <a:latin typeface="Arial MT"/>
                          <a:ea typeface="Arial MT"/>
                          <a:cs typeface="Arial MT"/>
                        </a:rPr>
                        <a:t>2019</a:t>
                      </a:r>
                      <a:endParaRPr lang="en-IN" sz="11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4573229"/>
                  </a:ext>
                </a:extLst>
              </a:tr>
            </a:tbl>
          </a:graphicData>
        </a:graphic>
      </p:graphicFrame>
    </p:spTree>
    <p:extLst>
      <p:ext uri="{BB962C8B-B14F-4D97-AF65-F5344CB8AC3E}">
        <p14:creationId xmlns:p14="http://schemas.microsoft.com/office/powerpoint/2010/main" val="3269230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D3A9E-EAB5-4FE5-98DE-E04D80C7A593}"/>
              </a:ext>
            </a:extLst>
          </p:cNvPr>
          <p:cNvSpPr>
            <a:spLocks noGrp="1"/>
          </p:cNvSpPr>
          <p:nvPr>
            <p:ph type="title"/>
          </p:nvPr>
        </p:nvSpPr>
        <p:spPr>
          <a:xfrm>
            <a:off x="1341829" y="330419"/>
            <a:ext cx="9905998" cy="634085"/>
          </a:xfrm>
        </p:spPr>
        <p:txBody>
          <a:bodyPr>
            <a:normAutofit/>
          </a:bodyPr>
          <a:lstStyle/>
          <a:p>
            <a:br>
              <a:rPr lang="en-IN" sz="1800" b="1" dirty="0">
                <a:effectLst/>
                <a:latin typeface="Arial MT"/>
                <a:ea typeface="Arial MT"/>
                <a:cs typeface="Arial MT"/>
              </a:rPr>
            </a:br>
            <a:r>
              <a:rPr lang="en-IN" sz="1800" b="1" dirty="0">
                <a:solidFill>
                  <a:schemeClr val="bg1"/>
                </a:solidFill>
                <a:effectLst/>
                <a:latin typeface="Arial MT"/>
                <a:ea typeface="Arial MT"/>
                <a:cs typeface="Arial MT"/>
              </a:rPr>
              <a:t>Naming Convention for identifiers</a:t>
            </a:r>
            <a:endParaRPr lang="en-IN" dirty="0">
              <a:solidFill>
                <a:schemeClr val="bg1"/>
              </a:solidFill>
            </a:endParaRPr>
          </a:p>
        </p:txBody>
      </p:sp>
      <p:sp>
        <p:nvSpPr>
          <p:cNvPr id="5" name="Content Placeholder 4">
            <a:extLst>
              <a:ext uri="{FF2B5EF4-FFF2-40B4-BE49-F238E27FC236}">
                <a16:creationId xmlns:a16="http://schemas.microsoft.com/office/drawing/2014/main" id="{20A7CCF3-4BEA-4EAD-BA28-77D5C1FB8189}"/>
              </a:ext>
            </a:extLst>
          </p:cNvPr>
          <p:cNvSpPr>
            <a:spLocks noGrp="1"/>
          </p:cNvSpPr>
          <p:nvPr>
            <p:ph idx="1"/>
          </p:nvPr>
        </p:nvSpPr>
        <p:spPr>
          <a:xfrm>
            <a:off x="1504666" y="1658143"/>
            <a:ext cx="4382567" cy="4391928"/>
          </a:xfrm>
        </p:spPr>
        <p:txBody>
          <a:bodyPr>
            <a:normAutofit/>
          </a:bodyPr>
          <a:lstStyle/>
          <a:p>
            <a:pPr marR="464185" lvl="0">
              <a:lnSpc>
                <a:spcPct val="170000"/>
              </a:lnSpc>
              <a:spcBef>
                <a:spcPts val="740"/>
              </a:spcBef>
              <a:spcAft>
                <a:spcPts val="0"/>
              </a:spcAft>
              <a:buSzPct val="123000"/>
              <a:buFont typeface="Wingdings" panose="05000000000000000000" pitchFamily="2" charset="2"/>
              <a:buChar char="§"/>
              <a:tabLst>
                <a:tab pos="652145" algn="l"/>
              </a:tabLst>
            </a:pPr>
            <a:r>
              <a:rPr lang="en-US" sz="1800" spc="-20" dirty="0">
                <a:solidFill>
                  <a:schemeClr val="bg1"/>
                </a:solidFill>
                <a:effectLst/>
                <a:latin typeface="Arial MT"/>
                <a:ea typeface="Symbol" panose="05050102010706020507" pitchFamily="18" charset="2"/>
                <a:cs typeface="Symbol" panose="05050102010706020507" pitchFamily="18" charset="2"/>
              </a:rPr>
              <a:t>Class</a:t>
            </a:r>
            <a:r>
              <a:rPr lang="en-US" sz="1800" spc="110"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names,</a:t>
            </a:r>
            <a:r>
              <a:rPr lang="en-US" sz="1800" spc="110"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Interface</a:t>
            </a:r>
            <a:r>
              <a:rPr lang="en-US" sz="1800" spc="11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names,</a:t>
            </a:r>
            <a:r>
              <a:rPr lang="en-US" sz="1800" spc="11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Namespace</a:t>
            </a:r>
            <a:r>
              <a:rPr lang="en-US" sz="1800" spc="11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names,</a:t>
            </a:r>
            <a:r>
              <a:rPr lang="en-US" sz="1800" spc="11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Structure</a:t>
            </a:r>
            <a:r>
              <a:rPr lang="en-US" sz="1800" spc="11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names,</a:t>
            </a:r>
            <a:r>
              <a:rPr lang="en-US" sz="1800" spc="110"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Method</a:t>
            </a:r>
            <a:r>
              <a:rPr lang="en-US" sz="1800" spc="120"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names, Property</a:t>
            </a:r>
            <a:r>
              <a:rPr lang="en-US" sz="1800" spc="-60"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names:</a:t>
            </a:r>
            <a:r>
              <a:rPr lang="en-US" sz="1800" spc="-60" dirty="0">
                <a:solidFill>
                  <a:schemeClr val="bg1"/>
                </a:solidFill>
                <a:effectLst/>
                <a:latin typeface="Arial MT"/>
                <a:ea typeface="Symbol" panose="05050102010706020507" pitchFamily="18" charset="2"/>
                <a:cs typeface="Symbol" panose="05050102010706020507" pitchFamily="18" charset="2"/>
              </a:rPr>
              <a:t> </a:t>
            </a:r>
            <a:r>
              <a:rPr lang="en-US" sz="1800" spc="-20" dirty="0" err="1">
                <a:solidFill>
                  <a:schemeClr val="bg1"/>
                </a:solidFill>
                <a:effectLst/>
                <a:latin typeface="Arial MT"/>
                <a:ea typeface="Symbol" panose="05050102010706020507" pitchFamily="18" charset="2"/>
                <a:cs typeface="Symbol" panose="05050102010706020507" pitchFamily="18" charset="2"/>
              </a:rPr>
              <a:t>PascalCasing</a:t>
            </a:r>
            <a:endParaRPr lang="en-IN" sz="1800" spc="0" dirty="0">
              <a:solidFill>
                <a:schemeClr val="bg1"/>
              </a:solidFill>
              <a:effectLst/>
              <a:latin typeface="Arial MT"/>
              <a:ea typeface="Symbol" panose="05050102010706020507" pitchFamily="18" charset="2"/>
              <a:cs typeface="Symbol" panose="05050102010706020507" pitchFamily="18" charset="2"/>
            </a:endParaRPr>
          </a:p>
          <a:p>
            <a:pPr lvl="0">
              <a:spcBef>
                <a:spcPts val="610"/>
              </a:spcBef>
              <a:buSzPct val="123000"/>
              <a:buFont typeface="Wingdings" panose="05000000000000000000" pitchFamily="2" charset="2"/>
              <a:buChar char="§"/>
              <a:tabLst>
                <a:tab pos="652145" algn="l"/>
              </a:tabLst>
            </a:pPr>
            <a:r>
              <a:rPr lang="en-US" sz="1800" spc="0" dirty="0">
                <a:solidFill>
                  <a:schemeClr val="bg1"/>
                </a:solidFill>
                <a:effectLst/>
                <a:latin typeface="Arial MT"/>
                <a:ea typeface="Symbol" panose="05050102010706020507" pitchFamily="18" charset="2"/>
                <a:cs typeface="Symbol" panose="05050102010706020507" pitchFamily="18" charset="2"/>
              </a:rPr>
              <a:t>Local</a:t>
            </a:r>
            <a:r>
              <a:rPr lang="en-US" sz="1800" spc="-25" dirty="0">
                <a:solidFill>
                  <a:schemeClr val="bg1"/>
                </a:solidFill>
                <a:effectLst/>
                <a:latin typeface="Arial MT"/>
                <a:ea typeface="Symbol" panose="05050102010706020507" pitchFamily="18" charset="2"/>
                <a:cs typeface="Symbol" panose="05050102010706020507" pitchFamily="18" charset="2"/>
              </a:rPr>
              <a:t> </a:t>
            </a:r>
            <a:r>
              <a:rPr lang="en-US" sz="1800" spc="0" dirty="0">
                <a:solidFill>
                  <a:schemeClr val="bg1"/>
                </a:solidFill>
                <a:effectLst/>
                <a:latin typeface="Arial MT"/>
                <a:ea typeface="Symbol" panose="05050102010706020507" pitchFamily="18" charset="2"/>
                <a:cs typeface="Symbol" panose="05050102010706020507" pitchFamily="18" charset="2"/>
              </a:rPr>
              <a:t>variables:</a:t>
            </a:r>
            <a:r>
              <a:rPr lang="en-US" sz="1800" spc="-25" dirty="0">
                <a:solidFill>
                  <a:schemeClr val="bg1"/>
                </a:solidFill>
                <a:effectLst/>
                <a:latin typeface="Arial MT"/>
                <a:ea typeface="Symbol" panose="05050102010706020507" pitchFamily="18" charset="2"/>
                <a:cs typeface="Symbol" panose="05050102010706020507" pitchFamily="18" charset="2"/>
              </a:rPr>
              <a:t> </a:t>
            </a:r>
            <a:r>
              <a:rPr lang="en-US" sz="1800" spc="-10" dirty="0" err="1">
                <a:solidFill>
                  <a:schemeClr val="bg1"/>
                </a:solidFill>
                <a:effectLst/>
                <a:latin typeface="Arial MT"/>
                <a:ea typeface="Symbol" panose="05050102010706020507" pitchFamily="18" charset="2"/>
                <a:cs typeface="Symbol" panose="05050102010706020507" pitchFamily="18" charset="2"/>
              </a:rPr>
              <a:t>camelCasing</a:t>
            </a:r>
            <a:endParaRPr lang="en-IN" sz="1800" spc="0" dirty="0">
              <a:solidFill>
                <a:schemeClr val="bg1"/>
              </a:solidFill>
              <a:effectLst/>
              <a:latin typeface="Arial MT"/>
              <a:ea typeface="Symbol" panose="05050102010706020507" pitchFamily="18" charset="2"/>
              <a:cs typeface="Symbol" panose="05050102010706020507" pitchFamily="18" charset="2"/>
            </a:endParaRPr>
          </a:p>
          <a:p>
            <a:pPr>
              <a:spcBef>
                <a:spcPts val="220"/>
              </a:spcBef>
              <a:buFont typeface="Wingdings" panose="05000000000000000000" pitchFamily="2" charset="2"/>
              <a:buChar char="§"/>
            </a:pPr>
            <a:endParaRPr lang="en-IN" sz="1800" dirty="0">
              <a:solidFill>
                <a:schemeClr val="bg1"/>
              </a:solidFill>
              <a:effectLst/>
              <a:latin typeface="Arial MT"/>
              <a:ea typeface="Arial MT"/>
              <a:cs typeface="Arial MT"/>
            </a:endParaRPr>
          </a:p>
          <a:p>
            <a:pPr lvl="0">
              <a:buSzPct val="123000"/>
              <a:buFont typeface="Wingdings" panose="05000000000000000000" pitchFamily="2" charset="2"/>
              <a:buChar char="§"/>
              <a:tabLst>
                <a:tab pos="652145" algn="l"/>
              </a:tabLst>
            </a:pPr>
            <a:r>
              <a:rPr lang="en-US" sz="1800" spc="0" dirty="0">
                <a:solidFill>
                  <a:schemeClr val="bg1"/>
                </a:solidFill>
                <a:effectLst/>
                <a:latin typeface="Arial MT"/>
                <a:ea typeface="Symbol" panose="05050102010706020507" pitchFamily="18" charset="2"/>
                <a:cs typeface="Symbol" panose="05050102010706020507" pitchFamily="18" charset="2"/>
              </a:rPr>
              <a:t>Public</a:t>
            </a:r>
            <a:r>
              <a:rPr lang="en-US" sz="1800" spc="-10" dirty="0">
                <a:solidFill>
                  <a:schemeClr val="bg1"/>
                </a:solidFill>
                <a:effectLst/>
                <a:latin typeface="Arial MT"/>
                <a:ea typeface="Symbol" panose="05050102010706020507" pitchFamily="18" charset="2"/>
                <a:cs typeface="Symbol" panose="05050102010706020507" pitchFamily="18" charset="2"/>
              </a:rPr>
              <a:t> </a:t>
            </a:r>
            <a:r>
              <a:rPr lang="en-US" sz="1800" spc="0" dirty="0">
                <a:solidFill>
                  <a:schemeClr val="bg1"/>
                </a:solidFill>
                <a:effectLst/>
                <a:latin typeface="Arial MT"/>
                <a:ea typeface="Symbol" panose="05050102010706020507" pitchFamily="18" charset="2"/>
                <a:cs typeface="Symbol" panose="05050102010706020507" pitchFamily="18" charset="2"/>
              </a:rPr>
              <a:t>Fields:</a:t>
            </a:r>
            <a:r>
              <a:rPr lang="en-US" sz="1800" spc="-5" dirty="0">
                <a:solidFill>
                  <a:schemeClr val="bg1"/>
                </a:solidFill>
                <a:effectLst/>
                <a:latin typeface="Arial MT"/>
                <a:ea typeface="Symbol" panose="05050102010706020507" pitchFamily="18" charset="2"/>
                <a:cs typeface="Symbol" panose="05050102010706020507" pitchFamily="18" charset="2"/>
              </a:rPr>
              <a:t> </a:t>
            </a:r>
            <a:r>
              <a:rPr lang="en-US" sz="1800" spc="-10" dirty="0" err="1">
                <a:solidFill>
                  <a:schemeClr val="bg1"/>
                </a:solidFill>
                <a:effectLst/>
                <a:latin typeface="Arial MT"/>
                <a:ea typeface="Symbol" panose="05050102010706020507" pitchFamily="18" charset="2"/>
                <a:cs typeface="Symbol" panose="05050102010706020507" pitchFamily="18" charset="2"/>
              </a:rPr>
              <a:t>PascalCasing</a:t>
            </a:r>
            <a:endParaRPr lang="en-IN" sz="1800" spc="0" dirty="0">
              <a:solidFill>
                <a:schemeClr val="bg1"/>
              </a:solidFill>
              <a:effectLst/>
              <a:latin typeface="Arial MT"/>
              <a:ea typeface="Symbol" panose="05050102010706020507" pitchFamily="18" charset="2"/>
              <a:cs typeface="Symbol" panose="05050102010706020507" pitchFamily="18" charset="2"/>
            </a:endParaRPr>
          </a:p>
          <a:p>
            <a:pPr>
              <a:spcBef>
                <a:spcPts val="210"/>
              </a:spcBef>
              <a:buFont typeface="Wingdings" panose="05000000000000000000" pitchFamily="2" charset="2"/>
              <a:buChar char="§"/>
            </a:pPr>
            <a:endParaRPr lang="en-IN" sz="1800" dirty="0">
              <a:solidFill>
                <a:schemeClr val="bg1"/>
              </a:solidFill>
              <a:effectLst/>
              <a:latin typeface="Arial MT"/>
              <a:ea typeface="Arial MT"/>
              <a:cs typeface="Arial MT"/>
            </a:endParaRPr>
          </a:p>
          <a:p>
            <a:pPr>
              <a:buSzPct val="121000"/>
              <a:buFont typeface="Wingdings" panose="05000000000000000000" pitchFamily="2" charset="2"/>
              <a:buChar char="§"/>
            </a:pPr>
            <a:r>
              <a:rPr lang="en-US" sz="1800" dirty="0">
                <a:solidFill>
                  <a:schemeClr val="bg1"/>
                </a:solidFill>
                <a:effectLst/>
                <a:latin typeface="Arial MT"/>
                <a:ea typeface="Arial MT"/>
                <a:cs typeface="Arial MT"/>
              </a:rPr>
              <a:t>Private</a:t>
            </a:r>
            <a:r>
              <a:rPr lang="en-US" sz="1800" spc="15" dirty="0">
                <a:solidFill>
                  <a:schemeClr val="bg1"/>
                </a:solidFill>
                <a:effectLst/>
                <a:latin typeface="Arial MT"/>
                <a:ea typeface="Arial MT"/>
                <a:cs typeface="Arial MT"/>
              </a:rPr>
              <a:t> </a:t>
            </a:r>
            <a:r>
              <a:rPr lang="en-US" sz="1800" dirty="0">
                <a:solidFill>
                  <a:schemeClr val="bg1"/>
                </a:solidFill>
                <a:effectLst/>
                <a:latin typeface="Arial MT"/>
                <a:ea typeface="Arial MT"/>
                <a:cs typeface="Arial MT"/>
              </a:rPr>
              <a:t>Fields:</a:t>
            </a:r>
            <a:r>
              <a:rPr lang="en-US" sz="1800" spc="25" dirty="0">
                <a:solidFill>
                  <a:schemeClr val="bg1"/>
                </a:solidFill>
                <a:effectLst/>
                <a:latin typeface="Arial MT"/>
                <a:ea typeface="Arial MT"/>
                <a:cs typeface="Arial MT"/>
              </a:rPr>
              <a:t> </a:t>
            </a:r>
            <a:r>
              <a:rPr lang="en-US" sz="1800" dirty="0" err="1">
                <a:solidFill>
                  <a:schemeClr val="bg1"/>
                </a:solidFill>
                <a:effectLst/>
                <a:latin typeface="Arial MT"/>
                <a:ea typeface="Arial MT"/>
                <a:cs typeface="Arial MT"/>
              </a:rPr>
              <a:t>camelCasing</a:t>
            </a:r>
            <a:r>
              <a:rPr lang="en-US" sz="1800" spc="15" dirty="0">
                <a:solidFill>
                  <a:schemeClr val="bg1"/>
                </a:solidFill>
                <a:effectLst/>
                <a:latin typeface="Arial MT"/>
                <a:ea typeface="Arial MT"/>
                <a:cs typeface="Arial MT"/>
              </a:rPr>
              <a:t> </a:t>
            </a:r>
            <a:r>
              <a:rPr lang="en-US" sz="1800" dirty="0">
                <a:solidFill>
                  <a:schemeClr val="bg1"/>
                </a:solidFill>
                <a:effectLst/>
                <a:latin typeface="Arial MT"/>
                <a:ea typeface="Arial MT"/>
                <a:cs typeface="Arial MT"/>
              </a:rPr>
              <a:t>with</a:t>
            </a:r>
            <a:r>
              <a:rPr lang="en-US" sz="1800" spc="15" dirty="0">
                <a:solidFill>
                  <a:schemeClr val="bg1"/>
                </a:solidFill>
                <a:effectLst/>
                <a:latin typeface="Arial MT"/>
                <a:ea typeface="Arial MT"/>
                <a:cs typeface="Arial MT"/>
              </a:rPr>
              <a:t> </a:t>
            </a:r>
            <a:r>
              <a:rPr lang="en-US" sz="1800" dirty="0">
                <a:solidFill>
                  <a:schemeClr val="bg1"/>
                </a:solidFill>
                <a:effectLst/>
                <a:latin typeface="Arial MT"/>
                <a:ea typeface="Arial MT"/>
                <a:cs typeface="Arial MT"/>
              </a:rPr>
              <a:t>underscore</a:t>
            </a:r>
            <a:r>
              <a:rPr lang="en-US" sz="1800" spc="15" dirty="0">
                <a:solidFill>
                  <a:schemeClr val="bg1"/>
                </a:solidFill>
                <a:effectLst/>
                <a:latin typeface="Arial MT"/>
                <a:ea typeface="Arial MT"/>
                <a:cs typeface="Arial MT"/>
              </a:rPr>
              <a:t> </a:t>
            </a:r>
            <a:endParaRPr lang="en-IN" dirty="0">
              <a:solidFill>
                <a:schemeClr val="bg1"/>
              </a:solidFill>
            </a:endParaRPr>
          </a:p>
        </p:txBody>
      </p:sp>
      <p:sp>
        <p:nvSpPr>
          <p:cNvPr id="6" name="Content Placeholder 4">
            <a:extLst>
              <a:ext uri="{FF2B5EF4-FFF2-40B4-BE49-F238E27FC236}">
                <a16:creationId xmlns:a16="http://schemas.microsoft.com/office/drawing/2014/main" id="{678D2DB1-DD28-4807-814A-9AFC971EA65D}"/>
              </a:ext>
            </a:extLst>
          </p:cNvPr>
          <p:cNvSpPr txBox="1">
            <a:spLocks/>
          </p:cNvSpPr>
          <p:nvPr/>
        </p:nvSpPr>
        <p:spPr>
          <a:xfrm>
            <a:off x="6416956" y="1658143"/>
            <a:ext cx="4382567" cy="439192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marR="464185" indent="0">
              <a:lnSpc>
                <a:spcPct val="170000"/>
              </a:lnSpc>
              <a:spcBef>
                <a:spcPts val="740"/>
              </a:spcBef>
              <a:buSzPct val="123000"/>
              <a:buNone/>
              <a:tabLst>
                <a:tab pos="652145" algn="l"/>
              </a:tabLst>
            </a:pPr>
            <a:r>
              <a:rPr lang="en-US" sz="2000" b="1" spc="-30" dirty="0">
                <a:solidFill>
                  <a:schemeClr val="bg1"/>
                </a:solidFill>
                <a:effectLst/>
                <a:latin typeface="Arial MT"/>
                <a:ea typeface="Arial MT"/>
                <a:cs typeface="Arial MT"/>
              </a:rPr>
              <a:t>Identifier</a:t>
            </a:r>
            <a:r>
              <a:rPr lang="en-US" sz="2000" b="1" spc="-10" dirty="0">
                <a:solidFill>
                  <a:schemeClr val="bg1"/>
                </a:solidFill>
                <a:effectLst/>
                <a:latin typeface="Arial MT"/>
                <a:ea typeface="Arial MT"/>
                <a:cs typeface="Arial MT"/>
              </a:rPr>
              <a:t> </a:t>
            </a:r>
            <a:r>
              <a:rPr lang="en-US" sz="2000" b="1" spc="-30" dirty="0">
                <a:solidFill>
                  <a:schemeClr val="bg1"/>
                </a:solidFill>
                <a:effectLst/>
                <a:latin typeface="Arial MT"/>
                <a:ea typeface="Arial MT"/>
                <a:cs typeface="Arial MT"/>
              </a:rPr>
              <a:t>Naming</a:t>
            </a:r>
            <a:r>
              <a:rPr lang="en-US" sz="2000" b="1" spc="5" dirty="0">
                <a:solidFill>
                  <a:schemeClr val="bg1"/>
                </a:solidFill>
                <a:effectLst/>
                <a:latin typeface="Arial MT"/>
                <a:ea typeface="Arial MT"/>
                <a:cs typeface="Arial MT"/>
              </a:rPr>
              <a:t> </a:t>
            </a:r>
            <a:r>
              <a:rPr lang="en-US" sz="2000" b="1" spc="-30" dirty="0">
                <a:solidFill>
                  <a:schemeClr val="bg1"/>
                </a:solidFill>
                <a:effectLst/>
                <a:latin typeface="Arial MT"/>
                <a:ea typeface="Arial MT"/>
                <a:cs typeface="Arial MT"/>
              </a:rPr>
              <a:t>Rules</a:t>
            </a:r>
          </a:p>
          <a:p>
            <a:pPr marL="342900" lvl="0" indent="-342900">
              <a:buSzPts val="1100"/>
              <a:buFont typeface="Symbol" panose="05050102010706020507" pitchFamily="18" charset="2"/>
              <a:buChar char=""/>
              <a:tabLst>
                <a:tab pos="652145" algn="l"/>
              </a:tabLst>
            </a:pPr>
            <a:r>
              <a:rPr lang="en-US" sz="1800" spc="0" dirty="0">
                <a:solidFill>
                  <a:schemeClr val="bg1"/>
                </a:solidFill>
                <a:effectLst/>
                <a:latin typeface="Arial MT"/>
                <a:ea typeface="Symbol" panose="05050102010706020507" pitchFamily="18" charset="2"/>
                <a:cs typeface="Symbol" panose="05050102010706020507" pitchFamily="18" charset="2"/>
              </a:rPr>
              <a:t>Identifier names can’t</a:t>
            </a:r>
            <a:r>
              <a:rPr lang="en-US" sz="1800" spc="5" dirty="0">
                <a:solidFill>
                  <a:schemeClr val="bg1"/>
                </a:solidFill>
                <a:effectLst/>
                <a:latin typeface="Arial MT"/>
                <a:ea typeface="Symbol" panose="05050102010706020507" pitchFamily="18" charset="2"/>
                <a:cs typeface="Symbol" panose="05050102010706020507" pitchFamily="18" charset="2"/>
              </a:rPr>
              <a:t> </a:t>
            </a:r>
            <a:r>
              <a:rPr lang="en-US" sz="1800" spc="0" dirty="0">
                <a:solidFill>
                  <a:schemeClr val="bg1"/>
                </a:solidFill>
                <a:effectLst/>
                <a:latin typeface="Arial MT"/>
                <a:ea typeface="Symbol" panose="05050102010706020507" pitchFamily="18" charset="2"/>
                <a:cs typeface="Symbol" panose="05050102010706020507" pitchFamily="18" charset="2"/>
              </a:rPr>
              <a:t>be</a:t>
            </a:r>
            <a:r>
              <a:rPr lang="en-US" sz="1800" spc="5" dirty="0">
                <a:solidFill>
                  <a:schemeClr val="bg1"/>
                </a:solidFill>
                <a:effectLst/>
                <a:latin typeface="Arial MT"/>
                <a:ea typeface="Symbol" panose="05050102010706020507" pitchFamily="18" charset="2"/>
                <a:cs typeface="Symbol" panose="05050102010706020507" pitchFamily="18" charset="2"/>
              </a:rPr>
              <a:t> </a:t>
            </a:r>
            <a:r>
              <a:rPr lang="en-US" sz="1800" spc="0" dirty="0">
                <a:solidFill>
                  <a:schemeClr val="bg1"/>
                </a:solidFill>
                <a:effectLst/>
                <a:latin typeface="Arial MT"/>
                <a:ea typeface="Symbol" panose="05050102010706020507" pitchFamily="18" charset="2"/>
                <a:cs typeface="Symbol" panose="05050102010706020507" pitchFamily="18" charset="2"/>
              </a:rPr>
              <a:t>same</a:t>
            </a:r>
            <a:r>
              <a:rPr lang="en-US" sz="1800" spc="15" dirty="0">
                <a:solidFill>
                  <a:schemeClr val="bg1"/>
                </a:solidFill>
                <a:effectLst/>
                <a:latin typeface="Arial MT"/>
                <a:ea typeface="Symbol" panose="05050102010706020507" pitchFamily="18" charset="2"/>
                <a:cs typeface="Symbol" panose="05050102010706020507" pitchFamily="18" charset="2"/>
              </a:rPr>
              <a:t> </a:t>
            </a:r>
            <a:r>
              <a:rPr lang="en-US" sz="1800" spc="0" dirty="0">
                <a:solidFill>
                  <a:schemeClr val="bg1"/>
                </a:solidFill>
                <a:effectLst/>
                <a:latin typeface="Arial MT"/>
                <a:ea typeface="Symbol" panose="05050102010706020507" pitchFamily="18" charset="2"/>
                <a:cs typeface="Symbol" panose="05050102010706020507" pitchFamily="18" charset="2"/>
              </a:rPr>
              <a:t>as</a:t>
            </a:r>
            <a:r>
              <a:rPr lang="en-US" sz="1800" spc="-10" dirty="0">
                <a:solidFill>
                  <a:schemeClr val="bg1"/>
                </a:solidFill>
                <a:effectLst/>
                <a:latin typeface="Arial MT"/>
                <a:ea typeface="Symbol" panose="05050102010706020507" pitchFamily="18" charset="2"/>
                <a:cs typeface="Symbol" panose="05050102010706020507" pitchFamily="18" charset="2"/>
              </a:rPr>
              <a:t> keyword.</a:t>
            </a:r>
            <a:endParaRPr lang="en-IN" sz="1800" spc="0" dirty="0">
              <a:solidFill>
                <a:schemeClr val="bg1"/>
              </a:solidFill>
              <a:effectLst/>
              <a:latin typeface="Arial MT"/>
              <a:ea typeface="Symbol" panose="05050102010706020507" pitchFamily="18" charset="2"/>
              <a:cs typeface="Symbol" panose="05050102010706020507" pitchFamily="18" charset="2"/>
            </a:endParaRPr>
          </a:p>
          <a:p>
            <a:pPr>
              <a:spcBef>
                <a:spcPts val="125"/>
              </a:spcBef>
            </a:pPr>
            <a:endParaRPr lang="en-IN" sz="1800" dirty="0">
              <a:solidFill>
                <a:schemeClr val="bg1"/>
              </a:solidFill>
              <a:effectLst/>
              <a:latin typeface="Arial MT"/>
              <a:ea typeface="Arial MT"/>
              <a:cs typeface="Arial MT"/>
            </a:endParaRPr>
          </a:p>
          <a:p>
            <a:pPr marL="342900" lvl="0" indent="-342900">
              <a:buSzPts val="1100"/>
              <a:buFont typeface="Symbol" panose="05050102010706020507" pitchFamily="18" charset="2"/>
              <a:buChar char=""/>
              <a:tabLst>
                <a:tab pos="652145" algn="l"/>
              </a:tabLst>
            </a:pPr>
            <a:r>
              <a:rPr lang="en-US" sz="1800" spc="-40" dirty="0">
                <a:solidFill>
                  <a:schemeClr val="bg1"/>
                </a:solidFill>
                <a:effectLst/>
                <a:latin typeface="Arial MT"/>
                <a:ea typeface="Symbol" panose="05050102010706020507" pitchFamily="18" charset="2"/>
                <a:cs typeface="Symbol" panose="05050102010706020507" pitchFamily="18" charset="2"/>
              </a:rPr>
              <a:t>Identifier</a:t>
            </a:r>
            <a:r>
              <a:rPr lang="en-US" sz="1800" spc="0" dirty="0">
                <a:solidFill>
                  <a:schemeClr val="bg1"/>
                </a:solidFill>
                <a:effectLst/>
                <a:latin typeface="Arial MT"/>
                <a:ea typeface="Symbol" panose="05050102010706020507" pitchFamily="18" charset="2"/>
                <a:cs typeface="Symbol" panose="05050102010706020507" pitchFamily="18" charset="2"/>
              </a:rPr>
              <a:t> </a:t>
            </a:r>
            <a:r>
              <a:rPr lang="en-US" sz="1800" spc="-40" dirty="0">
                <a:solidFill>
                  <a:schemeClr val="bg1"/>
                </a:solidFill>
                <a:effectLst/>
                <a:latin typeface="Arial MT"/>
                <a:ea typeface="Symbol" panose="05050102010706020507" pitchFamily="18" charset="2"/>
                <a:cs typeface="Symbol" panose="05050102010706020507" pitchFamily="18" charset="2"/>
              </a:rPr>
              <a:t>names</a:t>
            </a:r>
            <a:r>
              <a:rPr lang="en-US" sz="1800" spc="0" dirty="0">
                <a:solidFill>
                  <a:schemeClr val="bg1"/>
                </a:solidFill>
                <a:effectLst/>
                <a:latin typeface="Arial MT"/>
                <a:ea typeface="Symbol" panose="05050102010706020507" pitchFamily="18" charset="2"/>
                <a:cs typeface="Symbol" panose="05050102010706020507" pitchFamily="18" charset="2"/>
              </a:rPr>
              <a:t> </a:t>
            </a:r>
            <a:r>
              <a:rPr lang="en-US" sz="1800" spc="-40" dirty="0">
                <a:solidFill>
                  <a:schemeClr val="bg1"/>
                </a:solidFill>
                <a:effectLst/>
                <a:latin typeface="Arial MT"/>
                <a:ea typeface="Symbol" panose="05050102010706020507" pitchFamily="18" charset="2"/>
                <a:cs typeface="Symbol" panose="05050102010706020507" pitchFamily="18" charset="2"/>
              </a:rPr>
              <a:t>should</a:t>
            </a:r>
            <a:r>
              <a:rPr lang="en-US" sz="1800" spc="-10" dirty="0">
                <a:solidFill>
                  <a:schemeClr val="bg1"/>
                </a:solidFill>
                <a:effectLst/>
                <a:latin typeface="Arial MT"/>
                <a:ea typeface="Symbol" panose="05050102010706020507" pitchFamily="18" charset="2"/>
                <a:cs typeface="Symbol" panose="05050102010706020507" pitchFamily="18" charset="2"/>
              </a:rPr>
              <a:t> </a:t>
            </a:r>
            <a:r>
              <a:rPr lang="en-US" sz="1800" spc="-40" dirty="0">
                <a:solidFill>
                  <a:schemeClr val="bg1"/>
                </a:solidFill>
                <a:effectLst/>
                <a:latin typeface="Arial MT"/>
                <a:ea typeface="Symbol" panose="05050102010706020507" pitchFamily="18" charset="2"/>
                <a:cs typeface="Symbol" panose="05050102010706020507" pitchFamily="18" charset="2"/>
              </a:rPr>
              <a:t>not</a:t>
            </a:r>
            <a:r>
              <a:rPr lang="en-US" sz="1800" spc="0" dirty="0">
                <a:solidFill>
                  <a:schemeClr val="bg1"/>
                </a:solidFill>
                <a:effectLst/>
                <a:latin typeface="Arial MT"/>
                <a:ea typeface="Symbol" panose="05050102010706020507" pitchFamily="18" charset="2"/>
                <a:cs typeface="Symbol" panose="05050102010706020507" pitchFamily="18" charset="2"/>
              </a:rPr>
              <a:t> </a:t>
            </a:r>
            <a:r>
              <a:rPr lang="en-US" sz="1800" spc="-40" dirty="0">
                <a:solidFill>
                  <a:schemeClr val="bg1"/>
                </a:solidFill>
                <a:effectLst/>
                <a:latin typeface="Arial MT"/>
                <a:ea typeface="Symbol" panose="05050102010706020507" pitchFamily="18" charset="2"/>
                <a:cs typeface="Symbol" panose="05050102010706020507" pitchFamily="18" charset="2"/>
              </a:rPr>
              <a:t>have</a:t>
            </a:r>
            <a:r>
              <a:rPr lang="en-US" sz="1800" spc="5" dirty="0">
                <a:solidFill>
                  <a:schemeClr val="bg1"/>
                </a:solidFill>
                <a:effectLst/>
                <a:latin typeface="Arial MT"/>
                <a:ea typeface="Symbol" panose="05050102010706020507" pitchFamily="18" charset="2"/>
                <a:cs typeface="Symbol" panose="05050102010706020507" pitchFamily="18" charset="2"/>
              </a:rPr>
              <a:t> </a:t>
            </a:r>
            <a:r>
              <a:rPr lang="en-US" sz="1800" spc="-40" dirty="0">
                <a:solidFill>
                  <a:schemeClr val="bg1"/>
                </a:solidFill>
                <a:effectLst/>
                <a:latin typeface="Arial MT"/>
                <a:ea typeface="Symbol" panose="05050102010706020507" pitchFamily="18" charset="2"/>
                <a:cs typeface="Symbol" panose="05050102010706020507" pitchFamily="18" charset="2"/>
              </a:rPr>
              <a:t>spaces.</a:t>
            </a:r>
            <a:endParaRPr lang="en-IN" sz="1800" spc="0" dirty="0">
              <a:solidFill>
                <a:schemeClr val="bg1"/>
              </a:solidFill>
              <a:effectLst/>
              <a:latin typeface="Arial MT"/>
              <a:ea typeface="Symbol" panose="05050102010706020507" pitchFamily="18" charset="2"/>
              <a:cs typeface="Symbol" panose="05050102010706020507" pitchFamily="18" charset="2"/>
            </a:endParaRPr>
          </a:p>
          <a:p>
            <a:pPr marL="0" indent="0">
              <a:spcBef>
                <a:spcPts val="125"/>
              </a:spcBef>
              <a:buNone/>
            </a:pPr>
            <a:endParaRPr lang="en-IN" sz="1800" dirty="0">
              <a:solidFill>
                <a:schemeClr val="bg1"/>
              </a:solidFill>
              <a:effectLst/>
              <a:latin typeface="Arial MT"/>
              <a:ea typeface="Arial MT"/>
              <a:cs typeface="Arial MT"/>
            </a:endParaRPr>
          </a:p>
          <a:p>
            <a:pPr marL="342900" lvl="0" indent="-342900">
              <a:buSzPts val="1100"/>
              <a:buFont typeface="Symbol" panose="05050102010706020507" pitchFamily="18" charset="2"/>
              <a:buChar char=""/>
              <a:tabLst>
                <a:tab pos="652145" algn="l"/>
              </a:tabLst>
            </a:pPr>
            <a:r>
              <a:rPr lang="en-US" sz="1800" spc="0" dirty="0">
                <a:solidFill>
                  <a:schemeClr val="bg1"/>
                </a:solidFill>
                <a:effectLst/>
                <a:latin typeface="Arial MT"/>
                <a:ea typeface="Symbol" panose="05050102010706020507" pitchFamily="18" charset="2"/>
                <a:cs typeface="Symbol" panose="05050102010706020507" pitchFamily="18" charset="2"/>
              </a:rPr>
              <a:t>Identifier</a:t>
            </a:r>
            <a:r>
              <a:rPr lang="en-US" sz="1800" spc="50" dirty="0">
                <a:solidFill>
                  <a:schemeClr val="bg1"/>
                </a:solidFill>
                <a:effectLst/>
                <a:latin typeface="Arial MT"/>
                <a:ea typeface="Symbol" panose="05050102010706020507" pitchFamily="18" charset="2"/>
                <a:cs typeface="Symbol" panose="05050102010706020507" pitchFamily="18" charset="2"/>
              </a:rPr>
              <a:t> </a:t>
            </a:r>
            <a:r>
              <a:rPr lang="en-US" sz="1800" spc="0" dirty="0">
                <a:solidFill>
                  <a:schemeClr val="bg1"/>
                </a:solidFill>
                <a:effectLst/>
                <a:latin typeface="Arial MT"/>
                <a:ea typeface="Symbol" panose="05050102010706020507" pitchFamily="18" charset="2"/>
                <a:cs typeface="Symbol" panose="05050102010706020507" pitchFamily="18" charset="2"/>
              </a:rPr>
              <a:t>names</a:t>
            </a:r>
            <a:r>
              <a:rPr lang="en-US" sz="1800" spc="50" dirty="0">
                <a:solidFill>
                  <a:schemeClr val="bg1"/>
                </a:solidFill>
                <a:effectLst/>
                <a:latin typeface="Arial MT"/>
                <a:ea typeface="Symbol" panose="05050102010706020507" pitchFamily="18" charset="2"/>
                <a:cs typeface="Symbol" panose="05050102010706020507" pitchFamily="18" charset="2"/>
              </a:rPr>
              <a:t> </a:t>
            </a:r>
            <a:r>
              <a:rPr lang="en-US" sz="1800" spc="0" dirty="0">
                <a:solidFill>
                  <a:schemeClr val="bg1"/>
                </a:solidFill>
                <a:effectLst/>
                <a:latin typeface="Arial MT"/>
                <a:ea typeface="Symbol" panose="05050102010706020507" pitchFamily="18" charset="2"/>
                <a:cs typeface="Symbol" panose="05050102010706020507" pitchFamily="18" charset="2"/>
              </a:rPr>
              <a:t>should</a:t>
            </a:r>
            <a:r>
              <a:rPr lang="en-US" sz="1800" spc="35" dirty="0">
                <a:solidFill>
                  <a:schemeClr val="bg1"/>
                </a:solidFill>
                <a:effectLst/>
                <a:latin typeface="Arial MT"/>
                <a:ea typeface="Symbol" panose="05050102010706020507" pitchFamily="18" charset="2"/>
                <a:cs typeface="Symbol" panose="05050102010706020507" pitchFamily="18" charset="2"/>
              </a:rPr>
              <a:t> </a:t>
            </a:r>
            <a:r>
              <a:rPr lang="en-US" sz="1800" spc="0" dirty="0">
                <a:solidFill>
                  <a:schemeClr val="bg1"/>
                </a:solidFill>
                <a:effectLst/>
                <a:latin typeface="Arial MT"/>
                <a:ea typeface="Symbol" panose="05050102010706020507" pitchFamily="18" charset="2"/>
                <a:cs typeface="Symbol" panose="05050102010706020507" pitchFamily="18" charset="2"/>
              </a:rPr>
              <a:t>not</a:t>
            </a:r>
            <a:r>
              <a:rPr lang="en-US" sz="1800" spc="50" dirty="0">
                <a:solidFill>
                  <a:schemeClr val="bg1"/>
                </a:solidFill>
                <a:effectLst/>
                <a:latin typeface="Arial MT"/>
                <a:ea typeface="Symbol" panose="05050102010706020507" pitchFamily="18" charset="2"/>
                <a:cs typeface="Symbol" panose="05050102010706020507" pitchFamily="18" charset="2"/>
              </a:rPr>
              <a:t> </a:t>
            </a:r>
            <a:r>
              <a:rPr lang="en-US" sz="1800" spc="0" dirty="0">
                <a:solidFill>
                  <a:schemeClr val="bg1"/>
                </a:solidFill>
                <a:effectLst/>
                <a:latin typeface="Arial MT"/>
                <a:ea typeface="Symbol" panose="05050102010706020507" pitchFamily="18" charset="2"/>
                <a:cs typeface="Symbol" panose="05050102010706020507" pitchFamily="18" charset="2"/>
              </a:rPr>
              <a:t>have</a:t>
            </a:r>
            <a:r>
              <a:rPr lang="en-US" sz="1800" spc="55" dirty="0">
                <a:solidFill>
                  <a:schemeClr val="bg1"/>
                </a:solidFill>
                <a:effectLst/>
                <a:latin typeface="Arial MT"/>
                <a:ea typeface="Symbol" panose="05050102010706020507" pitchFamily="18" charset="2"/>
                <a:cs typeface="Symbol" panose="05050102010706020507" pitchFamily="18" charset="2"/>
              </a:rPr>
              <a:t> </a:t>
            </a:r>
            <a:r>
              <a:rPr lang="en-US" sz="1800" spc="0" dirty="0">
                <a:solidFill>
                  <a:schemeClr val="bg1"/>
                </a:solidFill>
                <a:effectLst/>
                <a:latin typeface="Arial MT"/>
                <a:ea typeface="Symbol" panose="05050102010706020507" pitchFamily="18" charset="2"/>
                <a:cs typeface="Symbol" panose="05050102010706020507" pitchFamily="18" charset="2"/>
              </a:rPr>
              <a:t>special</a:t>
            </a:r>
            <a:r>
              <a:rPr lang="en-US" sz="1800" spc="5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characters.</a:t>
            </a:r>
            <a:endParaRPr lang="en-IN" sz="1800" spc="0" dirty="0">
              <a:solidFill>
                <a:schemeClr val="bg1"/>
              </a:solidFill>
              <a:effectLst/>
              <a:latin typeface="Arial MT"/>
              <a:ea typeface="Symbol" panose="05050102010706020507" pitchFamily="18" charset="2"/>
              <a:cs typeface="Symbol" panose="05050102010706020507" pitchFamily="18" charset="2"/>
            </a:endParaRPr>
          </a:p>
          <a:p>
            <a:pPr marL="0" indent="0">
              <a:spcBef>
                <a:spcPts val="110"/>
              </a:spcBef>
              <a:buNone/>
            </a:pPr>
            <a:endParaRPr lang="en-IN" sz="1800" dirty="0">
              <a:solidFill>
                <a:schemeClr val="bg1"/>
              </a:solidFill>
              <a:effectLst/>
              <a:latin typeface="Arial MT"/>
              <a:ea typeface="Arial MT"/>
              <a:cs typeface="Arial MT"/>
            </a:endParaRPr>
          </a:p>
          <a:p>
            <a:r>
              <a:rPr lang="en-US" sz="1800" spc="-30" dirty="0">
                <a:solidFill>
                  <a:schemeClr val="bg1"/>
                </a:solidFill>
                <a:effectLst/>
                <a:latin typeface="Arial MT"/>
                <a:ea typeface="Arial MT"/>
                <a:cs typeface="Arial MT"/>
              </a:rPr>
              <a:t>Duplicate</a:t>
            </a:r>
            <a:r>
              <a:rPr lang="en-US" sz="1800" spc="-5" dirty="0">
                <a:solidFill>
                  <a:schemeClr val="bg1"/>
                </a:solidFill>
                <a:effectLst/>
                <a:latin typeface="Arial MT"/>
                <a:ea typeface="Arial MT"/>
                <a:cs typeface="Arial MT"/>
              </a:rPr>
              <a:t> </a:t>
            </a:r>
            <a:r>
              <a:rPr lang="en-US" sz="1800" spc="-30" dirty="0">
                <a:solidFill>
                  <a:schemeClr val="bg1"/>
                </a:solidFill>
                <a:effectLst/>
                <a:latin typeface="Arial MT"/>
                <a:ea typeface="Arial MT"/>
                <a:cs typeface="Arial MT"/>
              </a:rPr>
              <a:t>identifier</a:t>
            </a:r>
            <a:r>
              <a:rPr lang="en-US" sz="1800" spc="-15" dirty="0">
                <a:solidFill>
                  <a:schemeClr val="bg1"/>
                </a:solidFill>
                <a:effectLst/>
                <a:latin typeface="Arial MT"/>
                <a:ea typeface="Arial MT"/>
                <a:cs typeface="Arial MT"/>
              </a:rPr>
              <a:t> </a:t>
            </a:r>
            <a:r>
              <a:rPr lang="en-US" sz="1800" spc="-30" dirty="0">
                <a:solidFill>
                  <a:schemeClr val="bg1"/>
                </a:solidFill>
                <a:effectLst/>
                <a:latin typeface="Arial MT"/>
                <a:ea typeface="Arial MT"/>
                <a:cs typeface="Arial MT"/>
              </a:rPr>
              <a:t>names</a:t>
            </a:r>
            <a:r>
              <a:rPr lang="en-US" sz="1800" spc="-25" dirty="0">
                <a:solidFill>
                  <a:schemeClr val="bg1"/>
                </a:solidFill>
                <a:effectLst/>
                <a:latin typeface="Arial MT"/>
                <a:ea typeface="Arial MT"/>
                <a:cs typeface="Arial MT"/>
              </a:rPr>
              <a:t> </a:t>
            </a:r>
            <a:r>
              <a:rPr lang="en-US" sz="1800" spc="-30" dirty="0">
                <a:solidFill>
                  <a:schemeClr val="bg1"/>
                </a:solidFill>
                <a:effectLst/>
                <a:latin typeface="Arial MT"/>
                <a:ea typeface="Arial MT"/>
                <a:cs typeface="Arial MT"/>
              </a:rPr>
              <a:t>not</a:t>
            </a:r>
            <a:r>
              <a:rPr lang="en-US" sz="1800" spc="-10" dirty="0">
                <a:solidFill>
                  <a:schemeClr val="bg1"/>
                </a:solidFill>
                <a:effectLst/>
                <a:latin typeface="Arial MT"/>
                <a:ea typeface="Arial MT"/>
                <a:cs typeface="Arial MT"/>
              </a:rPr>
              <a:t> </a:t>
            </a:r>
            <a:r>
              <a:rPr lang="en-US" sz="1800" spc="-30" dirty="0">
                <a:solidFill>
                  <a:schemeClr val="bg1"/>
                </a:solidFill>
                <a:effectLst/>
                <a:latin typeface="Arial MT"/>
                <a:ea typeface="Arial MT"/>
                <a:cs typeface="Arial MT"/>
              </a:rPr>
              <a:t>allowed.</a:t>
            </a:r>
            <a:endParaRPr lang="en-IN" sz="2000" b="1" dirty="0">
              <a:solidFill>
                <a:schemeClr val="bg1"/>
              </a:solidFill>
              <a:effectLst/>
              <a:latin typeface="Arial MT"/>
              <a:ea typeface="Arial MT"/>
              <a:cs typeface="Arial MT"/>
            </a:endParaRPr>
          </a:p>
          <a:p>
            <a:pPr marR="464185">
              <a:lnSpc>
                <a:spcPct val="170000"/>
              </a:lnSpc>
              <a:spcBef>
                <a:spcPts val="740"/>
              </a:spcBef>
              <a:buSzPct val="123000"/>
              <a:buFont typeface="Wingdings" panose="05000000000000000000" pitchFamily="2" charset="2"/>
              <a:buChar char="§"/>
              <a:tabLst>
                <a:tab pos="652145" algn="l"/>
              </a:tabLst>
            </a:pPr>
            <a:endParaRPr lang="en-IN" dirty="0">
              <a:solidFill>
                <a:schemeClr val="bg1"/>
              </a:solidFill>
            </a:endParaRPr>
          </a:p>
        </p:txBody>
      </p:sp>
    </p:spTree>
    <p:extLst>
      <p:ext uri="{BB962C8B-B14F-4D97-AF65-F5344CB8AC3E}">
        <p14:creationId xmlns:p14="http://schemas.microsoft.com/office/powerpoint/2010/main" val="2074561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D3A9E-EAB5-4FE5-98DE-E04D80C7A593}"/>
              </a:ext>
            </a:extLst>
          </p:cNvPr>
          <p:cNvSpPr>
            <a:spLocks noGrp="1"/>
          </p:cNvSpPr>
          <p:nvPr>
            <p:ph type="title"/>
          </p:nvPr>
        </p:nvSpPr>
        <p:spPr>
          <a:xfrm>
            <a:off x="1143001" y="136266"/>
            <a:ext cx="9905998" cy="634085"/>
          </a:xfrm>
        </p:spPr>
        <p:txBody>
          <a:bodyPr>
            <a:normAutofit fontScale="90000"/>
          </a:bodyPr>
          <a:lstStyle/>
          <a:p>
            <a:br>
              <a:rPr lang="en-IN" sz="1800" b="1" dirty="0">
                <a:effectLst/>
                <a:latin typeface="Arial MT"/>
                <a:ea typeface="Arial MT"/>
                <a:cs typeface="Arial MT"/>
              </a:rPr>
            </a:br>
            <a:r>
              <a:rPr lang="en-US" b="1" dirty="0">
                <a:solidFill>
                  <a:srgbClr val="303141"/>
                </a:solidFill>
                <a:latin typeface="Udemy Sans"/>
              </a:rPr>
              <a:t>Console</a:t>
            </a:r>
            <a:r>
              <a:rPr lang="en-US" sz="1800" b="1" spc="-25" dirty="0">
                <a:solidFill>
                  <a:srgbClr val="000000"/>
                </a:solidFill>
                <a:effectLst/>
                <a:latin typeface="Arial" panose="020B0604020202020204" pitchFamily="34" charset="0"/>
                <a:ea typeface="Arial MT"/>
                <a:cs typeface="Arial MT"/>
              </a:rPr>
              <a:t> </a:t>
            </a:r>
            <a:r>
              <a:rPr lang="en-US" b="1" dirty="0">
                <a:solidFill>
                  <a:srgbClr val="303141"/>
                </a:solidFill>
                <a:latin typeface="Udemy Sans"/>
              </a:rPr>
              <a:t>Applications - </a:t>
            </a:r>
            <a:r>
              <a:rPr lang="en-US" b="1" spc="-20" dirty="0">
                <a:solidFill>
                  <a:schemeClr val="bg1"/>
                </a:solidFill>
                <a:latin typeface="Udemy Sans"/>
              </a:rPr>
              <a:t>Introduction</a:t>
            </a:r>
            <a:br>
              <a:rPr lang="en-IN" sz="1800" dirty="0">
                <a:effectLst/>
                <a:latin typeface="Arial MT"/>
                <a:ea typeface="Arial MT"/>
                <a:cs typeface="Arial MT"/>
              </a:rPr>
            </a:br>
            <a:endParaRPr lang="en-IN" dirty="0">
              <a:solidFill>
                <a:schemeClr val="bg1"/>
              </a:solidFill>
            </a:endParaRPr>
          </a:p>
        </p:txBody>
      </p:sp>
      <p:sp>
        <p:nvSpPr>
          <p:cNvPr id="5" name="Content Placeholder 4">
            <a:extLst>
              <a:ext uri="{FF2B5EF4-FFF2-40B4-BE49-F238E27FC236}">
                <a16:creationId xmlns:a16="http://schemas.microsoft.com/office/drawing/2014/main" id="{20A7CCF3-4BEA-4EAD-BA28-77D5C1FB8189}"/>
              </a:ext>
            </a:extLst>
          </p:cNvPr>
          <p:cNvSpPr>
            <a:spLocks noGrp="1"/>
          </p:cNvSpPr>
          <p:nvPr>
            <p:ph idx="1"/>
          </p:nvPr>
        </p:nvSpPr>
        <p:spPr>
          <a:xfrm>
            <a:off x="839244" y="1052186"/>
            <a:ext cx="5373666" cy="5035463"/>
          </a:xfrm>
        </p:spPr>
        <p:txBody>
          <a:bodyPr>
            <a:noAutofit/>
          </a:bodyPr>
          <a:lstStyle/>
          <a:p>
            <a:pPr marL="0" marR="464185" lvl="0" indent="0">
              <a:lnSpc>
                <a:spcPct val="170000"/>
              </a:lnSpc>
              <a:spcBef>
                <a:spcPts val="740"/>
              </a:spcBef>
              <a:spcAft>
                <a:spcPts val="0"/>
              </a:spcAft>
              <a:buSzPct val="123000"/>
              <a:buNone/>
              <a:tabLst>
                <a:tab pos="652145" algn="l"/>
              </a:tabLst>
            </a:pPr>
            <a:r>
              <a:rPr lang="en-IN" sz="1800" b="1" spc="-20" dirty="0">
                <a:solidFill>
                  <a:schemeClr val="bg1"/>
                </a:solidFill>
                <a:effectLst/>
                <a:latin typeface="Udemy Sans"/>
                <a:ea typeface="Symbol" panose="05050102010706020507" pitchFamily="18" charset="2"/>
                <a:cs typeface="Symbol" panose="05050102010706020507" pitchFamily="18" charset="2"/>
              </a:rPr>
              <a:t>What is Console Application</a:t>
            </a:r>
          </a:p>
          <a:p>
            <a:pPr marR="464185" lvl="0" algn="just">
              <a:lnSpc>
                <a:spcPct val="100000"/>
              </a:lnSpc>
              <a:spcBef>
                <a:spcPts val="740"/>
              </a:spcBef>
              <a:spcAft>
                <a:spcPts val="0"/>
              </a:spcAft>
              <a:buSzPct val="123000"/>
              <a:tabLst>
                <a:tab pos="652145" algn="l"/>
              </a:tabLst>
            </a:pPr>
            <a:r>
              <a:rPr lang="en-US" sz="1800" dirty="0">
                <a:solidFill>
                  <a:schemeClr val="bg1"/>
                </a:solidFill>
                <a:latin typeface="Udemy Sans"/>
              </a:rPr>
              <a:t>Console applications are the programs that run on “Command Prompt” window.</a:t>
            </a:r>
          </a:p>
          <a:p>
            <a:pPr marR="464185" lvl="0" algn="just">
              <a:lnSpc>
                <a:spcPct val="100000"/>
              </a:lnSpc>
              <a:spcBef>
                <a:spcPts val="740"/>
              </a:spcBef>
              <a:spcAft>
                <a:spcPts val="0"/>
              </a:spcAft>
              <a:buSzPct val="123000"/>
              <a:tabLst>
                <a:tab pos="652145" algn="l"/>
              </a:tabLst>
            </a:pPr>
            <a:endParaRPr lang="en-US" sz="1800" dirty="0">
              <a:solidFill>
                <a:schemeClr val="bg1"/>
              </a:solidFill>
              <a:latin typeface="Udemy Sans"/>
            </a:endParaRPr>
          </a:p>
          <a:p>
            <a:pPr marR="464185" lvl="0" algn="just">
              <a:lnSpc>
                <a:spcPct val="100000"/>
              </a:lnSpc>
              <a:spcBef>
                <a:spcPts val="740"/>
              </a:spcBef>
              <a:spcAft>
                <a:spcPts val="0"/>
              </a:spcAft>
              <a:buSzPct val="123000"/>
              <a:tabLst>
                <a:tab pos="652145" algn="l"/>
              </a:tabLst>
            </a:pPr>
            <a:r>
              <a:rPr lang="en-US" sz="1800" dirty="0">
                <a:solidFill>
                  <a:schemeClr val="bg1"/>
                </a:solidFill>
                <a:latin typeface="Udemy Sans"/>
              </a:rPr>
              <a:t>Console applications support CUI (Character User Interface).</a:t>
            </a:r>
          </a:p>
          <a:p>
            <a:pPr marR="464185" lvl="0" algn="just">
              <a:lnSpc>
                <a:spcPct val="100000"/>
              </a:lnSpc>
              <a:spcBef>
                <a:spcPts val="740"/>
              </a:spcBef>
              <a:spcAft>
                <a:spcPts val="0"/>
              </a:spcAft>
              <a:buSzPct val="123000"/>
              <a:tabLst>
                <a:tab pos="652145" algn="l"/>
              </a:tabLst>
            </a:pPr>
            <a:endParaRPr lang="en-US" sz="1800" dirty="0">
              <a:solidFill>
                <a:schemeClr val="bg1"/>
              </a:solidFill>
              <a:latin typeface="Udemy Sans"/>
            </a:endParaRPr>
          </a:p>
          <a:p>
            <a:pPr marR="464185" lvl="0" algn="just">
              <a:lnSpc>
                <a:spcPct val="100000"/>
              </a:lnSpc>
              <a:spcBef>
                <a:spcPts val="740"/>
              </a:spcBef>
              <a:spcAft>
                <a:spcPts val="0"/>
              </a:spcAft>
              <a:buSzPct val="123000"/>
              <a:tabLst>
                <a:tab pos="652145" algn="l"/>
              </a:tabLst>
            </a:pPr>
            <a:r>
              <a:rPr lang="en-US" sz="1800" dirty="0">
                <a:solidFill>
                  <a:schemeClr val="bg1"/>
                </a:solidFill>
                <a:latin typeface="Udemy Sans"/>
              </a:rPr>
              <a:t>In console applications, all the input and output will be in the form of characters only.</a:t>
            </a:r>
          </a:p>
          <a:p>
            <a:pPr marR="464185" lvl="0" algn="just">
              <a:lnSpc>
                <a:spcPct val="100000"/>
              </a:lnSpc>
              <a:spcBef>
                <a:spcPts val="740"/>
              </a:spcBef>
              <a:spcAft>
                <a:spcPts val="0"/>
              </a:spcAft>
              <a:buSzPct val="123000"/>
              <a:tabLst>
                <a:tab pos="652145" algn="l"/>
              </a:tabLst>
            </a:pPr>
            <a:endParaRPr lang="en-US" sz="1800" dirty="0">
              <a:solidFill>
                <a:schemeClr val="bg1"/>
              </a:solidFill>
              <a:latin typeface="Udemy Sans"/>
            </a:endParaRPr>
          </a:p>
          <a:p>
            <a:pPr marR="464185" lvl="0" algn="just">
              <a:lnSpc>
                <a:spcPct val="100000"/>
              </a:lnSpc>
              <a:spcBef>
                <a:spcPts val="740"/>
              </a:spcBef>
              <a:spcAft>
                <a:spcPts val="0"/>
              </a:spcAft>
              <a:buSzPct val="123000"/>
              <a:tabLst>
                <a:tab pos="652145" algn="l"/>
              </a:tabLst>
            </a:pPr>
            <a:r>
              <a:rPr lang="en-US" sz="1800" dirty="0">
                <a:solidFill>
                  <a:schemeClr val="bg1"/>
                </a:solidFill>
                <a:latin typeface="Udemy Sans"/>
              </a:rPr>
              <a:t>Console applications are not user-friendly.</a:t>
            </a:r>
          </a:p>
          <a:p>
            <a:pPr marR="464185" lvl="0" algn="just">
              <a:lnSpc>
                <a:spcPct val="100000"/>
              </a:lnSpc>
              <a:spcBef>
                <a:spcPts val="740"/>
              </a:spcBef>
              <a:spcAft>
                <a:spcPts val="0"/>
              </a:spcAft>
              <a:buSzPct val="123000"/>
              <a:tabLst>
                <a:tab pos="652145" algn="l"/>
              </a:tabLst>
            </a:pPr>
            <a:endParaRPr lang="en-US" sz="1800" dirty="0">
              <a:solidFill>
                <a:schemeClr val="bg1"/>
              </a:solidFill>
              <a:latin typeface="Udemy Sans"/>
            </a:endParaRPr>
          </a:p>
          <a:p>
            <a:pPr marR="464185" lvl="0" algn="just">
              <a:lnSpc>
                <a:spcPct val="100000"/>
              </a:lnSpc>
              <a:spcBef>
                <a:spcPts val="740"/>
              </a:spcBef>
              <a:spcAft>
                <a:spcPts val="0"/>
              </a:spcAft>
              <a:buSzPct val="123000"/>
              <a:tabLst>
                <a:tab pos="652145" algn="l"/>
              </a:tabLst>
            </a:pPr>
            <a:r>
              <a:rPr lang="en-US" sz="1800" dirty="0">
                <a:solidFill>
                  <a:schemeClr val="bg1"/>
                </a:solidFill>
                <a:latin typeface="Udemy Sans"/>
              </a:rPr>
              <a:t>Console applications are not used in real time, but good for learning programming basics and OOP concepts</a:t>
            </a:r>
          </a:p>
          <a:p>
            <a:pPr marR="464185" lvl="0">
              <a:lnSpc>
                <a:spcPct val="170000"/>
              </a:lnSpc>
              <a:spcBef>
                <a:spcPts val="740"/>
              </a:spcBef>
              <a:spcAft>
                <a:spcPts val="0"/>
              </a:spcAft>
              <a:buSzPct val="123000"/>
              <a:tabLst>
                <a:tab pos="652145" algn="l"/>
              </a:tabLst>
            </a:pPr>
            <a:endParaRPr lang="en-IN" sz="1400" b="1" dirty="0">
              <a:solidFill>
                <a:schemeClr val="bg1"/>
              </a:solidFill>
              <a:latin typeface="Udemy Sans"/>
            </a:endParaRPr>
          </a:p>
        </p:txBody>
      </p:sp>
      <p:sp>
        <p:nvSpPr>
          <p:cNvPr id="6" name="Content Placeholder 4">
            <a:extLst>
              <a:ext uri="{FF2B5EF4-FFF2-40B4-BE49-F238E27FC236}">
                <a16:creationId xmlns:a16="http://schemas.microsoft.com/office/drawing/2014/main" id="{678D2DB1-DD28-4807-814A-9AFC971EA65D}"/>
              </a:ext>
            </a:extLst>
          </p:cNvPr>
          <p:cNvSpPr txBox="1">
            <a:spLocks/>
          </p:cNvSpPr>
          <p:nvPr/>
        </p:nvSpPr>
        <p:spPr>
          <a:xfrm>
            <a:off x="6454534" y="930057"/>
            <a:ext cx="5210828" cy="499788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marR="464185" indent="0">
              <a:lnSpc>
                <a:spcPct val="170000"/>
              </a:lnSpc>
              <a:spcBef>
                <a:spcPts val="740"/>
              </a:spcBef>
              <a:buSzPct val="123000"/>
              <a:buNone/>
              <a:tabLst>
                <a:tab pos="652145" algn="l"/>
              </a:tabLst>
            </a:pPr>
            <a:r>
              <a:rPr lang="en-US" sz="7200" b="1" spc="-30" dirty="0">
                <a:solidFill>
                  <a:schemeClr val="bg1"/>
                </a:solidFill>
                <a:effectLst/>
                <a:latin typeface="Udemy Sans"/>
                <a:ea typeface="Arial MT"/>
                <a:cs typeface="Arial MT"/>
              </a:rPr>
              <a:t>Rules of Console Application</a:t>
            </a:r>
          </a:p>
          <a:p>
            <a:pPr marL="342900" lvl="0" indent="-342900">
              <a:spcBef>
                <a:spcPts val="0"/>
              </a:spcBef>
              <a:buSzPts val="1100"/>
              <a:buFont typeface="Symbol" panose="05050102010706020507" pitchFamily="18" charset="2"/>
              <a:buChar char=""/>
              <a:tabLst>
                <a:tab pos="652145" algn="l"/>
              </a:tabLst>
            </a:pPr>
            <a:r>
              <a:rPr lang="en-US" sz="7200" spc="0" dirty="0">
                <a:solidFill>
                  <a:schemeClr val="bg1"/>
                </a:solidFill>
                <a:effectLst/>
                <a:latin typeface="Udemy Sans"/>
                <a:ea typeface="Symbol" panose="05050102010706020507" pitchFamily="18" charset="2"/>
                <a:cs typeface="Symbol" panose="05050102010706020507" pitchFamily="18" charset="2"/>
              </a:rPr>
              <a:t>Console application must have </a:t>
            </a:r>
            <a:r>
              <a:rPr lang="en-US" sz="7200" spc="0" dirty="0" err="1">
                <a:solidFill>
                  <a:schemeClr val="bg1"/>
                </a:solidFill>
                <a:effectLst/>
                <a:latin typeface="Udemy Sans"/>
                <a:ea typeface="Symbol" panose="05050102010706020507" pitchFamily="18" charset="2"/>
                <a:cs typeface="Symbol" panose="05050102010706020507" pitchFamily="18" charset="2"/>
              </a:rPr>
              <a:t>atleast</a:t>
            </a:r>
            <a:r>
              <a:rPr lang="en-US" sz="7200" spc="0" dirty="0">
                <a:solidFill>
                  <a:schemeClr val="bg1"/>
                </a:solidFill>
                <a:effectLst/>
                <a:latin typeface="Udemy Sans"/>
                <a:ea typeface="Symbol" panose="05050102010706020507" pitchFamily="18" charset="2"/>
                <a:cs typeface="Symbol" panose="05050102010706020507" pitchFamily="18" charset="2"/>
              </a:rPr>
              <a:t> one class; which is called as “Main class”.</a:t>
            </a:r>
          </a:p>
          <a:p>
            <a:pPr marL="342900" lvl="0" indent="-342900">
              <a:spcBef>
                <a:spcPts val="0"/>
              </a:spcBef>
              <a:buSzPts val="1100"/>
              <a:buFont typeface="Symbol" panose="05050102010706020507" pitchFamily="18" charset="2"/>
              <a:buChar char=""/>
              <a:tabLst>
                <a:tab pos="652145" algn="l"/>
              </a:tabLst>
            </a:pPr>
            <a:endParaRPr lang="en-US" sz="7200" spc="0" dirty="0">
              <a:solidFill>
                <a:schemeClr val="bg1"/>
              </a:solidFill>
              <a:effectLst/>
              <a:latin typeface="Udemy Sans"/>
              <a:ea typeface="Symbol" panose="05050102010706020507" pitchFamily="18" charset="2"/>
              <a:cs typeface="Symbol" panose="05050102010706020507" pitchFamily="18" charset="2"/>
            </a:endParaRPr>
          </a:p>
          <a:p>
            <a:pPr marL="342900" lvl="0" indent="-342900">
              <a:spcBef>
                <a:spcPts val="0"/>
              </a:spcBef>
              <a:buSzPts val="1100"/>
              <a:buFont typeface="Symbol" panose="05050102010706020507" pitchFamily="18" charset="2"/>
              <a:buChar char=""/>
              <a:tabLst>
                <a:tab pos="652145" algn="l"/>
              </a:tabLst>
            </a:pPr>
            <a:r>
              <a:rPr lang="en-US" sz="7200" spc="0" dirty="0">
                <a:solidFill>
                  <a:schemeClr val="bg1"/>
                </a:solidFill>
                <a:effectLst/>
                <a:latin typeface="Udemy Sans"/>
                <a:ea typeface="Symbol" panose="05050102010706020507" pitchFamily="18" charset="2"/>
                <a:cs typeface="Symbol" panose="05050102010706020507" pitchFamily="18" charset="2"/>
              </a:rPr>
              <a:t>The “Main class” must contain </a:t>
            </a:r>
            <a:r>
              <a:rPr lang="en-US" sz="7200" spc="0" dirty="0" err="1">
                <a:solidFill>
                  <a:schemeClr val="bg1"/>
                </a:solidFill>
                <a:effectLst/>
                <a:latin typeface="Udemy Sans"/>
                <a:ea typeface="Symbol" panose="05050102010706020507" pitchFamily="18" charset="2"/>
                <a:cs typeface="Symbol" panose="05050102010706020507" pitchFamily="18" charset="2"/>
              </a:rPr>
              <a:t>atleast</a:t>
            </a:r>
            <a:r>
              <a:rPr lang="en-US" sz="7200" spc="0" dirty="0">
                <a:solidFill>
                  <a:schemeClr val="bg1"/>
                </a:solidFill>
                <a:effectLst/>
                <a:latin typeface="Udemy Sans"/>
                <a:ea typeface="Symbol" panose="05050102010706020507" pitchFamily="18" charset="2"/>
                <a:cs typeface="Symbol" panose="05050102010706020507" pitchFamily="18" charset="2"/>
              </a:rPr>
              <a:t> one method; which is called as “Main method”.</a:t>
            </a:r>
          </a:p>
          <a:p>
            <a:pPr marL="342900" lvl="0" indent="-342900">
              <a:spcBef>
                <a:spcPts val="0"/>
              </a:spcBef>
              <a:buSzPts val="1100"/>
              <a:buFont typeface="Symbol" panose="05050102010706020507" pitchFamily="18" charset="2"/>
              <a:buChar char=""/>
              <a:tabLst>
                <a:tab pos="652145" algn="l"/>
              </a:tabLst>
            </a:pPr>
            <a:endParaRPr lang="en-US" sz="7200" spc="0" dirty="0">
              <a:solidFill>
                <a:schemeClr val="bg1"/>
              </a:solidFill>
              <a:effectLst/>
              <a:latin typeface="Udemy Sans"/>
              <a:ea typeface="Symbol" panose="05050102010706020507" pitchFamily="18" charset="2"/>
              <a:cs typeface="Symbol" panose="05050102010706020507" pitchFamily="18" charset="2"/>
            </a:endParaRPr>
          </a:p>
          <a:p>
            <a:pPr marL="342900" lvl="0" indent="-342900">
              <a:spcBef>
                <a:spcPts val="0"/>
              </a:spcBef>
              <a:buSzPts val="1100"/>
              <a:buFont typeface="Symbol" panose="05050102010706020507" pitchFamily="18" charset="2"/>
              <a:buChar char=""/>
              <a:tabLst>
                <a:tab pos="652145" algn="l"/>
              </a:tabLst>
            </a:pPr>
            <a:r>
              <a:rPr lang="en-US" sz="7200" spc="0" dirty="0">
                <a:solidFill>
                  <a:schemeClr val="bg1"/>
                </a:solidFill>
                <a:effectLst/>
                <a:latin typeface="Udemy Sans"/>
                <a:ea typeface="Symbol" panose="05050102010706020507" pitchFamily="18" charset="2"/>
                <a:cs typeface="Symbol" panose="05050102010706020507" pitchFamily="18" charset="2"/>
              </a:rPr>
              <a:t>The “main method” name should be “Main”; “M” is capital letter.</a:t>
            </a:r>
          </a:p>
          <a:p>
            <a:pPr marL="342900" lvl="0" indent="-342900">
              <a:spcBef>
                <a:spcPts val="0"/>
              </a:spcBef>
              <a:buSzPts val="1100"/>
              <a:buFont typeface="Symbol" panose="05050102010706020507" pitchFamily="18" charset="2"/>
              <a:buChar char=""/>
              <a:tabLst>
                <a:tab pos="652145" algn="l"/>
              </a:tabLst>
            </a:pPr>
            <a:endParaRPr lang="en-US" sz="7200" spc="0" dirty="0">
              <a:solidFill>
                <a:schemeClr val="bg1"/>
              </a:solidFill>
              <a:effectLst/>
              <a:latin typeface="Udemy Sans"/>
              <a:ea typeface="Symbol" panose="05050102010706020507" pitchFamily="18" charset="2"/>
              <a:cs typeface="Symbol" panose="05050102010706020507" pitchFamily="18" charset="2"/>
            </a:endParaRPr>
          </a:p>
          <a:p>
            <a:pPr marL="342900" lvl="0" indent="-342900" algn="just">
              <a:spcBef>
                <a:spcPts val="0"/>
              </a:spcBef>
              <a:buSzPts val="1100"/>
              <a:buFont typeface="Symbol" panose="05050102010706020507" pitchFamily="18" charset="2"/>
              <a:buChar char=""/>
              <a:tabLst>
                <a:tab pos="652145" algn="l"/>
              </a:tabLst>
            </a:pPr>
            <a:r>
              <a:rPr lang="en-US" sz="7200" spc="0" dirty="0">
                <a:solidFill>
                  <a:schemeClr val="bg1"/>
                </a:solidFill>
                <a:effectLst/>
                <a:latin typeface="Udemy Sans"/>
                <a:ea typeface="Symbol" panose="05050102010706020507" pitchFamily="18" charset="2"/>
                <a:cs typeface="Symbol" panose="05050102010706020507" pitchFamily="18" charset="2"/>
              </a:rPr>
              <a:t>When the program execution starts the “Main” method will be automatically executed. Main method is the “starting point of the program execution”.</a:t>
            </a:r>
          </a:p>
          <a:p>
            <a:pPr marL="342900" lvl="0" indent="-342900" algn="just">
              <a:spcBef>
                <a:spcPts val="0"/>
              </a:spcBef>
              <a:buSzPts val="1100"/>
              <a:buFont typeface="Symbol" panose="05050102010706020507" pitchFamily="18" charset="2"/>
              <a:buChar char=""/>
              <a:tabLst>
                <a:tab pos="652145" algn="l"/>
              </a:tabLst>
            </a:pPr>
            <a:r>
              <a:rPr lang="en-US" sz="7200" spc="0" dirty="0">
                <a:solidFill>
                  <a:schemeClr val="bg1"/>
                </a:solidFill>
                <a:effectLst/>
                <a:latin typeface="Udemy Sans"/>
                <a:ea typeface="Symbol" panose="05050102010706020507" pitchFamily="18" charset="2"/>
                <a:cs typeface="Symbol" panose="05050102010706020507" pitchFamily="18" charset="2"/>
              </a:rPr>
              <a:t>The Main method should be “static” method, because it should be called without creating any object for the class</a:t>
            </a:r>
            <a:r>
              <a:rPr lang="en-US" sz="6400" spc="0" dirty="0">
                <a:solidFill>
                  <a:schemeClr val="bg1"/>
                </a:solidFill>
                <a:effectLst/>
                <a:latin typeface="Udemy Sans"/>
                <a:ea typeface="Symbol" panose="05050102010706020507" pitchFamily="18" charset="2"/>
                <a:cs typeface="Symbol" panose="05050102010706020507" pitchFamily="18" charset="2"/>
              </a:rPr>
              <a:t>.</a:t>
            </a:r>
          </a:p>
          <a:p>
            <a:pPr marL="342900" lvl="0" indent="-342900">
              <a:spcBef>
                <a:spcPts val="0"/>
              </a:spcBef>
              <a:buSzPts val="1100"/>
              <a:buFont typeface="Symbol" panose="05050102010706020507" pitchFamily="18" charset="2"/>
              <a:buChar char=""/>
              <a:tabLst>
                <a:tab pos="652145" algn="l"/>
              </a:tabLst>
            </a:pPr>
            <a:endParaRPr lang="en-US" sz="5600" spc="0" dirty="0">
              <a:solidFill>
                <a:schemeClr val="bg1"/>
              </a:solidFill>
              <a:effectLst/>
              <a:latin typeface="Udemy Sans"/>
              <a:ea typeface="Symbol" panose="05050102010706020507" pitchFamily="18" charset="2"/>
              <a:cs typeface="Symbol" panose="05050102010706020507" pitchFamily="18" charset="2"/>
            </a:endParaRPr>
          </a:p>
          <a:p>
            <a:pPr marL="0" lvl="0" indent="0">
              <a:spcBef>
                <a:spcPts val="0"/>
              </a:spcBef>
              <a:buSzPts val="1100"/>
              <a:buNone/>
              <a:tabLst>
                <a:tab pos="652145" algn="l"/>
              </a:tabLst>
            </a:pPr>
            <a:endParaRPr lang="en-US" sz="5600" spc="0" dirty="0">
              <a:solidFill>
                <a:schemeClr val="bg1"/>
              </a:solidFill>
              <a:effectLst/>
              <a:latin typeface="Udemy Sans"/>
              <a:ea typeface="Symbol" panose="05050102010706020507" pitchFamily="18" charset="2"/>
              <a:cs typeface="Symbol" panose="05050102010706020507" pitchFamily="18" charset="2"/>
            </a:endParaRPr>
          </a:p>
          <a:p>
            <a:pPr marL="0" indent="0">
              <a:buNone/>
            </a:pPr>
            <a:r>
              <a:rPr lang="en-US" sz="1800" spc="-30" dirty="0">
                <a:solidFill>
                  <a:schemeClr val="bg1"/>
                </a:solidFill>
                <a:effectLst/>
                <a:latin typeface="Arial MT"/>
                <a:ea typeface="Arial MT"/>
                <a:cs typeface="Arial MT"/>
              </a:rPr>
              <a:t>.</a:t>
            </a:r>
            <a:endParaRPr lang="en-IN" sz="2000" b="1" dirty="0">
              <a:solidFill>
                <a:schemeClr val="bg1"/>
              </a:solidFill>
              <a:effectLst/>
              <a:latin typeface="Arial MT"/>
              <a:ea typeface="Arial MT"/>
              <a:cs typeface="Arial MT"/>
            </a:endParaRPr>
          </a:p>
          <a:p>
            <a:pPr marR="464185">
              <a:lnSpc>
                <a:spcPct val="170000"/>
              </a:lnSpc>
              <a:spcBef>
                <a:spcPts val="740"/>
              </a:spcBef>
              <a:buSzPct val="123000"/>
              <a:buFont typeface="Wingdings" panose="05000000000000000000" pitchFamily="2" charset="2"/>
              <a:buChar char="§"/>
              <a:tabLst>
                <a:tab pos="652145" algn="l"/>
              </a:tabLst>
            </a:pPr>
            <a:endParaRPr lang="en-IN" dirty="0">
              <a:solidFill>
                <a:schemeClr val="bg1"/>
              </a:solidFill>
            </a:endParaRPr>
          </a:p>
        </p:txBody>
      </p:sp>
      <p:sp>
        <p:nvSpPr>
          <p:cNvPr id="3" name="Rectangle: Rounded Corners 2">
            <a:extLst>
              <a:ext uri="{FF2B5EF4-FFF2-40B4-BE49-F238E27FC236}">
                <a16:creationId xmlns:a16="http://schemas.microsoft.com/office/drawing/2014/main" id="{89C516AD-DC47-471F-89CE-C024EAF802A6}"/>
              </a:ext>
            </a:extLst>
          </p:cNvPr>
          <p:cNvSpPr/>
          <p:nvPr/>
        </p:nvSpPr>
        <p:spPr>
          <a:xfrm>
            <a:off x="8856448" y="5523978"/>
            <a:ext cx="2667498" cy="1227551"/>
          </a:xfrm>
          <a:prstGeom prst="roundRect">
            <a:avLst/>
          </a:prstGeom>
          <a:solidFill>
            <a:srgbClr val="0070C0"/>
          </a:solidFill>
          <a:ln>
            <a:solidFill>
              <a:srgbClr val="0070C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lvl="0" indent="0">
              <a:spcBef>
                <a:spcPts val="0"/>
              </a:spcBef>
              <a:buSzPts val="1100"/>
              <a:buNone/>
              <a:tabLst>
                <a:tab pos="652145" algn="l"/>
              </a:tabLst>
            </a:pPr>
            <a:endParaRPr lang="en-US" sz="1800" b="1" spc="0" dirty="0">
              <a:solidFill>
                <a:schemeClr val="tx1"/>
              </a:solidFill>
              <a:effectLst/>
              <a:latin typeface="Udemy Sans"/>
              <a:ea typeface="Symbol" panose="05050102010706020507" pitchFamily="18" charset="2"/>
              <a:cs typeface="Symbol" panose="05050102010706020507" pitchFamily="18" charset="2"/>
            </a:endParaRPr>
          </a:p>
          <a:p>
            <a:pPr marL="0" lvl="0" indent="0">
              <a:spcBef>
                <a:spcPts val="0"/>
              </a:spcBef>
              <a:buSzPts val="1100"/>
              <a:buNone/>
              <a:tabLst>
                <a:tab pos="652145" algn="l"/>
              </a:tabLst>
            </a:pPr>
            <a:r>
              <a:rPr lang="en-US" sz="1800" b="1" spc="0" dirty="0">
                <a:solidFill>
                  <a:schemeClr val="tx1"/>
                </a:solidFill>
                <a:effectLst/>
                <a:latin typeface="Udemy Sans"/>
                <a:ea typeface="Symbol" panose="05050102010706020507" pitchFamily="18" charset="2"/>
                <a:cs typeface="Symbol" panose="05050102010706020507" pitchFamily="18" charset="2"/>
              </a:rPr>
              <a:t>Syntax:</a:t>
            </a:r>
          </a:p>
          <a:p>
            <a:pPr marL="0" lvl="0" indent="0">
              <a:spcBef>
                <a:spcPts val="0"/>
              </a:spcBef>
              <a:buSzPts val="1100"/>
              <a:buNone/>
              <a:tabLst>
                <a:tab pos="652145" algn="l"/>
              </a:tabLst>
            </a:pPr>
            <a:r>
              <a:rPr lang="en-US" sz="1800" spc="0" dirty="0">
                <a:solidFill>
                  <a:schemeClr val="tx1"/>
                </a:solidFill>
                <a:effectLst/>
                <a:latin typeface="Udemy Sans"/>
                <a:ea typeface="Symbol" panose="05050102010706020507" pitchFamily="18" charset="2"/>
                <a:cs typeface="Symbol" panose="05050102010706020507" pitchFamily="18" charset="2"/>
              </a:rPr>
              <a:t>class </a:t>
            </a:r>
            <a:r>
              <a:rPr lang="en-US" sz="1800" spc="0" dirty="0" err="1">
                <a:solidFill>
                  <a:schemeClr val="tx1"/>
                </a:solidFill>
                <a:effectLst/>
                <a:latin typeface="Udemy Sans"/>
                <a:ea typeface="Symbol" panose="05050102010706020507" pitchFamily="18" charset="2"/>
                <a:cs typeface="Symbol" panose="05050102010706020507" pitchFamily="18" charset="2"/>
              </a:rPr>
              <a:t>classname</a:t>
            </a:r>
            <a:endParaRPr lang="en-US" sz="1800" spc="0" dirty="0">
              <a:solidFill>
                <a:schemeClr val="tx1"/>
              </a:solidFill>
              <a:effectLst/>
              <a:latin typeface="Udemy Sans"/>
              <a:ea typeface="Symbol" panose="05050102010706020507" pitchFamily="18" charset="2"/>
              <a:cs typeface="Symbol" panose="05050102010706020507" pitchFamily="18" charset="2"/>
            </a:endParaRPr>
          </a:p>
          <a:p>
            <a:pPr marL="0" lvl="0" indent="0">
              <a:spcBef>
                <a:spcPts val="0"/>
              </a:spcBef>
              <a:buSzPts val="1100"/>
              <a:buNone/>
              <a:tabLst>
                <a:tab pos="652145" algn="l"/>
              </a:tabLst>
            </a:pPr>
            <a:r>
              <a:rPr lang="en-US" sz="1800" spc="0" dirty="0">
                <a:solidFill>
                  <a:schemeClr val="tx1"/>
                </a:solidFill>
                <a:effectLst/>
                <a:latin typeface="Udemy Sans"/>
                <a:ea typeface="Symbol" panose="05050102010706020507" pitchFamily="18" charset="2"/>
                <a:cs typeface="Symbol" panose="05050102010706020507" pitchFamily="18" charset="2"/>
              </a:rPr>
              <a:t>{  static void Main()</a:t>
            </a:r>
          </a:p>
          <a:p>
            <a:pPr marL="0" lvl="0" indent="0">
              <a:spcBef>
                <a:spcPts val="0"/>
              </a:spcBef>
              <a:buSzPts val="1100"/>
              <a:buNone/>
              <a:tabLst>
                <a:tab pos="652145" algn="l"/>
              </a:tabLst>
            </a:pPr>
            <a:r>
              <a:rPr lang="en-US" sz="1800" spc="0" dirty="0">
                <a:solidFill>
                  <a:schemeClr val="tx1"/>
                </a:solidFill>
                <a:effectLst/>
                <a:latin typeface="Udemy Sans"/>
                <a:ea typeface="Symbol" panose="05050102010706020507" pitchFamily="18" charset="2"/>
                <a:cs typeface="Symbol" panose="05050102010706020507" pitchFamily="18" charset="2"/>
              </a:rPr>
              <a:t>{ } }</a:t>
            </a:r>
          </a:p>
          <a:p>
            <a:pPr algn="ctr"/>
            <a:endParaRPr lang="en-IN" dirty="0"/>
          </a:p>
        </p:txBody>
      </p:sp>
    </p:spTree>
    <p:extLst>
      <p:ext uri="{BB962C8B-B14F-4D97-AF65-F5344CB8AC3E}">
        <p14:creationId xmlns:p14="http://schemas.microsoft.com/office/powerpoint/2010/main" val="2457240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6B930-F979-4AEF-811C-4EF882B50BDE}"/>
              </a:ext>
            </a:extLst>
          </p:cNvPr>
          <p:cNvSpPr>
            <a:spLocks noGrp="1"/>
          </p:cNvSpPr>
          <p:nvPr>
            <p:ph type="title"/>
          </p:nvPr>
        </p:nvSpPr>
        <p:spPr>
          <a:xfrm>
            <a:off x="1141413" y="618518"/>
            <a:ext cx="9905998" cy="659676"/>
          </a:xfrm>
          <a:solidFill>
            <a:schemeClr val="tx1"/>
          </a:solidFill>
        </p:spPr>
        <p:txBody>
          <a:bodyPr>
            <a:normAutofit fontScale="90000"/>
          </a:bodyPr>
          <a:lstStyle/>
          <a:p>
            <a:br>
              <a:rPr lang="en-IN" sz="1800" b="1" dirty="0">
                <a:solidFill>
                  <a:schemeClr val="bg1"/>
                </a:solidFill>
                <a:effectLst/>
                <a:latin typeface="Arial" panose="020B0604020202020204" pitchFamily="34" charset="0"/>
                <a:ea typeface="Arial" panose="020B0604020202020204" pitchFamily="34" charset="0"/>
              </a:rPr>
            </a:br>
            <a:r>
              <a:rPr lang="en-US" sz="1800" b="1" spc="-10" dirty="0">
                <a:solidFill>
                  <a:schemeClr val="bg1"/>
                </a:solidFill>
                <a:effectLst/>
                <a:latin typeface="Arial" panose="020B0604020202020204" pitchFamily="34" charset="0"/>
                <a:ea typeface="Arial" panose="020B0604020202020204" pitchFamily="34" charset="0"/>
              </a:rPr>
              <a:t>Variables</a:t>
            </a:r>
            <a:br>
              <a:rPr lang="en-IN" sz="1800" b="1" dirty="0">
                <a:effectLst/>
                <a:latin typeface="Arial" panose="020B0604020202020204" pitchFamily="34" charset="0"/>
                <a:ea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29FF5853-6E4C-4936-BAE8-B8B3F0904126}"/>
              </a:ext>
            </a:extLst>
          </p:cNvPr>
          <p:cNvSpPr>
            <a:spLocks noGrp="1"/>
          </p:cNvSpPr>
          <p:nvPr>
            <p:ph idx="1"/>
          </p:nvPr>
        </p:nvSpPr>
        <p:spPr>
          <a:xfrm>
            <a:off x="1141413" y="1278194"/>
            <a:ext cx="10165684" cy="5319251"/>
          </a:xfrm>
        </p:spPr>
        <p:txBody>
          <a:bodyPr>
            <a:noAutofit/>
          </a:bodyPr>
          <a:lstStyle/>
          <a:p>
            <a:pPr algn="just"/>
            <a:r>
              <a:rPr lang="en-US" sz="1600" dirty="0">
                <a:solidFill>
                  <a:schemeClr val="bg1"/>
                </a:solidFill>
                <a:latin typeface="Udemy Sans"/>
              </a:rPr>
              <a:t>A variable is a named memory location in RAM, to store a particular type of value temporarily while the program is running.</a:t>
            </a:r>
          </a:p>
          <a:p>
            <a:pPr algn="just"/>
            <a:r>
              <a:rPr lang="en-US" sz="1600" dirty="0">
                <a:solidFill>
                  <a:schemeClr val="bg1"/>
                </a:solidFill>
                <a:latin typeface="Udemy Sans"/>
              </a:rPr>
              <a:t>All the variables stored in RAM (temporary memory).</a:t>
            </a:r>
          </a:p>
          <a:p>
            <a:pPr algn="just"/>
            <a:r>
              <a:rPr lang="en-US" sz="1600" dirty="0">
                <a:solidFill>
                  <a:schemeClr val="bg1"/>
                </a:solidFill>
                <a:latin typeface="Udemy Sans"/>
              </a:rPr>
              <a:t>All the variables must be declared before its usage. While declaring variables, data type is to be specified. Based on the data type, the amount of memory to be allocated will be decided. Once a variable is declared, we can’t change the “variable name” or “variable’s data type”.</a:t>
            </a:r>
          </a:p>
          <a:p>
            <a:pPr algn="just"/>
            <a:r>
              <a:rPr lang="en-US" sz="1600" dirty="0">
                <a:solidFill>
                  <a:schemeClr val="bg1"/>
                </a:solidFill>
                <a:latin typeface="Udemy Sans"/>
              </a:rPr>
              <a:t>The variables memory will be allocated when the program execution starts; and all the variables will be deleted (de-allocated) from memory automatically, at the end of the program.</a:t>
            </a:r>
          </a:p>
          <a:p>
            <a:pPr algn="just"/>
            <a:r>
              <a:rPr lang="en-US" sz="1600" dirty="0">
                <a:solidFill>
                  <a:schemeClr val="bg1"/>
                </a:solidFill>
                <a:latin typeface="Udemy Sans"/>
              </a:rPr>
              <a:t>A variable can store only one value. If you assign another value, the old value will be overwritten.</a:t>
            </a:r>
          </a:p>
          <a:p>
            <a:pPr algn="just"/>
            <a:r>
              <a:rPr lang="en-US" sz="1600" dirty="0">
                <a:solidFill>
                  <a:schemeClr val="bg1"/>
                </a:solidFill>
                <a:latin typeface="Udemy Sans"/>
              </a:rPr>
              <a:t>We can change the value of a variable any no. of times.</a:t>
            </a:r>
          </a:p>
          <a:p>
            <a:pPr algn="just"/>
            <a:r>
              <a:rPr lang="en-US" sz="1600" b="1" dirty="0">
                <a:solidFill>
                  <a:schemeClr val="bg1"/>
                </a:solidFill>
                <a:latin typeface="Udemy Sans"/>
              </a:rPr>
              <a:t>Syntax to create a variable</a:t>
            </a:r>
            <a:r>
              <a:rPr lang="en-US" sz="1600" dirty="0">
                <a:solidFill>
                  <a:schemeClr val="bg1"/>
                </a:solidFill>
                <a:latin typeface="Udemy Sans"/>
              </a:rPr>
              <a:t>:</a:t>
            </a:r>
          </a:p>
          <a:p>
            <a:pPr marL="0" indent="0" algn="just">
              <a:buNone/>
            </a:pPr>
            <a:r>
              <a:rPr lang="en-US" sz="1600" dirty="0">
                <a:solidFill>
                  <a:schemeClr val="bg1"/>
                </a:solidFill>
                <a:latin typeface="Udemy Sans"/>
              </a:rPr>
              <a:t>	</a:t>
            </a:r>
            <a:r>
              <a:rPr lang="en-US" sz="1600" dirty="0">
                <a:solidFill>
                  <a:srgbClr val="0070C0"/>
                </a:solidFill>
                <a:latin typeface="Udemy Sans"/>
              </a:rPr>
              <a:t>datatype </a:t>
            </a:r>
            <a:r>
              <a:rPr lang="en-US" sz="1600" dirty="0" err="1">
                <a:solidFill>
                  <a:srgbClr val="0070C0"/>
                </a:solidFill>
                <a:latin typeface="Udemy Sans"/>
              </a:rPr>
              <a:t>variablename</a:t>
            </a:r>
            <a:r>
              <a:rPr lang="en-US" sz="1600" dirty="0">
                <a:solidFill>
                  <a:srgbClr val="0070C0"/>
                </a:solidFill>
                <a:latin typeface="Udemy Sans"/>
              </a:rPr>
              <a:t> </a:t>
            </a:r>
            <a:r>
              <a:rPr lang="en-US" sz="1600" dirty="0">
                <a:solidFill>
                  <a:schemeClr val="bg2">
                    <a:lumMod val="60000"/>
                    <a:lumOff val="40000"/>
                  </a:schemeClr>
                </a:solidFill>
                <a:latin typeface="Udemy Sans"/>
              </a:rPr>
              <a:t>;</a:t>
            </a:r>
          </a:p>
          <a:p>
            <a:pPr algn="just"/>
            <a:r>
              <a:rPr lang="en-US" sz="1600" b="1" dirty="0">
                <a:solidFill>
                  <a:schemeClr val="bg1"/>
                </a:solidFill>
                <a:latin typeface="Udemy Sans"/>
              </a:rPr>
              <a:t>Syntax to set value into a variable</a:t>
            </a:r>
            <a:r>
              <a:rPr lang="en-US" sz="1600" dirty="0">
                <a:solidFill>
                  <a:schemeClr val="bg1"/>
                </a:solidFill>
                <a:latin typeface="Udemy Sans"/>
              </a:rPr>
              <a:t>:</a:t>
            </a:r>
          </a:p>
          <a:p>
            <a:pPr marL="0" indent="0" algn="just">
              <a:buNone/>
            </a:pPr>
            <a:r>
              <a:rPr lang="en-US" sz="1600" dirty="0">
                <a:solidFill>
                  <a:schemeClr val="bg1"/>
                </a:solidFill>
                <a:latin typeface="Udemy Sans"/>
              </a:rPr>
              <a:t>	</a:t>
            </a:r>
            <a:r>
              <a:rPr lang="en-US" sz="1600" dirty="0" err="1">
                <a:solidFill>
                  <a:srgbClr val="0070C0"/>
                </a:solidFill>
                <a:latin typeface="Udemy Sans"/>
              </a:rPr>
              <a:t>variablename</a:t>
            </a:r>
            <a:r>
              <a:rPr lang="en-US" sz="1600" dirty="0">
                <a:solidFill>
                  <a:srgbClr val="0070C0"/>
                </a:solidFill>
                <a:latin typeface="Udemy Sans"/>
              </a:rPr>
              <a:t> = value ;</a:t>
            </a:r>
          </a:p>
          <a:p>
            <a:pPr algn="just"/>
            <a:endParaRPr lang="en-IN" sz="1600" dirty="0">
              <a:solidFill>
                <a:schemeClr val="bg1"/>
              </a:solidFill>
              <a:latin typeface="Udemy Sans"/>
            </a:endParaRPr>
          </a:p>
        </p:txBody>
      </p:sp>
    </p:spTree>
    <p:extLst>
      <p:ext uri="{BB962C8B-B14F-4D97-AF65-F5344CB8AC3E}">
        <p14:creationId xmlns:p14="http://schemas.microsoft.com/office/powerpoint/2010/main" val="1534621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B8BE2-295F-4DFC-BC06-3AE5A453B2E0}"/>
              </a:ext>
            </a:extLst>
          </p:cNvPr>
          <p:cNvSpPr>
            <a:spLocks noGrp="1"/>
          </p:cNvSpPr>
          <p:nvPr>
            <p:ph type="title"/>
          </p:nvPr>
        </p:nvSpPr>
        <p:spPr>
          <a:xfrm>
            <a:off x="846446" y="228600"/>
            <a:ext cx="9905998" cy="587477"/>
          </a:xfrm>
        </p:spPr>
        <p:txBody>
          <a:bodyPr/>
          <a:lstStyle/>
          <a:p>
            <a:r>
              <a:rPr lang="en-IN" dirty="0">
                <a:solidFill>
                  <a:schemeClr val="bg1"/>
                </a:solidFill>
                <a:latin typeface="Udemy Sans"/>
              </a:rPr>
              <a:t>Data Types</a:t>
            </a:r>
          </a:p>
        </p:txBody>
      </p:sp>
      <p:sp>
        <p:nvSpPr>
          <p:cNvPr id="3" name="Content Placeholder 2">
            <a:extLst>
              <a:ext uri="{FF2B5EF4-FFF2-40B4-BE49-F238E27FC236}">
                <a16:creationId xmlns:a16="http://schemas.microsoft.com/office/drawing/2014/main" id="{3F94B3BC-1711-406B-AD8C-8F0A2E0EFDB1}"/>
              </a:ext>
            </a:extLst>
          </p:cNvPr>
          <p:cNvSpPr>
            <a:spLocks noGrp="1"/>
          </p:cNvSpPr>
          <p:nvPr>
            <p:ph idx="1"/>
          </p:nvPr>
        </p:nvSpPr>
        <p:spPr>
          <a:xfrm>
            <a:off x="1033258" y="1376515"/>
            <a:ext cx="4728446" cy="1848466"/>
          </a:xfrm>
        </p:spPr>
        <p:txBody>
          <a:bodyPr/>
          <a:lstStyle/>
          <a:p>
            <a:r>
              <a:rPr lang="en-US" sz="1400" dirty="0">
                <a:solidFill>
                  <a:schemeClr val="bg1"/>
                </a:solidFill>
                <a:effectLst/>
                <a:latin typeface="Udemy Sans"/>
                <a:ea typeface="Arial MT"/>
                <a:cs typeface="Arial MT"/>
              </a:rPr>
              <a:t>A data type is a concept, which specifies the type of the data that is to be stored in a </a:t>
            </a:r>
            <a:r>
              <a:rPr lang="en-US" sz="1400" spc="-10" dirty="0">
                <a:solidFill>
                  <a:schemeClr val="bg1"/>
                </a:solidFill>
                <a:effectLst/>
                <a:latin typeface="Udemy Sans"/>
                <a:ea typeface="Arial MT"/>
                <a:cs typeface="Arial MT"/>
              </a:rPr>
              <a:t>variable</a:t>
            </a:r>
          </a:p>
          <a:p>
            <a:r>
              <a:rPr kumimoji="0" lang="en-US" altLang="en-US" sz="1400" b="0" i="0" u="none" strike="noStrike" cap="none" normalizeH="0" baseline="0" dirty="0">
                <a:ln>
                  <a:noFill/>
                </a:ln>
                <a:solidFill>
                  <a:schemeClr val="bg1"/>
                </a:solidFill>
                <a:effectLst/>
                <a:latin typeface="Udemy Sans"/>
                <a:ea typeface="Arial MT"/>
                <a:cs typeface="Arial MT"/>
              </a:rPr>
              <a:t>Types of Data types</a:t>
            </a:r>
          </a:p>
          <a:p>
            <a:pPr marL="914400" lvl="2" indent="0">
              <a:buSzPts val="1100"/>
              <a:buNone/>
              <a:tabLst>
                <a:tab pos="1109345" algn="l"/>
              </a:tabLst>
            </a:pPr>
            <a:r>
              <a:rPr lang="en-US" sz="1400" spc="0" dirty="0">
                <a:solidFill>
                  <a:schemeClr val="bg1"/>
                </a:solidFill>
                <a:effectLst/>
                <a:latin typeface="Udemy Sans"/>
                <a:ea typeface="Arial MT"/>
                <a:cs typeface="Arial MT"/>
              </a:rPr>
              <a:t>Numerical</a:t>
            </a:r>
            <a:r>
              <a:rPr lang="en-US" sz="1400" spc="85" dirty="0">
                <a:solidFill>
                  <a:schemeClr val="bg1"/>
                </a:solidFill>
                <a:effectLst/>
                <a:latin typeface="Udemy Sans"/>
                <a:ea typeface="Arial MT"/>
                <a:cs typeface="Arial MT"/>
              </a:rPr>
              <a:t> </a:t>
            </a:r>
            <a:r>
              <a:rPr lang="en-US" sz="1400" spc="0" dirty="0">
                <a:solidFill>
                  <a:schemeClr val="bg1"/>
                </a:solidFill>
                <a:effectLst/>
                <a:latin typeface="Udemy Sans"/>
                <a:ea typeface="Arial MT"/>
                <a:cs typeface="Arial MT"/>
              </a:rPr>
              <a:t>data</a:t>
            </a:r>
            <a:r>
              <a:rPr lang="en-US" sz="1400" spc="90"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types</a:t>
            </a:r>
            <a:endParaRPr lang="en-IN" sz="1400" spc="0" dirty="0">
              <a:solidFill>
                <a:schemeClr val="bg1"/>
              </a:solidFill>
              <a:effectLst/>
              <a:latin typeface="Udemy Sans"/>
              <a:ea typeface="Arial MT"/>
              <a:cs typeface="Arial MT"/>
            </a:endParaRPr>
          </a:p>
          <a:p>
            <a:pPr marL="0" indent="0">
              <a:spcBef>
                <a:spcPts val="205"/>
              </a:spcBef>
              <a:buNone/>
            </a:pPr>
            <a:r>
              <a:rPr lang="en-US" sz="140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Non-numerical</a:t>
            </a:r>
            <a:r>
              <a:rPr lang="en-US" sz="1400" spc="-4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data</a:t>
            </a:r>
            <a:r>
              <a:rPr lang="en-US" sz="1400" spc="-4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types</a:t>
            </a:r>
            <a:endParaRPr lang="en-IN" sz="1400" spc="0" dirty="0">
              <a:solidFill>
                <a:schemeClr val="bg1"/>
              </a:solidFill>
              <a:effectLst/>
              <a:latin typeface="Udemy Sans"/>
              <a:ea typeface="Arial MT"/>
              <a:cs typeface="Arial MT"/>
            </a:endParaRPr>
          </a:p>
          <a:p>
            <a:pPr marL="457200" lvl="1" indent="0">
              <a:buNone/>
            </a:pPr>
            <a:endParaRPr lang="en-US" sz="1400" spc="-10" dirty="0">
              <a:solidFill>
                <a:schemeClr val="bg1"/>
              </a:solidFill>
              <a:effectLst/>
              <a:latin typeface="Arial MT"/>
              <a:ea typeface="Arial MT"/>
              <a:cs typeface="Arial MT"/>
            </a:endParaRPr>
          </a:p>
          <a:p>
            <a:endParaRPr lang="en-IN" dirty="0">
              <a:solidFill>
                <a:srgbClr val="0070C0"/>
              </a:solidFill>
            </a:endParaRPr>
          </a:p>
        </p:txBody>
      </p:sp>
      <p:graphicFrame>
        <p:nvGraphicFramePr>
          <p:cNvPr id="13" name="Table 12">
            <a:extLst>
              <a:ext uri="{FF2B5EF4-FFF2-40B4-BE49-F238E27FC236}">
                <a16:creationId xmlns:a16="http://schemas.microsoft.com/office/drawing/2014/main" id="{08189301-F368-40A7-8F05-5D655FAFD061}"/>
              </a:ext>
            </a:extLst>
          </p:cNvPr>
          <p:cNvGraphicFramePr>
            <a:graphicFrameLocks noGrp="1"/>
          </p:cNvGraphicFramePr>
          <p:nvPr>
            <p:extLst>
              <p:ext uri="{D42A27DB-BD31-4B8C-83A1-F6EECF244321}">
                <p14:modId xmlns:p14="http://schemas.microsoft.com/office/powerpoint/2010/main" val="4101738323"/>
              </p:ext>
            </p:extLst>
          </p:nvPr>
        </p:nvGraphicFramePr>
        <p:xfrm>
          <a:off x="5947913" y="1285927"/>
          <a:ext cx="5968783" cy="3977474"/>
        </p:xfrm>
        <a:graphic>
          <a:graphicData uri="http://schemas.openxmlformats.org/drawingml/2006/table">
            <a:tbl>
              <a:tblPr firstRow="1" firstCol="1" lastRow="1" lastCol="1" bandRow="1" bandCol="1"/>
              <a:tblGrid>
                <a:gridCol w="393415">
                  <a:extLst>
                    <a:ext uri="{9D8B030D-6E8A-4147-A177-3AD203B41FA5}">
                      <a16:colId xmlns:a16="http://schemas.microsoft.com/office/drawing/2014/main" val="3377290709"/>
                    </a:ext>
                  </a:extLst>
                </a:gridCol>
                <a:gridCol w="677375">
                  <a:extLst>
                    <a:ext uri="{9D8B030D-6E8A-4147-A177-3AD203B41FA5}">
                      <a16:colId xmlns:a16="http://schemas.microsoft.com/office/drawing/2014/main" val="3065863920"/>
                    </a:ext>
                  </a:extLst>
                </a:gridCol>
                <a:gridCol w="901291">
                  <a:extLst>
                    <a:ext uri="{9D8B030D-6E8A-4147-A177-3AD203B41FA5}">
                      <a16:colId xmlns:a16="http://schemas.microsoft.com/office/drawing/2014/main" val="445390807"/>
                    </a:ext>
                  </a:extLst>
                </a:gridCol>
                <a:gridCol w="562916">
                  <a:extLst>
                    <a:ext uri="{9D8B030D-6E8A-4147-A177-3AD203B41FA5}">
                      <a16:colId xmlns:a16="http://schemas.microsoft.com/office/drawing/2014/main" val="729539588"/>
                    </a:ext>
                  </a:extLst>
                </a:gridCol>
                <a:gridCol w="2477455">
                  <a:extLst>
                    <a:ext uri="{9D8B030D-6E8A-4147-A177-3AD203B41FA5}">
                      <a16:colId xmlns:a16="http://schemas.microsoft.com/office/drawing/2014/main" val="2079256937"/>
                    </a:ext>
                  </a:extLst>
                </a:gridCol>
                <a:gridCol w="956331">
                  <a:extLst>
                    <a:ext uri="{9D8B030D-6E8A-4147-A177-3AD203B41FA5}">
                      <a16:colId xmlns:a16="http://schemas.microsoft.com/office/drawing/2014/main" val="1395503771"/>
                    </a:ext>
                  </a:extLst>
                </a:gridCol>
              </a:tblGrid>
              <a:tr h="656955">
                <a:tc>
                  <a:txBody>
                    <a:bodyPr/>
                    <a:lstStyle/>
                    <a:p>
                      <a:pPr marL="112395" marR="106680" indent="16510">
                        <a:lnSpc>
                          <a:spcPct val="145000"/>
                        </a:lnSpc>
                        <a:spcBef>
                          <a:spcPts val="215"/>
                        </a:spcBef>
                        <a:spcAft>
                          <a:spcPts val="0"/>
                        </a:spcAft>
                      </a:pPr>
                      <a:r>
                        <a:rPr lang="en-US" sz="1200" spc="-40" dirty="0">
                          <a:solidFill>
                            <a:schemeClr val="bg1"/>
                          </a:solidFill>
                          <a:effectLst/>
                          <a:latin typeface="Udemy Sans"/>
                          <a:ea typeface="Arial MT"/>
                          <a:cs typeface="Arial MT"/>
                        </a:rPr>
                        <a:t>Sl. </a:t>
                      </a:r>
                      <a:r>
                        <a:rPr lang="en-US" sz="1200" spc="-50" dirty="0">
                          <a:solidFill>
                            <a:schemeClr val="bg1"/>
                          </a:solidFill>
                          <a:effectLst/>
                          <a:latin typeface="Udemy Sans"/>
                          <a:ea typeface="Arial MT"/>
                          <a:cs typeface="Arial MT"/>
                        </a:rPr>
                        <a:t>No</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tc>
                  <a:txBody>
                    <a:bodyPr/>
                    <a:lstStyle/>
                    <a:p>
                      <a:pPr marL="200660" marR="186690" indent="1270">
                        <a:lnSpc>
                          <a:spcPct val="145000"/>
                        </a:lnSpc>
                        <a:spcBef>
                          <a:spcPts val="215"/>
                        </a:spcBef>
                        <a:spcAft>
                          <a:spcPts val="0"/>
                        </a:spcAft>
                      </a:pPr>
                      <a:r>
                        <a:rPr lang="en-US" sz="1200" spc="-30" dirty="0">
                          <a:solidFill>
                            <a:schemeClr val="bg1"/>
                          </a:solidFill>
                          <a:effectLst/>
                          <a:latin typeface="Udemy Sans"/>
                          <a:ea typeface="Arial MT"/>
                          <a:cs typeface="Arial MT"/>
                        </a:rPr>
                        <a:t>Data </a:t>
                      </a:r>
                      <a:r>
                        <a:rPr lang="en-US" sz="1200" spc="-20" dirty="0">
                          <a:solidFill>
                            <a:schemeClr val="bg1"/>
                          </a:solidFill>
                          <a:effectLst/>
                          <a:latin typeface="Udemy Sans"/>
                          <a:ea typeface="Arial MT"/>
                          <a:cs typeface="Arial MT"/>
                        </a:rPr>
                        <a:t>Type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tc>
                  <a:txBody>
                    <a:bodyPr/>
                    <a:lstStyle/>
                    <a:p>
                      <a:pPr marL="120650">
                        <a:spcBef>
                          <a:spcPts val="215"/>
                        </a:spcBef>
                      </a:pPr>
                      <a:r>
                        <a:rPr lang="en-US" sz="1200" spc="-10">
                          <a:solidFill>
                            <a:schemeClr val="bg1"/>
                          </a:solidFill>
                          <a:effectLst/>
                          <a:latin typeface="Udemy Sans"/>
                          <a:ea typeface="Arial MT"/>
                          <a:cs typeface="Arial MT"/>
                        </a:rPr>
                        <a:t>Description</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tc>
                  <a:txBody>
                    <a:bodyPr/>
                    <a:lstStyle/>
                    <a:p>
                      <a:pPr marL="120650" marR="99060" indent="-12700">
                        <a:lnSpc>
                          <a:spcPct val="145000"/>
                        </a:lnSpc>
                        <a:spcBef>
                          <a:spcPts val="215"/>
                        </a:spcBef>
                        <a:spcAft>
                          <a:spcPts val="0"/>
                        </a:spcAft>
                      </a:pPr>
                      <a:r>
                        <a:rPr lang="en-US" sz="1200" spc="-30">
                          <a:solidFill>
                            <a:schemeClr val="bg1"/>
                          </a:solidFill>
                          <a:effectLst/>
                          <a:latin typeface="Udemy Sans"/>
                          <a:ea typeface="Arial MT"/>
                          <a:cs typeface="Arial MT"/>
                        </a:rPr>
                        <a:t>No.</a:t>
                      </a:r>
                      <a:r>
                        <a:rPr lang="en-US" sz="1200" spc="-65">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of Bytes</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tc>
                  <a:txBody>
                    <a:bodyPr/>
                    <a:lstStyle/>
                    <a:p>
                      <a:pPr marL="3810" algn="ctr">
                        <a:spcBef>
                          <a:spcPts val="215"/>
                        </a:spcBef>
                      </a:pPr>
                      <a:r>
                        <a:rPr lang="en-US" sz="1200" spc="-20">
                          <a:solidFill>
                            <a:schemeClr val="bg1"/>
                          </a:solidFill>
                          <a:effectLst/>
                          <a:latin typeface="Udemy Sans"/>
                          <a:ea typeface="Arial MT"/>
                          <a:cs typeface="Arial MT"/>
                        </a:rPr>
                        <a:t>Range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tc>
                  <a:txBody>
                    <a:bodyPr/>
                    <a:lstStyle/>
                    <a:p>
                      <a:pPr marL="332740" marR="158115" indent="-166370">
                        <a:lnSpc>
                          <a:spcPct val="145000"/>
                        </a:lnSpc>
                        <a:spcBef>
                          <a:spcPts val="215"/>
                        </a:spcBef>
                        <a:spcAft>
                          <a:spcPts val="0"/>
                        </a:spcAft>
                      </a:pPr>
                      <a:r>
                        <a:rPr lang="en-US" sz="1200" spc="-20">
                          <a:solidFill>
                            <a:schemeClr val="bg1"/>
                          </a:solidFill>
                          <a:effectLst/>
                          <a:latin typeface="Udemy Sans"/>
                          <a:ea typeface="Arial MT"/>
                          <a:cs typeface="Arial MT"/>
                        </a:rPr>
                        <a:t>Suitable</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to </a:t>
                      </a:r>
                      <a:r>
                        <a:rPr lang="en-US" sz="1200" spc="-10">
                          <a:solidFill>
                            <a:schemeClr val="bg1"/>
                          </a:solidFill>
                          <a:effectLst/>
                          <a:latin typeface="Udemy Sans"/>
                          <a:ea typeface="Arial MT"/>
                          <a:cs typeface="Arial MT"/>
                        </a:rPr>
                        <a:t>store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extLst>
                  <a:ext uri="{0D108BD9-81ED-4DB2-BD59-A6C34878D82A}">
                    <a16:rowId xmlns:a16="http://schemas.microsoft.com/office/drawing/2014/main" val="877676183"/>
                  </a:ext>
                </a:extLst>
              </a:tr>
              <a:tr h="884638">
                <a:tc>
                  <a:txBody>
                    <a:bodyPr/>
                    <a:lstStyle/>
                    <a:p>
                      <a:pPr marL="5715" marR="635" algn="ctr">
                        <a:spcBef>
                          <a:spcPts val="205"/>
                        </a:spcBef>
                        <a:spcAft>
                          <a:spcPts val="0"/>
                        </a:spcAft>
                      </a:pPr>
                      <a:r>
                        <a:rPr lang="en-US" sz="1200" spc="-50">
                          <a:solidFill>
                            <a:schemeClr val="bg1"/>
                          </a:solidFill>
                          <a:effectLst/>
                          <a:latin typeface="Udemy Sans"/>
                          <a:ea typeface="Arial MT"/>
                          <a:cs typeface="Arial MT"/>
                        </a:rPr>
                        <a:t>1</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05"/>
                        </a:spcBef>
                      </a:pPr>
                      <a:r>
                        <a:rPr lang="en-US" sz="1200" spc="-10" dirty="0" err="1">
                          <a:solidFill>
                            <a:schemeClr val="bg1"/>
                          </a:solidFill>
                          <a:effectLst/>
                          <a:latin typeface="Udemy Sans"/>
                          <a:ea typeface="Arial MT"/>
                          <a:cs typeface="Arial MT"/>
                        </a:rPr>
                        <a:t>sbyte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nSpc>
                          <a:spcPct val="146000"/>
                        </a:lnSpc>
                        <a:spcBef>
                          <a:spcPts val="205"/>
                        </a:spcBef>
                        <a:spcAft>
                          <a:spcPts val="0"/>
                        </a:spcAft>
                      </a:pPr>
                      <a:r>
                        <a:rPr lang="en-US" sz="1200" spc="-20" dirty="0">
                          <a:solidFill>
                            <a:schemeClr val="bg1"/>
                          </a:solidFill>
                          <a:effectLst/>
                          <a:latin typeface="Udemy Sans"/>
                          <a:ea typeface="Arial MT"/>
                          <a:cs typeface="Arial MT"/>
                        </a:rPr>
                        <a:t>8-bit</a:t>
                      </a:r>
                      <a:r>
                        <a:rPr lang="en-US" sz="1200" spc="-6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signed </a:t>
                      </a:r>
                      <a:r>
                        <a:rPr lang="en-US" sz="1200" spc="-10" dirty="0">
                          <a:solidFill>
                            <a:schemeClr val="bg1"/>
                          </a:solidFill>
                          <a:effectLst/>
                          <a:latin typeface="Udemy Sans"/>
                          <a:ea typeface="Arial MT"/>
                          <a:cs typeface="Arial MT"/>
                        </a:rPr>
                        <a:t>integer</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2540" algn="ctr">
                        <a:spcBef>
                          <a:spcPts val="205"/>
                        </a:spcBef>
                        <a:spcAft>
                          <a:spcPts val="0"/>
                        </a:spcAft>
                      </a:pPr>
                      <a:r>
                        <a:rPr lang="en-US" sz="1200">
                          <a:solidFill>
                            <a:schemeClr val="bg1"/>
                          </a:solidFill>
                          <a:effectLst/>
                          <a:latin typeface="Udemy Sans"/>
                          <a:ea typeface="Arial MT"/>
                          <a:cs typeface="Arial MT"/>
                        </a:rPr>
                        <a:t>1</a:t>
                      </a:r>
                      <a:r>
                        <a:rPr lang="en-US" sz="1200" spc="-7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byte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05"/>
                        </a:spcBef>
                        <a:spcAft>
                          <a:spcPts val="0"/>
                        </a:spcAft>
                      </a:pPr>
                      <a:r>
                        <a:rPr lang="en-US" sz="1200">
                          <a:solidFill>
                            <a:schemeClr val="bg1"/>
                          </a:solidFill>
                          <a:effectLst/>
                          <a:latin typeface="Udemy Sans"/>
                          <a:ea typeface="Arial MT"/>
                          <a:cs typeface="Arial MT"/>
                        </a:rPr>
                        <a:t>-128</a:t>
                      </a:r>
                      <a:r>
                        <a:rPr lang="en-US" sz="1200" spc="-35">
                          <a:solidFill>
                            <a:schemeClr val="bg1"/>
                          </a:solidFill>
                          <a:effectLst/>
                          <a:latin typeface="Udemy Sans"/>
                          <a:ea typeface="Arial MT"/>
                          <a:cs typeface="Arial MT"/>
                        </a:rPr>
                        <a:t> </a:t>
                      </a:r>
                      <a:r>
                        <a:rPr lang="en-US" sz="1200">
                          <a:solidFill>
                            <a:schemeClr val="bg1"/>
                          </a:solidFill>
                          <a:effectLst/>
                          <a:latin typeface="Udemy Sans"/>
                          <a:ea typeface="Arial MT"/>
                          <a:cs typeface="Arial MT"/>
                        </a:rPr>
                        <a:t>to</a:t>
                      </a:r>
                      <a:r>
                        <a:rPr lang="en-US" sz="1200" spc="-30">
                          <a:solidFill>
                            <a:schemeClr val="bg1"/>
                          </a:solidFill>
                          <a:effectLst/>
                          <a:latin typeface="Udemy Sans"/>
                          <a:ea typeface="Arial MT"/>
                          <a:cs typeface="Arial MT"/>
                        </a:rPr>
                        <a:t> </a:t>
                      </a:r>
                      <a:r>
                        <a:rPr lang="en-US" sz="1200" spc="-25">
                          <a:solidFill>
                            <a:schemeClr val="bg1"/>
                          </a:solidFill>
                          <a:effectLst/>
                          <a:latin typeface="Udemy Sans"/>
                          <a:ea typeface="Arial MT"/>
                          <a:cs typeface="Arial MT"/>
                        </a:rPr>
                        <a:t>127</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280670" algn="just">
                        <a:lnSpc>
                          <a:spcPct val="146000"/>
                        </a:lnSpc>
                        <a:spcBef>
                          <a:spcPts val="205"/>
                        </a:spcBef>
                        <a:spcAft>
                          <a:spcPts val="0"/>
                        </a:spcAft>
                      </a:pPr>
                      <a:r>
                        <a:rPr lang="en-US" sz="1200" spc="-40">
                          <a:solidFill>
                            <a:schemeClr val="bg1"/>
                          </a:solidFill>
                          <a:effectLst/>
                          <a:latin typeface="Udemy Sans"/>
                          <a:ea typeface="Arial MT"/>
                          <a:cs typeface="Arial MT"/>
                        </a:rPr>
                        <a:t>Very small </a:t>
                      </a:r>
                      <a:r>
                        <a:rPr lang="en-US" sz="1200" spc="-20">
                          <a:solidFill>
                            <a:schemeClr val="bg1"/>
                          </a:solidFill>
                          <a:effectLst/>
                          <a:latin typeface="Udemy Sans"/>
                          <a:ea typeface="Arial MT"/>
                          <a:cs typeface="Arial MT"/>
                        </a:rPr>
                        <a:t>positive</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or </a:t>
                      </a:r>
                      <a:r>
                        <a:rPr lang="en-US" sz="1200" spc="-10">
                          <a:solidFill>
                            <a:schemeClr val="bg1"/>
                          </a:solidFill>
                          <a:effectLst/>
                          <a:latin typeface="Udemy Sans"/>
                          <a:ea typeface="Arial MT"/>
                          <a:cs typeface="Arial MT"/>
                        </a:rPr>
                        <a:t>negative</a:t>
                      </a:r>
                      <a:endParaRPr lang="en-IN" sz="1200">
                        <a:solidFill>
                          <a:schemeClr val="bg1"/>
                        </a:solidFill>
                        <a:effectLst/>
                        <a:latin typeface="Udemy Sans"/>
                        <a:ea typeface="Arial MT"/>
                        <a:cs typeface="Arial MT"/>
                      </a:endParaRPr>
                    </a:p>
                    <a:p>
                      <a:pPr marL="67310">
                        <a:spcBef>
                          <a:spcPts val="215"/>
                        </a:spcBef>
                        <a:spcAft>
                          <a:spcPts val="0"/>
                        </a:spcAft>
                      </a:pPr>
                      <a:r>
                        <a:rPr lang="en-US" sz="1200" spc="-10">
                          <a:solidFill>
                            <a:schemeClr val="bg1"/>
                          </a:solidFill>
                          <a:effectLst/>
                          <a:latin typeface="Udemy Sans"/>
                          <a:ea typeface="Arial MT"/>
                          <a:cs typeface="Arial MT"/>
                        </a:rPr>
                        <a:t>integers</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8477195"/>
                  </a:ext>
                </a:extLst>
              </a:tr>
              <a:tr h="663031">
                <a:tc>
                  <a:txBody>
                    <a:bodyPr/>
                    <a:lstStyle/>
                    <a:p>
                      <a:pPr marL="5715" marR="635" algn="ctr">
                        <a:spcBef>
                          <a:spcPts val="200"/>
                        </a:spcBef>
                        <a:spcAft>
                          <a:spcPts val="0"/>
                        </a:spcAft>
                      </a:pPr>
                      <a:r>
                        <a:rPr lang="en-US" sz="1200" spc="-50">
                          <a:solidFill>
                            <a:schemeClr val="bg1"/>
                          </a:solidFill>
                          <a:effectLst/>
                          <a:latin typeface="Udemy Sans"/>
                          <a:ea typeface="Arial MT"/>
                          <a:cs typeface="Arial MT"/>
                        </a:rPr>
                        <a:t>2</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00"/>
                        </a:spcBef>
                      </a:pPr>
                      <a:r>
                        <a:rPr lang="en-US" sz="1200" spc="-20">
                          <a:solidFill>
                            <a:schemeClr val="bg1"/>
                          </a:solidFill>
                          <a:effectLst/>
                          <a:latin typeface="Udemy Sans"/>
                          <a:ea typeface="Arial MT"/>
                          <a:cs typeface="Arial MT"/>
                        </a:rPr>
                        <a:t>byte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88265">
                        <a:lnSpc>
                          <a:spcPct val="146000"/>
                        </a:lnSpc>
                        <a:spcBef>
                          <a:spcPts val="200"/>
                        </a:spcBef>
                        <a:spcAft>
                          <a:spcPts val="0"/>
                        </a:spcAft>
                      </a:pPr>
                      <a:r>
                        <a:rPr lang="en-US" sz="1200" spc="-10" dirty="0">
                          <a:solidFill>
                            <a:schemeClr val="bg1"/>
                          </a:solidFill>
                          <a:effectLst/>
                          <a:latin typeface="Udemy Sans"/>
                          <a:ea typeface="Arial MT"/>
                          <a:cs typeface="Arial MT"/>
                        </a:rPr>
                        <a:t>8-bit unsigned</a:t>
                      </a:r>
                      <a:endParaRPr lang="en-IN" sz="1200" dirty="0">
                        <a:solidFill>
                          <a:schemeClr val="bg1"/>
                        </a:solidFill>
                        <a:effectLst/>
                        <a:latin typeface="Udemy Sans"/>
                        <a:ea typeface="Arial MT"/>
                        <a:cs typeface="Arial MT"/>
                      </a:endParaRPr>
                    </a:p>
                    <a:p>
                      <a:pPr marL="67310">
                        <a:spcBef>
                          <a:spcPts val="5"/>
                        </a:spcBef>
                        <a:spcAft>
                          <a:spcPts val="0"/>
                        </a:spcAft>
                      </a:pPr>
                      <a:r>
                        <a:rPr lang="en-US" sz="1200" spc="-10" dirty="0">
                          <a:solidFill>
                            <a:schemeClr val="bg1"/>
                          </a:solidFill>
                          <a:effectLst/>
                          <a:latin typeface="Udemy Sans"/>
                          <a:ea typeface="Arial MT"/>
                          <a:cs typeface="Arial MT"/>
                        </a:rPr>
                        <a:t>integer</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2540" algn="ctr">
                        <a:spcBef>
                          <a:spcPts val="200"/>
                        </a:spcBef>
                        <a:spcAft>
                          <a:spcPts val="0"/>
                        </a:spcAft>
                      </a:pPr>
                      <a:r>
                        <a:rPr lang="en-US" sz="1200" dirty="0">
                          <a:solidFill>
                            <a:schemeClr val="bg1"/>
                          </a:solidFill>
                          <a:effectLst/>
                          <a:latin typeface="Udemy Sans"/>
                          <a:ea typeface="Arial MT"/>
                          <a:cs typeface="Arial MT"/>
                        </a:rPr>
                        <a:t>1</a:t>
                      </a:r>
                      <a:r>
                        <a:rPr lang="en-US" sz="1200" spc="-7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byte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00"/>
                        </a:spcBef>
                        <a:spcAft>
                          <a:spcPts val="0"/>
                        </a:spcAft>
                      </a:pPr>
                      <a:r>
                        <a:rPr lang="en-US" sz="1200">
                          <a:solidFill>
                            <a:schemeClr val="bg1"/>
                          </a:solidFill>
                          <a:effectLst/>
                          <a:latin typeface="Udemy Sans"/>
                          <a:ea typeface="Arial MT"/>
                          <a:cs typeface="Arial MT"/>
                        </a:rPr>
                        <a:t>0</a:t>
                      </a:r>
                      <a:r>
                        <a:rPr lang="en-US" sz="1200" spc="-35">
                          <a:solidFill>
                            <a:schemeClr val="bg1"/>
                          </a:solidFill>
                          <a:effectLst/>
                          <a:latin typeface="Udemy Sans"/>
                          <a:ea typeface="Arial MT"/>
                          <a:cs typeface="Arial MT"/>
                        </a:rPr>
                        <a:t> </a:t>
                      </a:r>
                      <a:r>
                        <a:rPr lang="en-US" sz="1200">
                          <a:solidFill>
                            <a:schemeClr val="bg1"/>
                          </a:solidFill>
                          <a:effectLst/>
                          <a:latin typeface="Udemy Sans"/>
                          <a:ea typeface="Arial MT"/>
                          <a:cs typeface="Arial MT"/>
                        </a:rPr>
                        <a:t>to</a:t>
                      </a:r>
                      <a:r>
                        <a:rPr lang="en-US" sz="1200" spc="-35">
                          <a:solidFill>
                            <a:schemeClr val="bg1"/>
                          </a:solidFill>
                          <a:effectLst/>
                          <a:latin typeface="Udemy Sans"/>
                          <a:ea typeface="Arial MT"/>
                          <a:cs typeface="Arial MT"/>
                        </a:rPr>
                        <a:t> </a:t>
                      </a:r>
                      <a:r>
                        <a:rPr lang="en-US" sz="1200" spc="-25">
                          <a:solidFill>
                            <a:schemeClr val="bg1"/>
                          </a:solidFill>
                          <a:effectLst/>
                          <a:latin typeface="Udemy Sans"/>
                          <a:ea typeface="Arial MT"/>
                          <a:cs typeface="Arial MT"/>
                        </a:rPr>
                        <a:t>255</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285115">
                        <a:lnSpc>
                          <a:spcPct val="146000"/>
                        </a:lnSpc>
                        <a:spcBef>
                          <a:spcPts val="200"/>
                        </a:spcBef>
                        <a:spcAft>
                          <a:spcPts val="0"/>
                        </a:spcAft>
                      </a:pPr>
                      <a:r>
                        <a:rPr lang="en-US" sz="1200" spc="-40">
                          <a:solidFill>
                            <a:schemeClr val="bg1"/>
                          </a:solidFill>
                          <a:effectLst/>
                          <a:latin typeface="Udemy Sans"/>
                          <a:ea typeface="Arial MT"/>
                          <a:cs typeface="Arial MT"/>
                        </a:rPr>
                        <a:t>Very</a:t>
                      </a:r>
                      <a:r>
                        <a:rPr lang="en-US" sz="1200" spc="-55">
                          <a:solidFill>
                            <a:schemeClr val="bg1"/>
                          </a:solidFill>
                          <a:effectLst/>
                          <a:latin typeface="Udemy Sans"/>
                          <a:ea typeface="Arial MT"/>
                          <a:cs typeface="Arial MT"/>
                        </a:rPr>
                        <a:t> </a:t>
                      </a:r>
                      <a:r>
                        <a:rPr lang="en-US" sz="1200" spc="-40">
                          <a:solidFill>
                            <a:schemeClr val="bg1"/>
                          </a:solidFill>
                          <a:effectLst/>
                          <a:latin typeface="Udemy Sans"/>
                          <a:ea typeface="Arial MT"/>
                          <a:cs typeface="Arial MT"/>
                        </a:rPr>
                        <a:t>small </a:t>
                      </a:r>
                      <a:r>
                        <a:rPr lang="en-US" sz="1200" spc="-10">
                          <a:solidFill>
                            <a:schemeClr val="bg1"/>
                          </a:solidFill>
                          <a:effectLst/>
                          <a:latin typeface="Udemy Sans"/>
                          <a:ea typeface="Arial MT"/>
                          <a:cs typeface="Arial MT"/>
                        </a:rPr>
                        <a:t>positive</a:t>
                      </a:r>
                      <a:endParaRPr lang="en-IN" sz="1200">
                        <a:solidFill>
                          <a:schemeClr val="bg1"/>
                        </a:solidFill>
                        <a:effectLst/>
                        <a:latin typeface="Udemy Sans"/>
                        <a:ea typeface="Arial MT"/>
                        <a:cs typeface="Arial MT"/>
                      </a:endParaRPr>
                    </a:p>
                    <a:p>
                      <a:pPr marL="67310">
                        <a:spcBef>
                          <a:spcPts val="5"/>
                        </a:spcBef>
                        <a:spcAft>
                          <a:spcPts val="0"/>
                        </a:spcAft>
                      </a:pPr>
                      <a:r>
                        <a:rPr lang="en-US" sz="1200" spc="-10">
                          <a:solidFill>
                            <a:schemeClr val="bg1"/>
                          </a:solidFill>
                          <a:effectLst/>
                          <a:latin typeface="Udemy Sans"/>
                          <a:ea typeface="Arial MT"/>
                          <a:cs typeface="Arial MT"/>
                        </a:rPr>
                        <a:t>integers</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1367108"/>
                  </a:ext>
                </a:extLst>
              </a:tr>
              <a:tr h="663031">
                <a:tc>
                  <a:txBody>
                    <a:bodyPr/>
                    <a:lstStyle/>
                    <a:p>
                      <a:pPr marL="5715" marR="635" algn="ctr">
                        <a:spcBef>
                          <a:spcPts val="215"/>
                        </a:spcBef>
                        <a:spcAft>
                          <a:spcPts val="0"/>
                        </a:spcAft>
                      </a:pPr>
                      <a:r>
                        <a:rPr lang="en-US" sz="1200" spc="-50">
                          <a:solidFill>
                            <a:schemeClr val="bg1"/>
                          </a:solidFill>
                          <a:effectLst/>
                          <a:latin typeface="Udemy Sans"/>
                          <a:ea typeface="Arial MT"/>
                          <a:cs typeface="Arial MT"/>
                        </a:rPr>
                        <a:t>3</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200" spc="-10">
                          <a:solidFill>
                            <a:schemeClr val="bg1"/>
                          </a:solidFill>
                          <a:effectLst/>
                          <a:latin typeface="Udemy Sans"/>
                          <a:ea typeface="Arial MT"/>
                          <a:cs typeface="Arial MT"/>
                        </a:rPr>
                        <a:t>short</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nSpc>
                          <a:spcPct val="146000"/>
                        </a:lnSpc>
                        <a:spcBef>
                          <a:spcPts val="215"/>
                        </a:spcBef>
                      </a:pPr>
                      <a:r>
                        <a:rPr lang="en-US" sz="1200" spc="-20">
                          <a:solidFill>
                            <a:schemeClr val="bg1"/>
                          </a:solidFill>
                          <a:effectLst/>
                          <a:latin typeface="Udemy Sans"/>
                          <a:ea typeface="Arial MT"/>
                          <a:cs typeface="Arial MT"/>
                        </a:rPr>
                        <a:t>16-bit</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signed </a:t>
                      </a:r>
                      <a:r>
                        <a:rPr lang="en-US" sz="1200" spc="-10">
                          <a:solidFill>
                            <a:schemeClr val="bg1"/>
                          </a:solidFill>
                          <a:effectLst/>
                          <a:latin typeface="Udemy Sans"/>
                          <a:ea typeface="Arial MT"/>
                          <a:cs typeface="Arial MT"/>
                        </a:rPr>
                        <a:t>integer</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3175" algn="ctr">
                        <a:spcBef>
                          <a:spcPts val="215"/>
                        </a:spcBef>
                        <a:spcAft>
                          <a:spcPts val="0"/>
                        </a:spcAft>
                      </a:pPr>
                      <a:r>
                        <a:rPr lang="en-US" sz="1200" dirty="0">
                          <a:solidFill>
                            <a:schemeClr val="bg1"/>
                          </a:solidFill>
                          <a:effectLst/>
                          <a:latin typeface="Udemy Sans"/>
                          <a:ea typeface="Arial MT"/>
                          <a:cs typeface="Arial MT"/>
                        </a:rPr>
                        <a:t>2</a:t>
                      </a:r>
                      <a:r>
                        <a:rPr lang="en-US" sz="1200" spc="-70" dirty="0">
                          <a:solidFill>
                            <a:schemeClr val="bg1"/>
                          </a:solidFill>
                          <a:effectLst/>
                          <a:latin typeface="Udemy Sans"/>
                          <a:ea typeface="Arial MT"/>
                          <a:cs typeface="Arial MT"/>
                        </a:rPr>
                        <a:t> </a:t>
                      </a:r>
                      <a:r>
                        <a:rPr lang="en-US" sz="1200" spc="-10" dirty="0">
                          <a:solidFill>
                            <a:schemeClr val="bg1"/>
                          </a:solidFill>
                          <a:effectLst/>
                          <a:latin typeface="Udemy Sans"/>
                          <a:ea typeface="Arial MT"/>
                          <a:cs typeface="Arial MT"/>
                        </a:rPr>
                        <a:t>bytes</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15"/>
                        </a:spcBef>
                      </a:pPr>
                      <a:r>
                        <a:rPr lang="en-US" sz="1200" spc="-10" dirty="0">
                          <a:solidFill>
                            <a:schemeClr val="bg1"/>
                          </a:solidFill>
                          <a:effectLst/>
                          <a:latin typeface="Udemy Sans"/>
                          <a:ea typeface="Arial MT"/>
                          <a:cs typeface="Arial MT"/>
                        </a:rPr>
                        <a:t>-32,768</a:t>
                      </a:r>
                      <a:r>
                        <a:rPr lang="en-US" sz="1200" spc="-60" dirty="0">
                          <a:solidFill>
                            <a:schemeClr val="bg1"/>
                          </a:solidFill>
                          <a:effectLst/>
                          <a:latin typeface="Udemy Sans"/>
                          <a:ea typeface="Arial MT"/>
                          <a:cs typeface="Arial MT"/>
                        </a:rPr>
                        <a:t> </a:t>
                      </a:r>
                      <a:r>
                        <a:rPr lang="en-US" sz="1200" spc="-10" dirty="0">
                          <a:solidFill>
                            <a:schemeClr val="bg1"/>
                          </a:solidFill>
                          <a:effectLst/>
                          <a:latin typeface="Udemy Sans"/>
                          <a:ea typeface="Arial MT"/>
                          <a:cs typeface="Arial MT"/>
                        </a:rPr>
                        <a:t>to</a:t>
                      </a:r>
                      <a:r>
                        <a:rPr lang="en-US" sz="1200" spc="-60" dirty="0">
                          <a:solidFill>
                            <a:schemeClr val="bg1"/>
                          </a:solidFill>
                          <a:effectLst/>
                          <a:latin typeface="Udemy Sans"/>
                          <a:ea typeface="Arial MT"/>
                          <a:cs typeface="Arial MT"/>
                        </a:rPr>
                        <a:t> </a:t>
                      </a:r>
                      <a:r>
                        <a:rPr lang="en-US" sz="1200" spc="-10" dirty="0">
                          <a:solidFill>
                            <a:schemeClr val="bg1"/>
                          </a:solidFill>
                          <a:effectLst/>
                          <a:latin typeface="Udemy Sans"/>
                          <a:ea typeface="Arial MT"/>
                          <a:cs typeface="Arial MT"/>
                        </a:rPr>
                        <a:t>32,767</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15"/>
                        </a:spcBef>
                      </a:pPr>
                      <a:r>
                        <a:rPr lang="en-US" sz="1200">
                          <a:solidFill>
                            <a:schemeClr val="bg1"/>
                          </a:solidFill>
                          <a:effectLst/>
                          <a:latin typeface="Udemy Sans"/>
                          <a:ea typeface="Arial MT"/>
                          <a:cs typeface="Arial MT"/>
                        </a:rPr>
                        <a:t>Small</a:t>
                      </a:r>
                      <a:r>
                        <a:rPr lang="en-US" sz="1200" spc="-5">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positive</a:t>
                      </a:r>
                      <a:endParaRPr lang="en-IN" sz="1200">
                        <a:solidFill>
                          <a:schemeClr val="bg1"/>
                        </a:solidFill>
                        <a:effectLst/>
                        <a:latin typeface="Udemy Sans"/>
                        <a:ea typeface="Arial MT"/>
                        <a:cs typeface="Arial MT"/>
                      </a:endParaRPr>
                    </a:p>
                    <a:p>
                      <a:pPr marL="67310" marR="238760">
                        <a:lnSpc>
                          <a:spcPts val="1850"/>
                        </a:lnSpc>
                        <a:spcBef>
                          <a:spcPts val="10"/>
                        </a:spcBef>
                        <a:spcAft>
                          <a:spcPts val="0"/>
                        </a:spcAft>
                      </a:pPr>
                      <a:r>
                        <a:rPr lang="en-US" sz="1200" spc="-30">
                          <a:solidFill>
                            <a:schemeClr val="bg1"/>
                          </a:solidFill>
                          <a:effectLst/>
                          <a:latin typeface="Udemy Sans"/>
                          <a:ea typeface="Arial MT"/>
                          <a:cs typeface="Arial MT"/>
                        </a:rPr>
                        <a:t>or</a:t>
                      </a:r>
                      <a:r>
                        <a:rPr lang="en-US" sz="1200" spc="-60">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negative </a:t>
                      </a:r>
                      <a:r>
                        <a:rPr lang="en-US" sz="1200" spc="-10">
                          <a:solidFill>
                            <a:schemeClr val="bg1"/>
                          </a:solidFill>
                          <a:effectLst/>
                          <a:latin typeface="Udemy Sans"/>
                          <a:ea typeface="Arial MT"/>
                          <a:cs typeface="Arial MT"/>
                        </a:rPr>
                        <a:t>integers</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6224723"/>
                  </a:ext>
                </a:extLst>
              </a:tr>
              <a:tr h="664223">
                <a:tc>
                  <a:txBody>
                    <a:bodyPr/>
                    <a:lstStyle/>
                    <a:p>
                      <a:pPr marL="5715" marR="635" algn="ctr">
                        <a:spcBef>
                          <a:spcPts val="215"/>
                        </a:spcBef>
                        <a:spcAft>
                          <a:spcPts val="0"/>
                        </a:spcAft>
                      </a:pPr>
                      <a:r>
                        <a:rPr lang="en-US" sz="1200" spc="-50">
                          <a:solidFill>
                            <a:schemeClr val="bg1"/>
                          </a:solidFill>
                          <a:effectLst/>
                          <a:latin typeface="Udemy Sans"/>
                          <a:ea typeface="Arial MT"/>
                          <a:cs typeface="Arial MT"/>
                        </a:rPr>
                        <a:t>4</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200" spc="-10">
                          <a:solidFill>
                            <a:schemeClr val="bg1"/>
                          </a:solidFill>
                          <a:effectLst/>
                          <a:latin typeface="Udemy Sans"/>
                          <a:ea typeface="Arial MT"/>
                          <a:cs typeface="Arial MT"/>
                        </a:rPr>
                        <a:t>ushort</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15"/>
                        </a:spcBef>
                      </a:pPr>
                      <a:r>
                        <a:rPr lang="en-US" sz="1200" spc="-10">
                          <a:solidFill>
                            <a:schemeClr val="bg1"/>
                          </a:solidFill>
                          <a:effectLst/>
                          <a:latin typeface="Udemy Sans"/>
                          <a:ea typeface="Arial MT"/>
                          <a:cs typeface="Arial MT"/>
                        </a:rPr>
                        <a:t>16-</a:t>
                      </a:r>
                      <a:r>
                        <a:rPr lang="en-US" sz="1200" spc="-25">
                          <a:solidFill>
                            <a:schemeClr val="bg1"/>
                          </a:solidFill>
                          <a:effectLst/>
                          <a:latin typeface="Udemy Sans"/>
                          <a:ea typeface="Arial MT"/>
                          <a:cs typeface="Arial MT"/>
                        </a:rPr>
                        <a:t>bit</a:t>
                      </a:r>
                      <a:endParaRPr lang="en-IN" sz="1200">
                        <a:solidFill>
                          <a:schemeClr val="bg1"/>
                        </a:solidFill>
                        <a:effectLst/>
                        <a:latin typeface="Udemy Sans"/>
                        <a:ea typeface="Arial MT"/>
                        <a:cs typeface="Arial MT"/>
                      </a:endParaRPr>
                    </a:p>
                    <a:p>
                      <a:pPr marL="67310">
                        <a:lnSpc>
                          <a:spcPts val="1850"/>
                        </a:lnSpc>
                        <a:spcBef>
                          <a:spcPts val="10"/>
                        </a:spcBef>
                        <a:spcAft>
                          <a:spcPts val="0"/>
                        </a:spcAft>
                      </a:pPr>
                      <a:r>
                        <a:rPr lang="en-US" sz="1200" spc="-10">
                          <a:solidFill>
                            <a:schemeClr val="bg1"/>
                          </a:solidFill>
                          <a:effectLst/>
                          <a:latin typeface="Udemy Sans"/>
                          <a:ea typeface="Arial MT"/>
                          <a:cs typeface="Arial MT"/>
                        </a:rPr>
                        <a:t>unsigned integer</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3175" algn="ctr">
                        <a:spcBef>
                          <a:spcPts val="215"/>
                        </a:spcBef>
                        <a:spcAft>
                          <a:spcPts val="0"/>
                        </a:spcAft>
                      </a:pPr>
                      <a:r>
                        <a:rPr lang="en-US" sz="1200">
                          <a:solidFill>
                            <a:schemeClr val="bg1"/>
                          </a:solidFill>
                          <a:effectLst/>
                          <a:latin typeface="Udemy Sans"/>
                          <a:ea typeface="Arial MT"/>
                          <a:cs typeface="Arial MT"/>
                        </a:rPr>
                        <a:t>2</a:t>
                      </a:r>
                      <a:r>
                        <a:rPr lang="en-US" sz="1200" spc="-7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bytes</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15"/>
                        </a:spcBef>
                      </a:pPr>
                      <a:r>
                        <a:rPr lang="en-US" sz="1200" dirty="0">
                          <a:solidFill>
                            <a:schemeClr val="bg1"/>
                          </a:solidFill>
                          <a:effectLst/>
                          <a:latin typeface="Udemy Sans"/>
                          <a:ea typeface="Arial MT"/>
                          <a:cs typeface="Arial MT"/>
                        </a:rPr>
                        <a:t>0</a:t>
                      </a:r>
                      <a:r>
                        <a:rPr lang="en-US" sz="1200" spc="-35" dirty="0">
                          <a:solidFill>
                            <a:schemeClr val="bg1"/>
                          </a:solidFill>
                          <a:effectLst/>
                          <a:latin typeface="Udemy Sans"/>
                          <a:ea typeface="Arial MT"/>
                          <a:cs typeface="Arial MT"/>
                        </a:rPr>
                        <a:t> </a:t>
                      </a:r>
                      <a:r>
                        <a:rPr lang="en-US" sz="1200" dirty="0">
                          <a:solidFill>
                            <a:schemeClr val="bg1"/>
                          </a:solidFill>
                          <a:effectLst/>
                          <a:latin typeface="Udemy Sans"/>
                          <a:ea typeface="Arial MT"/>
                          <a:cs typeface="Arial MT"/>
                        </a:rPr>
                        <a:t>to</a:t>
                      </a:r>
                      <a:r>
                        <a:rPr lang="en-US" sz="1200" spc="-35" dirty="0">
                          <a:solidFill>
                            <a:schemeClr val="bg1"/>
                          </a:solidFill>
                          <a:effectLst/>
                          <a:latin typeface="Udemy Sans"/>
                          <a:ea typeface="Arial MT"/>
                          <a:cs typeface="Arial MT"/>
                        </a:rPr>
                        <a:t> </a:t>
                      </a:r>
                      <a:r>
                        <a:rPr lang="en-US" sz="1200" spc="-10" dirty="0">
                          <a:solidFill>
                            <a:schemeClr val="bg1"/>
                          </a:solidFill>
                          <a:effectLst/>
                          <a:latin typeface="Udemy Sans"/>
                          <a:ea typeface="Arial MT"/>
                          <a:cs typeface="Arial MT"/>
                        </a:rPr>
                        <a:t>65,535</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79375">
                        <a:lnSpc>
                          <a:spcPct val="146000"/>
                        </a:lnSpc>
                        <a:spcBef>
                          <a:spcPts val="215"/>
                        </a:spcBef>
                        <a:spcAft>
                          <a:spcPts val="0"/>
                        </a:spcAft>
                      </a:pPr>
                      <a:r>
                        <a:rPr lang="en-US" sz="1200" spc="-30" dirty="0">
                          <a:solidFill>
                            <a:schemeClr val="bg1"/>
                          </a:solidFill>
                          <a:effectLst/>
                          <a:latin typeface="Udemy Sans"/>
                          <a:ea typeface="Arial MT"/>
                          <a:cs typeface="Arial MT"/>
                        </a:rPr>
                        <a:t>Small</a:t>
                      </a:r>
                      <a:r>
                        <a:rPr lang="en-US" sz="1200" spc="-60" dirty="0">
                          <a:solidFill>
                            <a:schemeClr val="bg1"/>
                          </a:solidFill>
                          <a:effectLst/>
                          <a:latin typeface="Udemy Sans"/>
                          <a:ea typeface="Arial MT"/>
                          <a:cs typeface="Arial MT"/>
                        </a:rPr>
                        <a:t> </a:t>
                      </a:r>
                      <a:r>
                        <a:rPr lang="en-US" sz="1200" spc="-30" dirty="0">
                          <a:solidFill>
                            <a:schemeClr val="bg1"/>
                          </a:solidFill>
                          <a:effectLst/>
                          <a:latin typeface="Udemy Sans"/>
                          <a:ea typeface="Arial MT"/>
                          <a:cs typeface="Arial MT"/>
                        </a:rPr>
                        <a:t>positive </a:t>
                      </a:r>
                      <a:r>
                        <a:rPr lang="en-US" sz="1200" spc="-10" dirty="0">
                          <a:solidFill>
                            <a:schemeClr val="bg1"/>
                          </a:solidFill>
                          <a:effectLst/>
                          <a:latin typeface="Udemy Sans"/>
                          <a:ea typeface="Arial MT"/>
                          <a:cs typeface="Arial MT"/>
                        </a:rPr>
                        <a:t>integers</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9881042"/>
                  </a:ext>
                </a:extLst>
              </a:tr>
            </a:tbl>
          </a:graphicData>
        </a:graphic>
      </p:graphicFrame>
      <p:sp>
        <p:nvSpPr>
          <p:cNvPr id="14" name="Content Placeholder 2">
            <a:extLst>
              <a:ext uri="{FF2B5EF4-FFF2-40B4-BE49-F238E27FC236}">
                <a16:creationId xmlns:a16="http://schemas.microsoft.com/office/drawing/2014/main" id="{66EBBA20-4E0D-4208-8876-804AA008B242}"/>
              </a:ext>
            </a:extLst>
          </p:cNvPr>
          <p:cNvSpPr txBox="1">
            <a:spLocks/>
          </p:cNvSpPr>
          <p:nvPr/>
        </p:nvSpPr>
        <p:spPr>
          <a:xfrm>
            <a:off x="766198" y="3426542"/>
            <a:ext cx="4995505" cy="268912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lgn="just"/>
            <a:r>
              <a:rPr lang="en-US" sz="1800" spc="-40" dirty="0">
                <a:solidFill>
                  <a:schemeClr val="bg1"/>
                </a:solidFill>
                <a:effectLst/>
                <a:latin typeface="Arial MT"/>
                <a:ea typeface="Arial MT"/>
                <a:cs typeface="Arial MT"/>
              </a:rPr>
              <a:t>Default</a:t>
            </a:r>
            <a:r>
              <a:rPr lang="en-US" sz="1800" spc="-25" dirty="0">
                <a:solidFill>
                  <a:schemeClr val="bg1"/>
                </a:solidFill>
                <a:effectLst/>
                <a:latin typeface="Arial MT"/>
                <a:ea typeface="Arial MT"/>
                <a:cs typeface="Arial MT"/>
              </a:rPr>
              <a:t> </a:t>
            </a:r>
            <a:r>
              <a:rPr lang="en-US" sz="1800" spc="-40" dirty="0">
                <a:solidFill>
                  <a:schemeClr val="bg1"/>
                </a:solidFill>
                <a:effectLst/>
                <a:latin typeface="Arial MT"/>
                <a:ea typeface="Arial MT"/>
                <a:cs typeface="Arial MT"/>
              </a:rPr>
              <a:t>Numerical</a:t>
            </a:r>
            <a:r>
              <a:rPr lang="en-US" sz="1800" spc="-25" dirty="0">
                <a:solidFill>
                  <a:schemeClr val="bg1"/>
                </a:solidFill>
                <a:effectLst/>
                <a:latin typeface="Arial MT"/>
                <a:ea typeface="Arial MT"/>
                <a:cs typeface="Arial MT"/>
              </a:rPr>
              <a:t> </a:t>
            </a:r>
            <a:r>
              <a:rPr lang="en-US" sz="1800" spc="-40" dirty="0">
                <a:solidFill>
                  <a:schemeClr val="bg1"/>
                </a:solidFill>
                <a:effectLst/>
                <a:latin typeface="Arial MT"/>
                <a:ea typeface="Arial MT"/>
                <a:cs typeface="Arial MT"/>
              </a:rPr>
              <a:t>data</a:t>
            </a:r>
            <a:r>
              <a:rPr lang="en-US" sz="1800" spc="-30" dirty="0">
                <a:solidFill>
                  <a:schemeClr val="bg1"/>
                </a:solidFill>
                <a:effectLst/>
                <a:latin typeface="Arial MT"/>
                <a:ea typeface="Arial MT"/>
                <a:cs typeface="Arial MT"/>
              </a:rPr>
              <a:t> </a:t>
            </a:r>
            <a:r>
              <a:rPr lang="en-US" sz="1800" spc="-40" dirty="0">
                <a:solidFill>
                  <a:schemeClr val="bg1"/>
                </a:solidFill>
                <a:effectLst/>
                <a:latin typeface="Arial MT"/>
                <a:ea typeface="Arial MT"/>
                <a:cs typeface="Arial MT"/>
              </a:rPr>
              <a:t>types</a:t>
            </a:r>
          </a:p>
          <a:p>
            <a:pPr lvl="1" algn="just">
              <a:spcBef>
                <a:spcPts val="740"/>
              </a:spcBef>
              <a:buFont typeface="Wingdings" panose="05000000000000000000" pitchFamily="2" charset="2"/>
              <a:buChar char="Ø"/>
              <a:tabLst>
                <a:tab pos="652145" algn="l"/>
              </a:tabLst>
            </a:pPr>
            <a:r>
              <a:rPr lang="en-US" sz="1200" spc="-10" dirty="0">
                <a:solidFill>
                  <a:schemeClr val="bg1"/>
                </a:solidFill>
                <a:effectLst/>
                <a:latin typeface="Udemy Sans"/>
                <a:ea typeface="Symbol" panose="05050102010706020507" pitchFamily="18" charset="2"/>
                <a:cs typeface="Symbol" panose="05050102010706020507" pitchFamily="18" charset="2"/>
              </a:rPr>
              <a:t>C#</a:t>
            </a:r>
            <a:r>
              <a:rPr lang="en-US" sz="1200" spc="-7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compiler</a:t>
            </a:r>
            <a:r>
              <a:rPr lang="en-US" sz="1200" spc="-6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automatically</a:t>
            </a:r>
            <a:r>
              <a:rPr lang="en-US" sz="1200" spc="-6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treats</a:t>
            </a:r>
            <a:r>
              <a:rPr lang="en-US" sz="1200" spc="-6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a</a:t>
            </a:r>
            <a:r>
              <a:rPr lang="en-US" sz="1200" spc="-5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“number</a:t>
            </a:r>
            <a:r>
              <a:rPr lang="en-US" sz="1200" spc="-5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without</a:t>
            </a:r>
            <a:r>
              <a:rPr lang="en-US" sz="1200" spc="-6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decimal</a:t>
            </a:r>
            <a:r>
              <a:rPr lang="en-US" sz="1200" spc="-7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part”</a:t>
            </a:r>
            <a:r>
              <a:rPr lang="en-US" sz="1200" spc="-5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as</a:t>
            </a:r>
            <a:r>
              <a:rPr lang="en-US" sz="1200" spc="-6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“int”</a:t>
            </a:r>
            <a:r>
              <a:rPr lang="en-US" sz="1200" spc="-6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data</a:t>
            </a:r>
            <a:r>
              <a:rPr lang="en-US" sz="1200" spc="-6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type,</a:t>
            </a:r>
            <a:r>
              <a:rPr lang="en-US" sz="1200" spc="-6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if</a:t>
            </a:r>
            <a:r>
              <a:rPr lang="en-US" sz="1200" spc="-6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it</a:t>
            </a:r>
            <a:r>
              <a:rPr lang="en-US" sz="1200" spc="-55" dirty="0">
                <a:solidFill>
                  <a:schemeClr val="bg1"/>
                </a:solidFill>
                <a:effectLst/>
                <a:latin typeface="Udemy Sans"/>
                <a:ea typeface="Symbol" panose="05050102010706020507" pitchFamily="18" charset="2"/>
                <a:cs typeface="Symbol" panose="05050102010706020507" pitchFamily="18" charset="2"/>
              </a:rPr>
              <a:t> </a:t>
            </a:r>
            <a:r>
              <a:rPr lang="en-US" sz="1200" spc="-25" dirty="0">
                <a:solidFill>
                  <a:schemeClr val="bg1"/>
                </a:solidFill>
                <a:effectLst/>
                <a:latin typeface="Udemy Sans"/>
                <a:ea typeface="Symbol" panose="05050102010706020507" pitchFamily="18" charset="2"/>
                <a:cs typeface="Symbol" panose="05050102010706020507" pitchFamily="18" charset="2"/>
              </a:rPr>
              <a:t>is </a:t>
            </a:r>
            <a:r>
              <a:rPr lang="en-US" sz="1200" spc="-10" dirty="0">
                <a:solidFill>
                  <a:schemeClr val="bg1"/>
                </a:solidFill>
                <a:effectLst/>
                <a:latin typeface="Udemy Sans"/>
                <a:ea typeface="Arial MT"/>
                <a:cs typeface="Arial MT"/>
              </a:rPr>
              <a:t>within</a:t>
            </a:r>
            <a:r>
              <a:rPr lang="en-US" sz="1200" spc="-45" dirty="0">
                <a:solidFill>
                  <a:schemeClr val="bg1"/>
                </a:solidFill>
                <a:effectLst/>
                <a:latin typeface="Udemy Sans"/>
                <a:ea typeface="Arial MT"/>
                <a:cs typeface="Arial MT"/>
              </a:rPr>
              <a:t> </a:t>
            </a:r>
            <a:r>
              <a:rPr lang="en-US" sz="1200" spc="-10" dirty="0">
                <a:solidFill>
                  <a:schemeClr val="bg1"/>
                </a:solidFill>
                <a:effectLst/>
                <a:latin typeface="Udemy Sans"/>
                <a:ea typeface="Arial MT"/>
                <a:cs typeface="Arial MT"/>
              </a:rPr>
              <a:t>the</a:t>
            </a:r>
            <a:r>
              <a:rPr lang="en-US" sz="1200" spc="-40" dirty="0">
                <a:solidFill>
                  <a:schemeClr val="bg1"/>
                </a:solidFill>
                <a:effectLst/>
                <a:latin typeface="Udemy Sans"/>
                <a:ea typeface="Arial MT"/>
                <a:cs typeface="Arial MT"/>
              </a:rPr>
              <a:t> </a:t>
            </a:r>
            <a:r>
              <a:rPr lang="en-US" sz="1200" spc="-10" dirty="0">
                <a:solidFill>
                  <a:schemeClr val="bg1"/>
                </a:solidFill>
                <a:effectLst/>
                <a:latin typeface="Udemy Sans"/>
                <a:ea typeface="Arial MT"/>
                <a:cs typeface="Arial MT"/>
              </a:rPr>
              <a:t>maximum</a:t>
            </a:r>
            <a:r>
              <a:rPr lang="en-US" sz="1200" spc="-45" dirty="0">
                <a:solidFill>
                  <a:schemeClr val="bg1"/>
                </a:solidFill>
                <a:effectLst/>
                <a:latin typeface="Udemy Sans"/>
                <a:ea typeface="Arial MT"/>
                <a:cs typeface="Arial MT"/>
              </a:rPr>
              <a:t> </a:t>
            </a:r>
            <a:r>
              <a:rPr lang="en-US" sz="1200" spc="-10" dirty="0">
                <a:solidFill>
                  <a:schemeClr val="bg1"/>
                </a:solidFill>
                <a:effectLst/>
                <a:latin typeface="Udemy Sans"/>
                <a:ea typeface="Arial MT"/>
                <a:cs typeface="Arial MT"/>
              </a:rPr>
              <a:t>limit</a:t>
            </a:r>
            <a:r>
              <a:rPr lang="en-US" sz="1200" spc="-45" dirty="0">
                <a:solidFill>
                  <a:schemeClr val="bg1"/>
                </a:solidFill>
                <a:effectLst/>
                <a:latin typeface="Udemy Sans"/>
                <a:ea typeface="Arial MT"/>
                <a:cs typeface="Arial MT"/>
              </a:rPr>
              <a:t> </a:t>
            </a:r>
            <a:r>
              <a:rPr lang="en-US" sz="1200" spc="-10" dirty="0">
                <a:solidFill>
                  <a:schemeClr val="bg1"/>
                </a:solidFill>
                <a:effectLst/>
                <a:latin typeface="Udemy Sans"/>
                <a:ea typeface="Arial MT"/>
                <a:cs typeface="Arial MT"/>
              </a:rPr>
              <a:t>of</a:t>
            </a:r>
            <a:r>
              <a:rPr lang="en-US" sz="1200" spc="-50" dirty="0">
                <a:solidFill>
                  <a:schemeClr val="bg1"/>
                </a:solidFill>
                <a:effectLst/>
                <a:latin typeface="Udemy Sans"/>
                <a:ea typeface="Arial MT"/>
                <a:cs typeface="Arial MT"/>
              </a:rPr>
              <a:t> </a:t>
            </a:r>
            <a:r>
              <a:rPr lang="en-US" sz="1200" spc="-10" dirty="0">
                <a:solidFill>
                  <a:schemeClr val="bg1"/>
                </a:solidFill>
                <a:effectLst/>
                <a:latin typeface="Udemy Sans"/>
                <a:ea typeface="Arial MT"/>
                <a:cs typeface="Arial MT"/>
              </a:rPr>
              <a:t>“int”</a:t>
            </a:r>
            <a:r>
              <a:rPr lang="en-US" sz="1200" spc="-45" dirty="0">
                <a:solidFill>
                  <a:schemeClr val="bg1"/>
                </a:solidFill>
                <a:effectLst/>
                <a:latin typeface="Udemy Sans"/>
                <a:ea typeface="Arial MT"/>
                <a:cs typeface="Arial MT"/>
              </a:rPr>
              <a:t> </a:t>
            </a:r>
            <a:r>
              <a:rPr lang="en-US" sz="1200" spc="-10" dirty="0">
                <a:solidFill>
                  <a:schemeClr val="bg1"/>
                </a:solidFill>
                <a:effectLst/>
                <a:latin typeface="Udemy Sans"/>
                <a:ea typeface="Arial MT"/>
                <a:cs typeface="Arial MT"/>
              </a:rPr>
              <a:t>data</a:t>
            </a:r>
            <a:r>
              <a:rPr lang="en-US" sz="1200" spc="-4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type</a:t>
            </a:r>
            <a:endParaRPr lang="en-IN" sz="1200" dirty="0">
              <a:solidFill>
                <a:schemeClr val="bg1"/>
              </a:solidFill>
              <a:latin typeface="Udemy Sans"/>
              <a:ea typeface="Arial MT"/>
              <a:cs typeface="Arial MT"/>
            </a:endParaRPr>
          </a:p>
          <a:p>
            <a:pPr marR="464185" lvl="1" algn="just">
              <a:lnSpc>
                <a:spcPct val="163000"/>
              </a:lnSpc>
              <a:spcBef>
                <a:spcPts val="1210"/>
              </a:spcBef>
              <a:spcAft>
                <a:spcPts val="0"/>
              </a:spcAft>
              <a:buFont typeface="Wingdings" panose="05000000000000000000" pitchFamily="2" charset="2"/>
              <a:buChar char="Ø"/>
              <a:tabLst>
                <a:tab pos="652145" algn="l"/>
              </a:tabLst>
            </a:pPr>
            <a:r>
              <a:rPr lang="en-US" sz="1200" spc="-10" dirty="0">
                <a:solidFill>
                  <a:schemeClr val="bg1"/>
                </a:solidFill>
                <a:effectLst/>
                <a:latin typeface="Udemy Sans"/>
                <a:ea typeface="Symbol" panose="05050102010706020507" pitchFamily="18" charset="2"/>
                <a:cs typeface="Symbol" panose="05050102010706020507" pitchFamily="18" charset="2"/>
              </a:rPr>
              <a:t>C#</a:t>
            </a:r>
            <a:r>
              <a:rPr lang="en-US" sz="1200" spc="-6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compiler</a:t>
            </a:r>
            <a:r>
              <a:rPr lang="en-US" sz="1200" spc="-5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automatically</a:t>
            </a:r>
            <a:r>
              <a:rPr lang="en-US" sz="1200" spc="-7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treats</a:t>
            </a:r>
            <a:r>
              <a:rPr lang="en-US" sz="1200" spc="-5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a</a:t>
            </a:r>
            <a:r>
              <a:rPr lang="en-US" sz="1200" spc="-5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“number</a:t>
            </a:r>
            <a:r>
              <a:rPr lang="en-US" sz="1200" spc="-6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without</a:t>
            </a:r>
            <a:r>
              <a:rPr lang="en-US" sz="1200" spc="-4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decimal</a:t>
            </a:r>
            <a:r>
              <a:rPr lang="en-US" sz="1200" spc="-6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part”</a:t>
            </a:r>
            <a:r>
              <a:rPr lang="en-US" sz="1200" spc="-5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as</a:t>
            </a:r>
            <a:r>
              <a:rPr lang="en-US" sz="1200" spc="-5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“long”</a:t>
            </a:r>
            <a:r>
              <a:rPr lang="en-US" sz="1200" spc="-5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data</a:t>
            </a:r>
            <a:r>
              <a:rPr lang="en-US" sz="1200" spc="-5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type,</a:t>
            </a:r>
            <a:r>
              <a:rPr lang="en-US" sz="1200" spc="-50"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if</a:t>
            </a:r>
            <a:r>
              <a:rPr lang="en-US" sz="1200" spc="-55" dirty="0">
                <a:solidFill>
                  <a:schemeClr val="bg1"/>
                </a:solidFill>
                <a:effectLst/>
                <a:latin typeface="Udemy Sans"/>
                <a:ea typeface="Symbol" panose="05050102010706020507" pitchFamily="18" charset="2"/>
                <a:cs typeface="Symbol" panose="05050102010706020507" pitchFamily="18" charset="2"/>
              </a:rPr>
              <a:t> </a:t>
            </a:r>
            <a:r>
              <a:rPr lang="en-US" sz="1200" spc="-10" dirty="0">
                <a:solidFill>
                  <a:schemeClr val="bg1"/>
                </a:solidFill>
                <a:effectLst/>
                <a:latin typeface="Udemy Sans"/>
                <a:ea typeface="Symbol" panose="05050102010706020507" pitchFamily="18" charset="2"/>
                <a:cs typeface="Symbol" panose="05050102010706020507" pitchFamily="18" charset="2"/>
              </a:rPr>
              <a:t>it </a:t>
            </a:r>
            <a:r>
              <a:rPr lang="en-US" sz="1200" spc="0" dirty="0">
                <a:solidFill>
                  <a:schemeClr val="bg1"/>
                </a:solidFill>
                <a:effectLst/>
                <a:latin typeface="Udemy Sans"/>
                <a:ea typeface="Symbol" panose="05050102010706020507" pitchFamily="18" charset="2"/>
                <a:cs typeface="Symbol" panose="05050102010706020507" pitchFamily="18" charset="2"/>
              </a:rPr>
              <a:t>exceeds</a:t>
            </a:r>
            <a:r>
              <a:rPr lang="en-US" sz="1200" spc="-15" dirty="0">
                <a:solidFill>
                  <a:schemeClr val="bg1"/>
                </a:solidFill>
                <a:effectLst/>
                <a:latin typeface="Udemy Sans"/>
                <a:ea typeface="Symbol" panose="05050102010706020507" pitchFamily="18" charset="2"/>
                <a:cs typeface="Symbol" panose="05050102010706020507" pitchFamily="18" charset="2"/>
              </a:rPr>
              <a:t> </a:t>
            </a:r>
            <a:r>
              <a:rPr lang="en-US" sz="1200" spc="0" dirty="0">
                <a:solidFill>
                  <a:schemeClr val="bg1"/>
                </a:solidFill>
                <a:effectLst/>
                <a:latin typeface="Udemy Sans"/>
                <a:ea typeface="Symbol" panose="05050102010706020507" pitchFamily="18" charset="2"/>
                <a:cs typeface="Symbol" panose="05050102010706020507" pitchFamily="18" charset="2"/>
              </a:rPr>
              <a:t>the</a:t>
            </a:r>
            <a:r>
              <a:rPr lang="en-US" sz="1200" spc="-5" dirty="0">
                <a:solidFill>
                  <a:schemeClr val="bg1"/>
                </a:solidFill>
                <a:effectLst/>
                <a:latin typeface="Udemy Sans"/>
                <a:ea typeface="Symbol" panose="05050102010706020507" pitchFamily="18" charset="2"/>
                <a:cs typeface="Symbol" panose="05050102010706020507" pitchFamily="18" charset="2"/>
              </a:rPr>
              <a:t> </a:t>
            </a:r>
            <a:r>
              <a:rPr lang="en-US" sz="1200" spc="0" dirty="0">
                <a:solidFill>
                  <a:schemeClr val="bg1"/>
                </a:solidFill>
                <a:effectLst/>
                <a:latin typeface="Udemy Sans"/>
                <a:ea typeface="Symbol" panose="05050102010706020507" pitchFamily="18" charset="2"/>
                <a:cs typeface="Symbol" panose="05050102010706020507" pitchFamily="18" charset="2"/>
              </a:rPr>
              <a:t>limit</a:t>
            </a:r>
            <a:r>
              <a:rPr lang="en-US" sz="1200" spc="-5" dirty="0">
                <a:solidFill>
                  <a:schemeClr val="bg1"/>
                </a:solidFill>
                <a:effectLst/>
                <a:latin typeface="Udemy Sans"/>
                <a:ea typeface="Symbol" panose="05050102010706020507" pitchFamily="18" charset="2"/>
                <a:cs typeface="Symbol" panose="05050102010706020507" pitchFamily="18" charset="2"/>
              </a:rPr>
              <a:t> </a:t>
            </a:r>
            <a:r>
              <a:rPr lang="en-US" sz="1200" spc="0" dirty="0">
                <a:solidFill>
                  <a:schemeClr val="bg1"/>
                </a:solidFill>
                <a:effectLst/>
                <a:latin typeface="Udemy Sans"/>
                <a:ea typeface="Symbol" panose="05050102010706020507" pitchFamily="18" charset="2"/>
                <a:cs typeface="Symbol" panose="05050102010706020507" pitchFamily="18" charset="2"/>
              </a:rPr>
              <a:t>of</a:t>
            </a:r>
            <a:r>
              <a:rPr lang="en-US" sz="1200" spc="-20" dirty="0">
                <a:solidFill>
                  <a:schemeClr val="bg1"/>
                </a:solidFill>
                <a:effectLst/>
                <a:latin typeface="Udemy Sans"/>
                <a:ea typeface="Symbol" panose="05050102010706020507" pitchFamily="18" charset="2"/>
                <a:cs typeface="Symbol" panose="05050102010706020507" pitchFamily="18" charset="2"/>
              </a:rPr>
              <a:t> </a:t>
            </a:r>
            <a:r>
              <a:rPr lang="en-US" sz="1200" spc="0" dirty="0">
                <a:solidFill>
                  <a:schemeClr val="bg1"/>
                </a:solidFill>
                <a:effectLst/>
                <a:latin typeface="Udemy Sans"/>
                <a:ea typeface="Symbol" panose="05050102010706020507" pitchFamily="18" charset="2"/>
                <a:cs typeface="Symbol" panose="05050102010706020507" pitchFamily="18" charset="2"/>
              </a:rPr>
              <a:t>“int”</a:t>
            </a:r>
            <a:r>
              <a:rPr lang="en-US" sz="1200" spc="-10" dirty="0">
                <a:solidFill>
                  <a:schemeClr val="bg1"/>
                </a:solidFill>
                <a:effectLst/>
                <a:latin typeface="Udemy Sans"/>
                <a:ea typeface="Symbol" panose="05050102010706020507" pitchFamily="18" charset="2"/>
                <a:cs typeface="Symbol" panose="05050102010706020507" pitchFamily="18" charset="2"/>
              </a:rPr>
              <a:t> </a:t>
            </a:r>
            <a:r>
              <a:rPr lang="en-US" sz="1200" spc="0" dirty="0">
                <a:solidFill>
                  <a:schemeClr val="bg1"/>
                </a:solidFill>
                <a:effectLst/>
                <a:latin typeface="Udemy Sans"/>
                <a:ea typeface="Symbol" panose="05050102010706020507" pitchFamily="18" charset="2"/>
                <a:cs typeface="Symbol" panose="05050102010706020507" pitchFamily="18" charset="2"/>
              </a:rPr>
              <a:t>data</a:t>
            </a:r>
            <a:r>
              <a:rPr lang="en-US" sz="1200" spc="-10" dirty="0">
                <a:solidFill>
                  <a:schemeClr val="bg1"/>
                </a:solidFill>
                <a:effectLst/>
                <a:latin typeface="Udemy Sans"/>
                <a:ea typeface="Symbol" panose="05050102010706020507" pitchFamily="18" charset="2"/>
                <a:cs typeface="Symbol" panose="05050102010706020507" pitchFamily="18" charset="2"/>
              </a:rPr>
              <a:t> </a:t>
            </a:r>
            <a:r>
              <a:rPr lang="en-US" sz="1200" spc="0" dirty="0">
                <a:solidFill>
                  <a:schemeClr val="bg1"/>
                </a:solidFill>
                <a:effectLst/>
                <a:latin typeface="Udemy Sans"/>
                <a:ea typeface="Symbol" panose="05050102010706020507" pitchFamily="18" charset="2"/>
                <a:cs typeface="Symbol" panose="05050102010706020507" pitchFamily="18" charset="2"/>
              </a:rPr>
              <a:t>type.</a:t>
            </a:r>
            <a:endParaRPr lang="en-IN" sz="1200" spc="0" dirty="0">
              <a:solidFill>
                <a:schemeClr val="bg1"/>
              </a:solidFill>
              <a:effectLst/>
              <a:latin typeface="Udemy Sans"/>
              <a:ea typeface="Symbol" panose="05050102010706020507" pitchFamily="18" charset="2"/>
              <a:cs typeface="Symbol" panose="05050102010706020507" pitchFamily="18" charset="2"/>
            </a:endParaRPr>
          </a:p>
          <a:p>
            <a:pPr lvl="1" algn="just">
              <a:spcBef>
                <a:spcPts val="590"/>
              </a:spcBef>
              <a:buFont typeface="Wingdings" panose="05000000000000000000" pitchFamily="2" charset="2"/>
              <a:buChar char="Ø"/>
              <a:tabLst>
                <a:tab pos="652145" algn="l"/>
              </a:tabLst>
            </a:pPr>
            <a:r>
              <a:rPr lang="en-US" sz="1200" spc="-30" dirty="0">
                <a:solidFill>
                  <a:schemeClr val="bg1"/>
                </a:solidFill>
                <a:effectLst/>
                <a:latin typeface="Udemy Sans"/>
                <a:ea typeface="Symbol" panose="05050102010706020507" pitchFamily="18" charset="2"/>
                <a:cs typeface="Symbol" panose="05050102010706020507" pitchFamily="18" charset="2"/>
              </a:rPr>
              <a:t>C#</a:t>
            </a:r>
            <a:r>
              <a:rPr lang="en-US" sz="1200" spc="-35" dirty="0">
                <a:solidFill>
                  <a:schemeClr val="bg1"/>
                </a:solidFill>
                <a:effectLst/>
                <a:latin typeface="Udemy Sans"/>
                <a:ea typeface="Symbol" panose="05050102010706020507" pitchFamily="18" charset="2"/>
                <a:cs typeface="Symbol" panose="05050102010706020507" pitchFamily="18" charset="2"/>
              </a:rPr>
              <a:t> </a:t>
            </a:r>
            <a:r>
              <a:rPr lang="en-US" sz="1200" spc="-30" dirty="0">
                <a:solidFill>
                  <a:schemeClr val="bg1"/>
                </a:solidFill>
                <a:effectLst/>
                <a:latin typeface="Udemy Sans"/>
                <a:ea typeface="Symbol" panose="05050102010706020507" pitchFamily="18" charset="2"/>
                <a:cs typeface="Symbol" panose="05050102010706020507" pitchFamily="18" charset="2"/>
              </a:rPr>
              <a:t>compiler</a:t>
            </a:r>
            <a:r>
              <a:rPr lang="en-US" sz="1200" spc="-35" dirty="0">
                <a:solidFill>
                  <a:schemeClr val="bg1"/>
                </a:solidFill>
                <a:effectLst/>
                <a:latin typeface="Udemy Sans"/>
                <a:ea typeface="Symbol" panose="05050102010706020507" pitchFamily="18" charset="2"/>
                <a:cs typeface="Symbol" panose="05050102010706020507" pitchFamily="18" charset="2"/>
              </a:rPr>
              <a:t> </a:t>
            </a:r>
            <a:r>
              <a:rPr lang="en-US" sz="1200" spc="-30" dirty="0">
                <a:solidFill>
                  <a:schemeClr val="bg1"/>
                </a:solidFill>
                <a:effectLst/>
                <a:latin typeface="Udemy Sans"/>
                <a:ea typeface="Symbol" panose="05050102010706020507" pitchFamily="18" charset="2"/>
                <a:cs typeface="Symbol" panose="05050102010706020507" pitchFamily="18" charset="2"/>
              </a:rPr>
              <a:t>automatically</a:t>
            </a:r>
            <a:r>
              <a:rPr lang="en-US" sz="1200" spc="-55" dirty="0">
                <a:solidFill>
                  <a:schemeClr val="bg1"/>
                </a:solidFill>
                <a:effectLst/>
                <a:latin typeface="Udemy Sans"/>
                <a:ea typeface="Symbol" panose="05050102010706020507" pitchFamily="18" charset="2"/>
                <a:cs typeface="Symbol" panose="05050102010706020507" pitchFamily="18" charset="2"/>
              </a:rPr>
              <a:t> </a:t>
            </a:r>
            <a:r>
              <a:rPr lang="en-US" sz="1200" spc="-30" dirty="0">
                <a:solidFill>
                  <a:schemeClr val="bg1"/>
                </a:solidFill>
                <a:effectLst/>
                <a:latin typeface="Udemy Sans"/>
                <a:ea typeface="Symbol" panose="05050102010706020507" pitchFamily="18" charset="2"/>
                <a:cs typeface="Symbol" panose="05050102010706020507" pitchFamily="18" charset="2"/>
              </a:rPr>
              <a:t>treats</a:t>
            </a:r>
            <a:r>
              <a:rPr lang="en-US" sz="1200" spc="-35" dirty="0">
                <a:solidFill>
                  <a:schemeClr val="bg1"/>
                </a:solidFill>
                <a:effectLst/>
                <a:latin typeface="Udemy Sans"/>
                <a:ea typeface="Symbol" panose="05050102010706020507" pitchFamily="18" charset="2"/>
                <a:cs typeface="Symbol" panose="05050102010706020507" pitchFamily="18" charset="2"/>
              </a:rPr>
              <a:t> </a:t>
            </a:r>
            <a:r>
              <a:rPr lang="en-US" sz="1200" spc="-30" dirty="0">
                <a:solidFill>
                  <a:schemeClr val="bg1"/>
                </a:solidFill>
                <a:effectLst/>
                <a:latin typeface="Udemy Sans"/>
                <a:ea typeface="Symbol" panose="05050102010706020507" pitchFamily="18" charset="2"/>
                <a:cs typeface="Symbol" panose="05050102010706020507" pitchFamily="18" charset="2"/>
              </a:rPr>
              <a:t>a</a:t>
            </a:r>
            <a:r>
              <a:rPr lang="en-US" sz="1200" spc="-40" dirty="0">
                <a:solidFill>
                  <a:schemeClr val="bg1"/>
                </a:solidFill>
                <a:effectLst/>
                <a:latin typeface="Udemy Sans"/>
                <a:ea typeface="Symbol" panose="05050102010706020507" pitchFamily="18" charset="2"/>
                <a:cs typeface="Symbol" panose="05050102010706020507" pitchFamily="18" charset="2"/>
              </a:rPr>
              <a:t> </a:t>
            </a:r>
            <a:r>
              <a:rPr lang="en-US" sz="1200" spc="-30" dirty="0">
                <a:solidFill>
                  <a:schemeClr val="bg1"/>
                </a:solidFill>
                <a:effectLst/>
                <a:latin typeface="Udemy Sans"/>
                <a:ea typeface="Symbol" panose="05050102010706020507" pitchFamily="18" charset="2"/>
                <a:cs typeface="Symbol" panose="05050102010706020507" pitchFamily="18" charset="2"/>
              </a:rPr>
              <a:t>number</a:t>
            </a:r>
            <a:r>
              <a:rPr lang="en-US" sz="1200" spc="-35" dirty="0">
                <a:solidFill>
                  <a:schemeClr val="bg1"/>
                </a:solidFill>
                <a:effectLst/>
                <a:latin typeface="Udemy Sans"/>
                <a:ea typeface="Symbol" panose="05050102010706020507" pitchFamily="18" charset="2"/>
                <a:cs typeface="Symbol" panose="05050102010706020507" pitchFamily="18" charset="2"/>
              </a:rPr>
              <a:t> </a:t>
            </a:r>
            <a:r>
              <a:rPr lang="en-US" sz="1200" spc="-30" dirty="0">
                <a:solidFill>
                  <a:schemeClr val="bg1"/>
                </a:solidFill>
                <a:effectLst/>
                <a:latin typeface="Udemy Sans"/>
                <a:ea typeface="Symbol" panose="05050102010706020507" pitchFamily="18" charset="2"/>
                <a:cs typeface="Symbol" panose="05050102010706020507" pitchFamily="18" charset="2"/>
              </a:rPr>
              <a:t>with</a:t>
            </a:r>
            <a:r>
              <a:rPr lang="en-US" sz="1200" spc="-45" dirty="0">
                <a:solidFill>
                  <a:schemeClr val="bg1"/>
                </a:solidFill>
                <a:effectLst/>
                <a:latin typeface="Udemy Sans"/>
                <a:ea typeface="Symbol" panose="05050102010706020507" pitchFamily="18" charset="2"/>
                <a:cs typeface="Symbol" panose="05050102010706020507" pitchFamily="18" charset="2"/>
              </a:rPr>
              <a:t> </a:t>
            </a:r>
            <a:r>
              <a:rPr lang="en-US" sz="1200" spc="-30" dirty="0">
                <a:solidFill>
                  <a:schemeClr val="bg1"/>
                </a:solidFill>
                <a:effectLst/>
                <a:latin typeface="Udemy Sans"/>
                <a:ea typeface="Symbol" panose="05050102010706020507" pitchFamily="18" charset="2"/>
                <a:cs typeface="Symbol" panose="05050102010706020507" pitchFamily="18" charset="2"/>
              </a:rPr>
              <a:t>decimal</a:t>
            </a:r>
            <a:r>
              <a:rPr lang="en-US" sz="1200" spc="-35" dirty="0">
                <a:solidFill>
                  <a:schemeClr val="bg1"/>
                </a:solidFill>
                <a:effectLst/>
                <a:latin typeface="Udemy Sans"/>
                <a:ea typeface="Symbol" panose="05050102010706020507" pitchFamily="18" charset="2"/>
                <a:cs typeface="Symbol" panose="05050102010706020507" pitchFamily="18" charset="2"/>
              </a:rPr>
              <a:t> </a:t>
            </a:r>
            <a:r>
              <a:rPr lang="en-US" sz="1200" spc="-30" dirty="0">
                <a:solidFill>
                  <a:schemeClr val="bg1"/>
                </a:solidFill>
                <a:effectLst/>
                <a:latin typeface="Udemy Sans"/>
                <a:ea typeface="Symbol" panose="05050102010706020507" pitchFamily="18" charset="2"/>
                <a:cs typeface="Symbol" panose="05050102010706020507" pitchFamily="18" charset="2"/>
              </a:rPr>
              <a:t>part</a:t>
            </a:r>
            <a:r>
              <a:rPr lang="en-US" sz="1200" spc="-35" dirty="0">
                <a:solidFill>
                  <a:schemeClr val="bg1"/>
                </a:solidFill>
                <a:effectLst/>
                <a:latin typeface="Udemy Sans"/>
                <a:ea typeface="Symbol" panose="05050102010706020507" pitchFamily="18" charset="2"/>
                <a:cs typeface="Symbol" panose="05050102010706020507" pitchFamily="18" charset="2"/>
              </a:rPr>
              <a:t> </a:t>
            </a:r>
            <a:r>
              <a:rPr lang="en-US" sz="1200" spc="-30" dirty="0">
                <a:solidFill>
                  <a:schemeClr val="bg1"/>
                </a:solidFill>
                <a:effectLst/>
                <a:latin typeface="Udemy Sans"/>
                <a:ea typeface="Symbol" panose="05050102010706020507" pitchFamily="18" charset="2"/>
                <a:cs typeface="Symbol" panose="05050102010706020507" pitchFamily="18" charset="2"/>
              </a:rPr>
              <a:t>as</a:t>
            </a:r>
            <a:r>
              <a:rPr lang="en-US" sz="1200" spc="-50" dirty="0">
                <a:solidFill>
                  <a:schemeClr val="bg1"/>
                </a:solidFill>
                <a:effectLst/>
                <a:latin typeface="Udemy Sans"/>
                <a:ea typeface="Symbol" panose="05050102010706020507" pitchFamily="18" charset="2"/>
                <a:cs typeface="Symbol" panose="05050102010706020507" pitchFamily="18" charset="2"/>
              </a:rPr>
              <a:t> </a:t>
            </a:r>
            <a:r>
              <a:rPr lang="en-US" sz="1200" spc="-30" dirty="0">
                <a:solidFill>
                  <a:schemeClr val="bg1"/>
                </a:solidFill>
                <a:effectLst/>
                <a:latin typeface="Udemy Sans"/>
                <a:ea typeface="Symbol" panose="05050102010706020507" pitchFamily="18" charset="2"/>
                <a:cs typeface="Symbol" panose="05050102010706020507" pitchFamily="18" charset="2"/>
              </a:rPr>
              <a:t>“double”</a:t>
            </a:r>
            <a:r>
              <a:rPr lang="en-US" sz="1200" spc="-35" dirty="0">
                <a:solidFill>
                  <a:schemeClr val="bg1"/>
                </a:solidFill>
                <a:effectLst/>
                <a:latin typeface="Udemy Sans"/>
                <a:ea typeface="Symbol" panose="05050102010706020507" pitchFamily="18" charset="2"/>
                <a:cs typeface="Symbol" panose="05050102010706020507" pitchFamily="18" charset="2"/>
              </a:rPr>
              <a:t> </a:t>
            </a:r>
            <a:r>
              <a:rPr lang="en-US" sz="1200" spc="-30" dirty="0">
                <a:solidFill>
                  <a:schemeClr val="bg1"/>
                </a:solidFill>
                <a:effectLst/>
                <a:latin typeface="Udemy Sans"/>
                <a:ea typeface="Symbol" panose="05050102010706020507" pitchFamily="18" charset="2"/>
                <a:cs typeface="Symbol" panose="05050102010706020507" pitchFamily="18" charset="2"/>
              </a:rPr>
              <a:t>data</a:t>
            </a:r>
            <a:r>
              <a:rPr lang="en-US" sz="1200" spc="-40" dirty="0">
                <a:solidFill>
                  <a:schemeClr val="bg1"/>
                </a:solidFill>
                <a:effectLst/>
                <a:latin typeface="Udemy Sans"/>
                <a:ea typeface="Symbol" panose="05050102010706020507" pitchFamily="18" charset="2"/>
                <a:cs typeface="Symbol" panose="05050102010706020507" pitchFamily="18" charset="2"/>
              </a:rPr>
              <a:t> </a:t>
            </a:r>
            <a:r>
              <a:rPr lang="en-US" sz="1200" spc="-30" dirty="0">
                <a:solidFill>
                  <a:schemeClr val="bg1"/>
                </a:solidFill>
                <a:effectLst/>
                <a:latin typeface="Udemy Sans"/>
                <a:ea typeface="Symbol" panose="05050102010706020507" pitchFamily="18" charset="2"/>
                <a:cs typeface="Symbol" panose="05050102010706020507" pitchFamily="18" charset="2"/>
              </a:rPr>
              <a:t>type</a:t>
            </a:r>
            <a:r>
              <a:rPr lang="en-US" sz="1100" spc="-30" dirty="0">
                <a:solidFill>
                  <a:schemeClr val="bg1"/>
                </a:solidFill>
                <a:effectLst/>
                <a:latin typeface="Arial MT"/>
                <a:ea typeface="Symbol" panose="05050102010706020507" pitchFamily="18" charset="2"/>
                <a:cs typeface="Symbol" panose="05050102010706020507" pitchFamily="18" charset="2"/>
              </a:rPr>
              <a:t>.</a:t>
            </a:r>
            <a:endParaRPr lang="en-IN" sz="1100" spc="0" dirty="0">
              <a:solidFill>
                <a:schemeClr val="bg1"/>
              </a:solidFill>
              <a:effectLst/>
              <a:latin typeface="Arial MT"/>
              <a:ea typeface="Symbol" panose="05050102010706020507" pitchFamily="18" charset="2"/>
              <a:cs typeface="Symbol" panose="05050102010706020507" pitchFamily="18" charset="2"/>
            </a:endParaRPr>
          </a:p>
          <a:p>
            <a:endParaRPr lang="en-IN" sz="1100" dirty="0">
              <a:effectLst/>
              <a:latin typeface="Arial MT"/>
              <a:ea typeface="Arial MT"/>
              <a:cs typeface="Arial MT"/>
            </a:endParaRPr>
          </a:p>
          <a:p>
            <a:pPr marL="457200" lvl="1" indent="0">
              <a:buFont typeface="Arial" panose="020B0604020202020204" pitchFamily="34" charset="0"/>
              <a:buNone/>
            </a:pPr>
            <a:endParaRPr lang="en-US" sz="1400" spc="-10" dirty="0">
              <a:solidFill>
                <a:schemeClr val="bg1"/>
              </a:solidFill>
              <a:latin typeface="Arial MT"/>
              <a:ea typeface="Arial MT"/>
              <a:cs typeface="Arial MT"/>
            </a:endParaRPr>
          </a:p>
          <a:p>
            <a:endParaRPr lang="en-IN" dirty="0">
              <a:solidFill>
                <a:srgbClr val="0070C0"/>
              </a:solidFill>
            </a:endParaRPr>
          </a:p>
        </p:txBody>
      </p:sp>
    </p:spTree>
    <p:extLst>
      <p:ext uri="{BB962C8B-B14F-4D97-AF65-F5344CB8AC3E}">
        <p14:creationId xmlns:p14="http://schemas.microsoft.com/office/powerpoint/2010/main" val="415209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005320D8-37A7-48D5-B491-CB724E9C4416}"/>
              </a:ext>
            </a:extLst>
          </p:cNvPr>
          <p:cNvGraphicFramePr>
            <a:graphicFrameLocks noGrp="1"/>
          </p:cNvGraphicFramePr>
          <p:nvPr>
            <p:ph idx="1"/>
            <p:extLst>
              <p:ext uri="{D42A27DB-BD31-4B8C-83A1-F6EECF244321}">
                <p14:modId xmlns:p14="http://schemas.microsoft.com/office/powerpoint/2010/main" val="1195038608"/>
              </p:ext>
            </p:extLst>
          </p:nvPr>
        </p:nvGraphicFramePr>
        <p:xfrm>
          <a:off x="963561" y="412955"/>
          <a:ext cx="10481187" cy="6154994"/>
        </p:xfrm>
        <a:graphic>
          <a:graphicData uri="http://schemas.openxmlformats.org/drawingml/2006/table">
            <a:tbl>
              <a:tblPr firstRow="1" firstCol="1" lastRow="1" lastCol="1" bandRow="1" bandCol="1"/>
              <a:tblGrid>
                <a:gridCol w="690838">
                  <a:extLst>
                    <a:ext uri="{9D8B030D-6E8A-4147-A177-3AD203B41FA5}">
                      <a16:colId xmlns:a16="http://schemas.microsoft.com/office/drawing/2014/main" val="4294452367"/>
                    </a:ext>
                  </a:extLst>
                </a:gridCol>
                <a:gridCol w="1189472">
                  <a:extLst>
                    <a:ext uri="{9D8B030D-6E8A-4147-A177-3AD203B41FA5}">
                      <a16:colId xmlns:a16="http://schemas.microsoft.com/office/drawing/2014/main" val="3281786304"/>
                    </a:ext>
                  </a:extLst>
                </a:gridCol>
                <a:gridCol w="1582667">
                  <a:extLst>
                    <a:ext uri="{9D8B030D-6E8A-4147-A177-3AD203B41FA5}">
                      <a16:colId xmlns:a16="http://schemas.microsoft.com/office/drawing/2014/main" val="2945715902"/>
                    </a:ext>
                  </a:extLst>
                </a:gridCol>
                <a:gridCol w="988480">
                  <a:extLst>
                    <a:ext uri="{9D8B030D-6E8A-4147-A177-3AD203B41FA5}">
                      <a16:colId xmlns:a16="http://schemas.microsoft.com/office/drawing/2014/main" val="191177370"/>
                    </a:ext>
                  </a:extLst>
                </a:gridCol>
                <a:gridCol w="4350411">
                  <a:extLst>
                    <a:ext uri="{9D8B030D-6E8A-4147-A177-3AD203B41FA5}">
                      <a16:colId xmlns:a16="http://schemas.microsoft.com/office/drawing/2014/main" val="1146456371"/>
                    </a:ext>
                  </a:extLst>
                </a:gridCol>
                <a:gridCol w="1679319">
                  <a:extLst>
                    <a:ext uri="{9D8B030D-6E8A-4147-A177-3AD203B41FA5}">
                      <a16:colId xmlns:a16="http://schemas.microsoft.com/office/drawing/2014/main" val="670284943"/>
                    </a:ext>
                  </a:extLst>
                </a:gridCol>
              </a:tblGrid>
              <a:tr h="935319">
                <a:tc>
                  <a:txBody>
                    <a:bodyPr/>
                    <a:lstStyle/>
                    <a:p>
                      <a:pPr marL="5715" marR="635" algn="ctr">
                        <a:spcBef>
                          <a:spcPts val="215"/>
                        </a:spcBef>
                        <a:spcAft>
                          <a:spcPts val="0"/>
                        </a:spcAft>
                      </a:pPr>
                      <a:r>
                        <a:rPr lang="en-US" sz="1200" spc="-50" dirty="0">
                          <a:solidFill>
                            <a:schemeClr val="bg1"/>
                          </a:solidFill>
                          <a:effectLst/>
                          <a:latin typeface="Arial MT"/>
                          <a:ea typeface="Arial MT"/>
                          <a:cs typeface="Arial MT"/>
                        </a:rPr>
                        <a:t>5</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200" spc="-25" dirty="0">
                          <a:solidFill>
                            <a:schemeClr val="bg1"/>
                          </a:solidFill>
                          <a:effectLst/>
                          <a:latin typeface="Arial MT"/>
                          <a:ea typeface="Arial MT"/>
                          <a:cs typeface="Arial MT"/>
                        </a:rPr>
                        <a:t>int</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nSpc>
                          <a:spcPct val="146000"/>
                        </a:lnSpc>
                        <a:spcBef>
                          <a:spcPts val="215"/>
                        </a:spcBef>
                      </a:pPr>
                      <a:r>
                        <a:rPr lang="en-US" sz="1200" spc="-20" dirty="0">
                          <a:solidFill>
                            <a:schemeClr val="bg1"/>
                          </a:solidFill>
                          <a:effectLst/>
                          <a:latin typeface="Arial MT"/>
                          <a:ea typeface="Arial MT"/>
                          <a:cs typeface="Arial MT"/>
                        </a:rPr>
                        <a:t>32-bit</a:t>
                      </a:r>
                      <a:r>
                        <a:rPr lang="en-US" sz="1200" spc="-60" dirty="0">
                          <a:solidFill>
                            <a:schemeClr val="bg1"/>
                          </a:solidFill>
                          <a:effectLst/>
                          <a:latin typeface="Arial MT"/>
                          <a:ea typeface="Arial MT"/>
                          <a:cs typeface="Arial MT"/>
                        </a:rPr>
                        <a:t> </a:t>
                      </a:r>
                      <a:r>
                        <a:rPr lang="en-US" sz="1200" spc="-20" dirty="0">
                          <a:solidFill>
                            <a:schemeClr val="bg1"/>
                          </a:solidFill>
                          <a:effectLst/>
                          <a:latin typeface="Arial MT"/>
                          <a:ea typeface="Arial MT"/>
                          <a:cs typeface="Arial MT"/>
                        </a:rPr>
                        <a:t>signed </a:t>
                      </a:r>
                      <a:r>
                        <a:rPr lang="en-US" sz="1200" spc="-10" dirty="0">
                          <a:solidFill>
                            <a:schemeClr val="bg1"/>
                          </a:solidFill>
                          <a:effectLst/>
                          <a:latin typeface="Arial MT"/>
                          <a:ea typeface="Arial MT"/>
                          <a:cs typeface="Arial MT"/>
                        </a:rPr>
                        <a:t>integer</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3175" algn="ctr">
                        <a:spcBef>
                          <a:spcPts val="215"/>
                        </a:spcBef>
                        <a:spcAft>
                          <a:spcPts val="0"/>
                        </a:spcAft>
                      </a:pPr>
                      <a:r>
                        <a:rPr lang="en-US" sz="1200">
                          <a:solidFill>
                            <a:schemeClr val="bg1"/>
                          </a:solidFill>
                          <a:effectLst/>
                          <a:latin typeface="Arial MT"/>
                          <a:ea typeface="Arial MT"/>
                          <a:cs typeface="Arial MT"/>
                        </a:rPr>
                        <a:t>4</a:t>
                      </a:r>
                      <a:r>
                        <a:rPr lang="en-US" sz="1200" spc="-75">
                          <a:solidFill>
                            <a:schemeClr val="bg1"/>
                          </a:solidFill>
                          <a:effectLst/>
                          <a:latin typeface="Arial MT"/>
                          <a:ea typeface="Arial MT"/>
                          <a:cs typeface="Arial MT"/>
                        </a:rPr>
                        <a:t> </a:t>
                      </a:r>
                      <a:r>
                        <a:rPr lang="en-US" sz="1200" spc="-20">
                          <a:solidFill>
                            <a:schemeClr val="bg1"/>
                          </a:solidFill>
                          <a:effectLst/>
                          <a:latin typeface="Arial MT"/>
                          <a:ea typeface="Arial MT"/>
                          <a:cs typeface="Arial MT"/>
                        </a:rPr>
                        <a:t>bytes</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15"/>
                        </a:spcBef>
                      </a:pPr>
                      <a:r>
                        <a:rPr lang="en-US" sz="1200" spc="-30">
                          <a:solidFill>
                            <a:schemeClr val="bg1"/>
                          </a:solidFill>
                          <a:effectLst/>
                          <a:latin typeface="Arial MT"/>
                          <a:ea typeface="Arial MT"/>
                          <a:cs typeface="Arial MT"/>
                        </a:rPr>
                        <a:t>-2,147,483,648</a:t>
                      </a:r>
                      <a:r>
                        <a:rPr lang="en-US" sz="1200" spc="-10">
                          <a:solidFill>
                            <a:schemeClr val="bg1"/>
                          </a:solidFill>
                          <a:effectLst/>
                          <a:latin typeface="Arial MT"/>
                          <a:ea typeface="Arial MT"/>
                          <a:cs typeface="Arial MT"/>
                        </a:rPr>
                        <a:t> </a:t>
                      </a:r>
                      <a:r>
                        <a:rPr lang="en-US" sz="1200" spc="-30">
                          <a:solidFill>
                            <a:schemeClr val="bg1"/>
                          </a:solidFill>
                          <a:effectLst/>
                          <a:latin typeface="Arial MT"/>
                          <a:ea typeface="Arial MT"/>
                          <a:cs typeface="Arial MT"/>
                        </a:rPr>
                        <a:t>to 2,147,483,647</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158115">
                        <a:lnSpc>
                          <a:spcPct val="146000"/>
                        </a:lnSpc>
                        <a:spcBef>
                          <a:spcPts val="215"/>
                        </a:spcBef>
                        <a:spcAft>
                          <a:spcPts val="0"/>
                        </a:spcAft>
                      </a:pPr>
                      <a:r>
                        <a:rPr lang="en-US" sz="1200" spc="-10">
                          <a:solidFill>
                            <a:schemeClr val="bg1"/>
                          </a:solidFill>
                          <a:effectLst/>
                          <a:latin typeface="Arial MT"/>
                          <a:ea typeface="Arial MT"/>
                          <a:cs typeface="Arial MT"/>
                        </a:rPr>
                        <a:t>Medium </a:t>
                      </a:r>
                      <a:r>
                        <a:rPr lang="en-US" sz="1200" spc="-20">
                          <a:solidFill>
                            <a:schemeClr val="bg1"/>
                          </a:solidFill>
                          <a:effectLst/>
                          <a:latin typeface="Arial MT"/>
                          <a:ea typeface="Arial MT"/>
                          <a:cs typeface="Arial MT"/>
                        </a:rPr>
                        <a:t>positive</a:t>
                      </a:r>
                      <a:r>
                        <a:rPr lang="en-US" sz="1200" spc="-60">
                          <a:solidFill>
                            <a:schemeClr val="bg1"/>
                          </a:solidFill>
                          <a:effectLst/>
                          <a:latin typeface="Arial MT"/>
                          <a:ea typeface="Arial MT"/>
                          <a:cs typeface="Arial MT"/>
                        </a:rPr>
                        <a:t> </a:t>
                      </a:r>
                      <a:r>
                        <a:rPr lang="en-US" sz="1200" spc="-20">
                          <a:solidFill>
                            <a:schemeClr val="bg1"/>
                          </a:solidFill>
                          <a:effectLst/>
                          <a:latin typeface="Arial MT"/>
                          <a:ea typeface="Arial MT"/>
                          <a:cs typeface="Arial MT"/>
                        </a:rPr>
                        <a:t>or </a:t>
                      </a:r>
                      <a:r>
                        <a:rPr lang="en-US" sz="1200" spc="-10">
                          <a:solidFill>
                            <a:schemeClr val="bg1"/>
                          </a:solidFill>
                          <a:effectLst/>
                          <a:latin typeface="Arial MT"/>
                          <a:ea typeface="Arial MT"/>
                          <a:cs typeface="Arial MT"/>
                        </a:rPr>
                        <a:t>negative</a:t>
                      </a:r>
                      <a:endParaRPr lang="en-IN" sz="1200">
                        <a:solidFill>
                          <a:schemeClr val="bg1"/>
                        </a:solidFill>
                        <a:effectLst/>
                        <a:latin typeface="Arial MT"/>
                        <a:ea typeface="Arial MT"/>
                        <a:cs typeface="Arial MT"/>
                      </a:endParaRPr>
                    </a:p>
                    <a:p>
                      <a:pPr marL="67310">
                        <a:lnSpc>
                          <a:spcPts val="1255"/>
                        </a:lnSpc>
                        <a:spcBef>
                          <a:spcPts val="215"/>
                        </a:spcBef>
                        <a:spcAft>
                          <a:spcPts val="0"/>
                        </a:spcAft>
                      </a:pPr>
                      <a:r>
                        <a:rPr lang="en-US" sz="1200" spc="-10">
                          <a:solidFill>
                            <a:schemeClr val="bg1"/>
                          </a:solidFill>
                          <a:effectLst/>
                          <a:latin typeface="Arial MT"/>
                          <a:ea typeface="Arial MT"/>
                          <a:cs typeface="Arial MT"/>
                        </a:rPr>
                        <a:t>integers</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9717268"/>
                  </a:ext>
                </a:extLst>
              </a:tr>
              <a:tr h="640415">
                <a:tc>
                  <a:txBody>
                    <a:bodyPr/>
                    <a:lstStyle/>
                    <a:p>
                      <a:pPr marL="5715" marR="635" algn="ctr">
                        <a:spcBef>
                          <a:spcPts val="215"/>
                        </a:spcBef>
                        <a:spcAft>
                          <a:spcPts val="0"/>
                        </a:spcAft>
                      </a:pPr>
                      <a:r>
                        <a:rPr lang="en-US" sz="1200" spc="-50">
                          <a:solidFill>
                            <a:schemeClr val="bg1"/>
                          </a:solidFill>
                          <a:effectLst/>
                          <a:latin typeface="Arial MT"/>
                          <a:ea typeface="Arial MT"/>
                          <a:cs typeface="Arial MT"/>
                        </a:rPr>
                        <a:t>6</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200" spc="-20" dirty="0" err="1">
                          <a:solidFill>
                            <a:schemeClr val="bg1"/>
                          </a:solidFill>
                          <a:effectLst/>
                          <a:latin typeface="Arial MT"/>
                          <a:ea typeface="Arial MT"/>
                          <a:cs typeface="Arial MT"/>
                        </a:rPr>
                        <a:t>uint</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15"/>
                        </a:spcBef>
                      </a:pPr>
                      <a:r>
                        <a:rPr lang="en-US" sz="1200" spc="-10">
                          <a:solidFill>
                            <a:schemeClr val="bg1"/>
                          </a:solidFill>
                          <a:effectLst/>
                          <a:latin typeface="Arial MT"/>
                          <a:ea typeface="Arial MT"/>
                          <a:cs typeface="Arial MT"/>
                        </a:rPr>
                        <a:t>32-</a:t>
                      </a:r>
                      <a:r>
                        <a:rPr lang="en-US" sz="1200" spc="-25">
                          <a:solidFill>
                            <a:schemeClr val="bg1"/>
                          </a:solidFill>
                          <a:effectLst/>
                          <a:latin typeface="Arial MT"/>
                          <a:ea typeface="Arial MT"/>
                          <a:cs typeface="Arial MT"/>
                        </a:rPr>
                        <a:t>bit</a:t>
                      </a:r>
                      <a:endParaRPr lang="en-IN" sz="1200">
                        <a:solidFill>
                          <a:schemeClr val="bg1"/>
                        </a:solidFill>
                        <a:effectLst/>
                        <a:latin typeface="Arial MT"/>
                        <a:ea typeface="Arial MT"/>
                        <a:cs typeface="Arial MT"/>
                      </a:endParaRPr>
                    </a:p>
                    <a:p>
                      <a:pPr marL="67310">
                        <a:lnSpc>
                          <a:spcPts val="1850"/>
                        </a:lnSpc>
                        <a:spcBef>
                          <a:spcPts val="10"/>
                        </a:spcBef>
                        <a:spcAft>
                          <a:spcPts val="0"/>
                        </a:spcAft>
                      </a:pPr>
                      <a:r>
                        <a:rPr lang="en-US" sz="1200" spc="-10">
                          <a:solidFill>
                            <a:schemeClr val="bg1"/>
                          </a:solidFill>
                          <a:effectLst/>
                          <a:latin typeface="Arial MT"/>
                          <a:ea typeface="Arial MT"/>
                          <a:cs typeface="Arial MT"/>
                        </a:rPr>
                        <a:t>unsigned integer</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3175" algn="ctr">
                        <a:spcBef>
                          <a:spcPts val="215"/>
                        </a:spcBef>
                        <a:spcAft>
                          <a:spcPts val="0"/>
                        </a:spcAft>
                      </a:pPr>
                      <a:r>
                        <a:rPr lang="en-US" sz="1200">
                          <a:solidFill>
                            <a:schemeClr val="bg1"/>
                          </a:solidFill>
                          <a:effectLst/>
                          <a:latin typeface="Arial MT"/>
                          <a:ea typeface="Arial MT"/>
                          <a:cs typeface="Arial MT"/>
                        </a:rPr>
                        <a:t>4</a:t>
                      </a:r>
                      <a:r>
                        <a:rPr lang="en-US" sz="1200" spc="-75">
                          <a:solidFill>
                            <a:schemeClr val="bg1"/>
                          </a:solidFill>
                          <a:effectLst/>
                          <a:latin typeface="Arial MT"/>
                          <a:ea typeface="Arial MT"/>
                          <a:cs typeface="Arial MT"/>
                        </a:rPr>
                        <a:t> </a:t>
                      </a:r>
                      <a:r>
                        <a:rPr lang="en-US" sz="1200" spc="-20">
                          <a:solidFill>
                            <a:schemeClr val="bg1"/>
                          </a:solidFill>
                          <a:effectLst/>
                          <a:latin typeface="Arial MT"/>
                          <a:ea typeface="Arial MT"/>
                          <a:cs typeface="Arial MT"/>
                        </a:rPr>
                        <a:t>bytes</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15"/>
                        </a:spcBef>
                      </a:pPr>
                      <a:r>
                        <a:rPr lang="en-US" sz="1200" dirty="0">
                          <a:solidFill>
                            <a:schemeClr val="bg1"/>
                          </a:solidFill>
                          <a:effectLst/>
                          <a:latin typeface="Arial MT"/>
                          <a:ea typeface="Arial MT"/>
                          <a:cs typeface="Arial MT"/>
                        </a:rPr>
                        <a:t>0</a:t>
                      </a:r>
                      <a:r>
                        <a:rPr lang="en-US" sz="1200" spc="-35" dirty="0">
                          <a:solidFill>
                            <a:schemeClr val="bg1"/>
                          </a:solidFill>
                          <a:effectLst/>
                          <a:latin typeface="Arial MT"/>
                          <a:ea typeface="Arial MT"/>
                          <a:cs typeface="Arial MT"/>
                        </a:rPr>
                        <a:t> </a:t>
                      </a:r>
                      <a:r>
                        <a:rPr lang="en-US" sz="1200" dirty="0">
                          <a:solidFill>
                            <a:schemeClr val="bg1"/>
                          </a:solidFill>
                          <a:effectLst/>
                          <a:latin typeface="Arial MT"/>
                          <a:ea typeface="Arial MT"/>
                          <a:cs typeface="Arial MT"/>
                        </a:rPr>
                        <a:t>to</a:t>
                      </a:r>
                      <a:r>
                        <a:rPr lang="en-US" sz="1200" spc="-35" dirty="0">
                          <a:solidFill>
                            <a:schemeClr val="bg1"/>
                          </a:solidFill>
                          <a:effectLst/>
                          <a:latin typeface="Arial MT"/>
                          <a:ea typeface="Arial MT"/>
                          <a:cs typeface="Arial MT"/>
                        </a:rPr>
                        <a:t> </a:t>
                      </a:r>
                      <a:r>
                        <a:rPr lang="en-US" sz="1200" spc="-10" dirty="0">
                          <a:solidFill>
                            <a:schemeClr val="bg1"/>
                          </a:solidFill>
                          <a:effectLst/>
                          <a:latin typeface="Arial MT"/>
                          <a:ea typeface="Arial MT"/>
                          <a:cs typeface="Arial MT"/>
                        </a:rPr>
                        <a:t>4,294,967,295</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15"/>
                        </a:spcBef>
                      </a:pPr>
                      <a:r>
                        <a:rPr lang="en-US" sz="1200" spc="-10">
                          <a:solidFill>
                            <a:schemeClr val="bg1"/>
                          </a:solidFill>
                          <a:effectLst/>
                          <a:latin typeface="Arial MT"/>
                          <a:ea typeface="Arial MT"/>
                          <a:cs typeface="Arial MT"/>
                        </a:rPr>
                        <a:t>Medium</a:t>
                      </a:r>
                      <a:endParaRPr lang="en-IN" sz="1200">
                        <a:solidFill>
                          <a:schemeClr val="bg1"/>
                        </a:solidFill>
                        <a:effectLst/>
                        <a:latin typeface="Arial MT"/>
                        <a:ea typeface="Arial MT"/>
                        <a:cs typeface="Arial MT"/>
                      </a:endParaRPr>
                    </a:p>
                    <a:p>
                      <a:pPr marL="67310" marR="417830">
                        <a:lnSpc>
                          <a:spcPts val="1850"/>
                        </a:lnSpc>
                        <a:spcBef>
                          <a:spcPts val="10"/>
                        </a:spcBef>
                        <a:spcAft>
                          <a:spcPts val="0"/>
                        </a:spcAft>
                      </a:pPr>
                      <a:r>
                        <a:rPr lang="en-US" sz="1200" spc="-10">
                          <a:solidFill>
                            <a:schemeClr val="bg1"/>
                          </a:solidFill>
                          <a:effectLst/>
                          <a:latin typeface="Arial MT"/>
                          <a:ea typeface="Arial MT"/>
                          <a:cs typeface="Arial MT"/>
                        </a:rPr>
                        <a:t>positive </a:t>
                      </a:r>
                      <a:r>
                        <a:rPr lang="en-US" sz="1200" spc="-30">
                          <a:solidFill>
                            <a:schemeClr val="bg1"/>
                          </a:solidFill>
                          <a:effectLst/>
                          <a:latin typeface="Arial MT"/>
                          <a:ea typeface="Arial MT"/>
                          <a:cs typeface="Arial MT"/>
                        </a:rPr>
                        <a:t>integers</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9885277"/>
                  </a:ext>
                </a:extLst>
              </a:tr>
              <a:tr h="795541">
                <a:tc>
                  <a:txBody>
                    <a:bodyPr/>
                    <a:lstStyle/>
                    <a:p>
                      <a:pPr marL="5715" marR="635" algn="ctr">
                        <a:spcBef>
                          <a:spcPts val="215"/>
                        </a:spcBef>
                        <a:spcAft>
                          <a:spcPts val="0"/>
                        </a:spcAft>
                      </a:pPr>
                      <a:r>
                        <a:rPr lang="en-US" sz="1200" spc="-50">
                          <a:solidFill>
                            <a:schemeClr val="bg1"/>
                          </a:solidFill>
                          <a:effectLst/>
                          <a:latin typeface="Arial MT"/>
                          <a:ea typeface="Arial MT"/>
                          <a:cs typeface="Arial MT"/>
                        </a:rPr>
                        <a:t>7</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200" spc="-20" dirty="0">
                          <a:solidFill>
                            <a:schemeClr val="bg1"/>
                          </a:solidFill>
                          <a:effectLst/>
                          <a:latin typeface="Arial MT"/>
                          <a:ea typeface="Arial MT"/>
                          <a:cs typeface="Arial MT"/>
                        </a:rPr>
                        <a:t>long</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nSpc>
                          <a:spcPct val="146000"/>
                        </a:lnSpc>
                        <a:spcBef>
                          <a:spcPts val="215"/>
                        </a:spcBef>
                      </a:pPr>
                      <a:r>
                        <a:rPr lang="en-US" sz="1200" spc="-20" dirty="0">
                          <a:solidFill>
                            <a:schemeClr val="bg1"/>
                          </a:solidFill>
                          <a:effectLst/>
                          <a:latin typeface="Arial MT"/>
                          <a:ea typeface="Arial MT"/>
                          <a:cs typeface="Arial MT"/>
                        </a:rPr>
                        <a:t>64-bit</a:t>
                      </a:r>
                      <a:r>
                        <a:rPr lang="en-US" sz="1200" spc="-60" dirty="0">
                          <a:solidFill>
                            <a:schemeClr val="bg1"/>
                          </a:solidFill>
                          <a:effectLst/>
                          <a:latin typeface="Arial MT"/>
                          <a:ea typeface="Arial MT"/>
                          <a:cs typeface="Arial MT"/>
                        </a:rPr>
                        <a:t> </a:t>
                      </a:r>
                      <a:r>
                        <a:rPr lang="en-US" sz="1200" spc="-20" dirty="0">
                          <a:solidFill>
                            <a:schemeClr val="bg1"/>
                          </a:solidFill>
                          <a:effectLst/>
                          <a:latin typeface="Arial MT"/>
                          <a:ea typeface="Arial MT"/>
                          <a:cs typeface="Arial MT"/>
                        </a:rPr>
                        <a:t>signed </a:t>
                      </a:r>
                      <a:r>
                        <a:rPr lang="en-US" sz="1200" spc="-10" dirty="0">
                          <a:solidFill>
                            <a:schemeClr val="bg1"/>
                          </a:solidFill>
                          <a:effectLst/>
                          <a:latin typeface="Arial MT"/>
                          <a:ea typeface="Arial MT"/>
                          <a:cs typeface="Arial MT"/>
                        </a:rPr>
                        <a:t>integer</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3175" algn="ctr">
                        <a:spcBef>
                          <a:spcPts val="215"/>
                        </a:spcBef>
                        <a:spcAft>
                          <a:spcPts val="0"/>
                        </a:spcAft>
                      </a:pPr>
                      <a:r>
                        <a:rPr lang="en-US" sz="1200">
                          <a:solidFill>
                            <a:schemeClr val="bg1"/>
                          </a:solidFill>
                          <a:effectLst/>
                          <a:latin typeface="Arial MT"/>
                          <a:ea typeface="Arial MT"/>
                          <a:cs typeface="Arial MT"/>
                        </a:rPr>
                        <a:t>8</a:t>
                      </a:r>
                      <a:r>
                        <a:rPr lang="en-US" sz="1200" spc="-75">
                          <a:solidFill>
                            <a:schemeClr val="bg1"/>
                          </a:solidFill>
                          <a:effectLst/>
                          <a:latin typeface="Arial MT"/>
                          <a:ea typeface="Arial MT"/>
                          <a:cs typeface="Arial MT"/>
                        </a:rPr>
                        <a:t> </a:t>
                      </a:r>
                      <a:r>
                        <a:rPr lang="en-US" sz="1200" spc="-20">
                          <a:solidFill>
                            <a:schemeClr val="bg1"/>
                          </a:solidFill>
                          <a:effectLst/>
                          <a:latin typeface="Arial MT"/>
                          <a:ea typeface="Arial MT"/>
                          <a:cs typeface="Arial MT"/>
                        </a:rPr>
                        <a:t>bytes</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15"/>
                        </a:spcBef>
                      </a:pPr>
                      <a:r>
                        <a:rPr lang="en-US" sz="1200" spc="10" dirty="0">
                          <a:solidFill>
                            <a:schemeClr val="bg1"/>
                          </a:solidFill>
                          <a:effectLst/>
                          <a:latin typeface="Arial MT"/>
                          <a:ea typeface="Arial MT"/>
                          <a:cs typeface="Arial MT"/>
                        </a:rPr>
                        <a:t>-9,223,372,036,854,775,808</a:t>
                      </a:r>
                      <a:r>
                        <a:rPr lang="en-US" sz="1200" spc="110" dirty="0">
                          <a:solidFill>
                            <a:schemeClr val="bg1"/>
                          </a:solidFill>
                          <a:effectLst/>
                          <a:latin typeface="Arial MT"/>
                          <a:ea typeface="Arial MT"/>
                          <a:cs typeface="Arial MT"/>
                        </a:rPr>
                        <a:t> </a:t>
                      </a:r>
                      <a:r>
                        <a:rPr lang="en-US" sz="1200" spc="-25" dirty="0">
                          <a:solidFill>
                            <a:schemeClr val="bg1"/>
                          </a:solidFill>
                          <a:effectLst/>
                          <a:latin typeface="Arial MT"/>
                          <a:ea typeface="Arial MT"/>
                          <a:cs typeface="Arial MT"/>
                        </a:rPr>
                        <a:t>to</a:t>
                      </a:r>
                      <a:endParaRPr lang="en-IN" sz="1200" dirty="0">
                        <a:solidFill>
                          <a:schemeClr val="bg1"/>
                        </a:solidFill>
                        <a:effectLst/>
                        <a:latin typeface="Arial MT"/>
                        <a:ea typeface="Arial MT"/>
                        <a:cs typeface="Arial MT"/>
                      </a:endParaRPr>
                    </a:p>
                    <a:p>
                      <a:pPr marL="67310">
                        <a:spcBef>
                          <a:spcPts val="595"/>
                        </a:spcBef>
                        <a:spcAft>
                          <a:spcPts val="0"/>
                        </a:spcAft>
                      </a:pPr>
                      <a:r>
                        <a:rPr lang="en-US" sz="1200" spc="-10" dirty="0">
                          <a:solidFill>
                            <a:schemeClr val="bg1"/>
                          </a:solidFill>
                          <a:effectLst/>
                          <a:latin typeface="Arial MT"/>
                          <a:ea typeface="Arial MT"/>
                          <a:cs typeface="Arial MT"/>
                        </a:rPr>
                        <a:t>9,223,372,036,854,770,000</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nSpc>
                          <a:spcPct val="146000"/>
                        </a:lnSpc>
                        <a:spcBef>
                          <a:spcPts val="215"/>
                        </a:spcBef>
                      </a:pPr>
                      <a:r>
                        <a:rPr lang="en-US" sz="1200" spc="-40">
                          <a:solidFill>
                            <a:schemeClr val="bg1"/>
                          </a:solidFill>
                          <a:effectLst/>
                          <a:latin typeface="Arial MT"/>
                          <a:ea typeface="Arial MT"/>
                          <a:cs typeface="Arial MT"/>
                        </a:rPr>
                        <a:t>Large</a:t>
                      </a:r>
                      <a:r>
                        <a:rPr lang="en-US" sz="1200" spc="-50">
                          <a:solidFill>
                            <a:schemeClr val="bg1"/>
                          </a:solidFill>
                          <a:effectLst/>
                          <a:latin typeface="Arial MT"/>
                          <a:ea typeface="Arial MT"/>
                          <a:cs typeface="Arial MT"/>
                        </a:rPr>
                        <a:t> </a:t>
                      </a:r>
                      <a:r>
                        <a:rPr lang="en-US" sz="1200" spc="-40">
                          <a:solidFill>
                            <a:schemeClr val="bg1"/>
                          </a:solidFill>
                          <a:effectLst/>
                          <a:latin typeface="Arial MT"/>
                          <a:ea typeface="Arial MT"/>
                          <a:cs typeface="Arial MT"/>
                        </a:rPr>
                        <a:t>positive </a:t>
                      </a:r>
                      <a:r>
                        <a:rPr lang="en-US" sz="1200" spc="-30">
                          <a:solidFill>
                            <a:schemeClr val="bg1"/>
                          </a:solidFill>
                          <a:effectLst/>
                          <a:latin typeface="Arial MT"/>
                          <a:ea typeface="Arial MT"/>
                          <a:cs typeface="Arial MT"/>
                        </a:rPr>
                        <a:t>or</a:t>
                      </a:r>
                      <a:endParaRPr lang="en-IN" sz="1200">
                        <a:solidFill>
                          <a:schemeClr val="bg1"/>
                        </a:solidFill>
                        <a:effectLst/>
                        <a:latin typeface="Arial MT"/>
                        <a:ea typeface="Arial MT"/>
                        <a:cs typeface="Arial MT"/>
                      </a:endParaRPr>
                    </a:p>
                    <a:p>
                      <a:pPr marL="67310">
                        <a:spcBef>
                          <a:spcPts val="215"/>
                        </a:spcBef>
                        <a:spcAft>
                          <a:spcPts val="0"/>
                        </a:spcAft>
                      </a:pPr>
                      <a:r>
                        <a:rPr lang="en-US" sz="1200" spc="-10">
                          <a:solidFill>
                            <a:schemeClr val="bg1"/>
                          </a:solidFill>
                          <a:effectLst/>
                          <a:latin typeface="Arial MT"/>
                          <a:ea typeface="Arial MT"/>
                          <a:cs typeface="Arial MT"/>
                        </a:rPr>
                        <a:t>negative</a:t>
                      </a:r>
                      <a:endParaRPr lang="en-IN" sz="1200">
                        <a:solidFill>
                          <a:schemeClr val="bg1"/>
                        </a:solidFill>
                        <a:effectLst/>
                        <a:latin typeface="Arial MT"/>
                        <a:ea typeface="Arial MT"/>
                        <a:cs typeface="Arial MT"/>
                      </a:endParaRPr>
                    </a:p>
                    <a:p>
                      <a:pPr marL="67310">
                        <a:spcBef>
                          <a:spcPts val="595"/>
                        </a:spcBef>
                        <a:spcAft>
                          <a:spcPts val="0"/>
                        </a:spcAft>
                      </a:pPr>
                      <a:r>
                        <a:rPr lang="en-US" sz="1200" spc="-10">
                          <a:solidFill>
                            <a:schemeClr val="bg1"/>
                          </a:solidFill>
                          <a:effectLst/>
                          <a:latin typeface="Arial MT"/>
                          <a:ea typeface="Arial MT"/>
                          <a:cs typeface="Arial MT"/>
                        </a:rPr>
                        <a:t>integers</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3666918"/>
                  </a:ext>
                </a:extLst>
              </a:tr>
              <a:tr h="695339">
                <a:tc>
                  <a:txBody>
                    <a:bodyPr/>
                    <a:lstStyle/>
                    <a:p>
                      <a:pPr marL="5715" marR="635" algn="ctr">
                        <a:spcBef>
                          <a:spcPts val="200"/>
                        </a:spcBef>
                        <a:spcAft>
                          <a:spcPts val="0"/>
                        </a:spcAft>
                      </a:pPr>
                      <a:r>
                        <a:rPr lang="en-US" sz="1200" spc="-50">
                          <a:solidFill>
                            <a:schemeClr val="bg1"/>
                          </a:solidFill>
                          <a:effectLst/>
                          <a:latin typeface="Arial MT"/>
                          <a:ea typeface="Arial MT"/>
                          <a:cs typeface="Arial MT"/>
                        </a:rPr>
                        <a:t>8</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00"/>
                        </a:spcBef>
                      </a:pPr>
                      <a:r>
                        <a:rPr lang="en-US" sz="1200" spc="-10">
                          <a:solidFill>
                            <a:schemeClr val="bg1"/>
                          </a:solidFill>
                          <a:effectLst/>
                          <a:latin typeface="Arial MT"/>
                          <a:ea typeface="Arial MT"/>
                          <a:cs typeface="Arial MT"/>
                        </a:rPr>
                        <a:t>ulong</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88265">
                        <a:lnSpc>
                          <a:spcPct val="146000"/>
                        </a:lnSpc>
                        <a:spcBef>
                          <a:spcPts val="200"/>
                        </a:spcBef>
                        <a:spcAft>
                          <a:spcPts val="0"/>
                        </a:spcAft>
                      </a:pPr>
                      <a:r>
                        <a:rPr lang="en-US" sz="1200" spc="-10" dirty="0">
                          <a:solidFill>
                            <a:schemeClr val="bg1"/>
                          </a:solidFill>
                          <a:effectLst/>
                          <a:latin typeface="Arial MT"/>
                          <a:ea typeface="Arial MT"/>
                          <a:cs typeface="Arial MT"/>
                        </a:rPr>
                        <a:t>64-bit unsigned</a:t>
                      </a:r>
                      <a:endParaRPr lang="en-IN" sz="1200" dirty="0">
                        <a:solidFill>
                          <a:schemeClr val="bg1"/>
                        </a:solidFill>
                        <a:effectLst/>
                        <a:latin typeface="Arial MT"/>
                        <a:ea typeface="Arial MT"/>
                        <a:cs typeface="Arial MT"/>
                      </a:endParaRPr>
                    </a:p>
                    <a:p>
                      <a:pPr marL="67310">
                        <a:spcBef>
                          <a:spcPts val="5"/>
                        </a:spcBef>
                        <a:spcAft>
                          <a:spcPts val="0"/>
                        </a:spcAft>
                      </a:pPr>
                      <a:r>
                        <a:rPr lang="en-US" sz="1200" spc="-10" dirty="0">
                          <a:solidFill>
                            <a:schemeClr val="bg1"/>
                          </a:solidFill>
                          <a:effectLst/>
                          <a:latin typeface="Arial MT"/>
                          <a:ea typeface="Arial MT"/>
                          <a:cs typeface="Arial MT"/>
                        </a:rPr>
                        <a:t>integer</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3175" algn="ctr">
                        <a:spcBef>
                          <a:spcPts val="200"/>
                        </a:spcBef>
                        <a:spcAft>
                          <a:spcPts val="0"/>
                        </a:spcAft>
                      </a:pPr>
                      <a:r>
                        <a:rPr lang="en-US" sz="1200" dirty="0">
                          <a:solidFill>
                            <a:schemeClr val="bg1"/>
                          </a:solidFill>
                          <a:effectLst/>
                          <a:latin typeface="Arial MT"/>
                          <a:ea typeface="Arial MT"/>
                          <a:cs typeface="Arial MT"/>
                        </a:rPr>
                        <a:t>8</a:t>
                      </a:r>
                      <a:r>
                        <a:rPr lang="en-US" sz="1200" spc="-75" dirty="0">
                          <a:solidFill>
                            <a:schemeClr val="bg1"/>
                          </a:solidFill>
                          <a:effectLst/>
                          <a:latin typeface="Arial MT"/>
                          <a:ea typeface="Arial MT"/>
                          <a:cs typeface="Arial MT"/>
                        </a:rPr>
                        <a:t> </a:t>
                      </a:r>
                      <a:r>
                        <a:rPr lang="en-US" sz="1200" spc="-20" dirty="0">
                          <a:solidFill>
                            <a:schemeClr val="bg1"/>
                          </a:solidFill>
                          <a:effectLst/>
                          <a:latin typeface="Arial MT"/>
                          <a:ea typeface="Arial MT"/>
                          <a:cs typeface="Arial MT"/>
                        </a:rPr>
                        <a:t>bytes</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00"/>
                        </a:spcBef>
                        <a:spcAft>
                          <a:spcPts val="0"/>
                        </a:spcAft>
                      </a:pPr>
                      <a:r>
                        <a:rPr lang="en-US" sz="1200">
                          <a:solidFill>
                            <a:schemeClr val="bg1"/>
                          </a:solidFill>
                          <a:effectLst/>
                          <a:latin typeface="Arial MT"/>
                          <a:ea typeface="Arial MT"/>
                          <a:cs typeface="Arial MT"/>
                        </a:rPr>
                        <a:t>0</a:t>
                      </a:r>
                      <a:r>
                        <a:rPr lang="en-US" sz="1200" spc="-35">
                          <a:solidFill>
                            <a:schemeClr val="bg1"/>
                          </a:solidFill>
                          <a:effectLst/>
                          <a:latin typeface="Arial MT"/>
                          <a:ea typeface="Arial MT"/>
                          <a:cs typeface="Arial MT"/>
                        </a:rPr>
                        <a:t> </a:t>
                      </a:r>
                      <a:r>
                        <a:rPr lang="en-US" sz="1200">
                          <a:solidFill>
                            <a:schemeClr val="bg1"/>
                          </a:solidFill>
                          <a:effectLst/>
                          <a:latin typeface="Arial MT"/>
                          <a:ea typeface="Arial MT"/>
                          <a:cs typeface="Arial MT"/>
                        </a:rPr>
                        <a:t>to</a:t>
                      </a:r>
                      <a:r>
                        <a:rPr lang="en-US" sz="1200" spc="-35">
                          <a:solidFill>
                            <a:schemeClr val="bg1"/>
                          </a:solidFill>
                          <a:effectLst/>
                          <a:latin typeface="Arial MT"/>
                          <a:ea typeface="Arial MT"/>
                          <a:cs typeface="Arial MT"/>
                        </a:rPr>
                        <a:t> </a:t>
                      </a:r>
                      <a:r>
                        <a:rPr lang="en-US" sz="1200" spc="-10">
                          <a:solidFill>
                            <a:schemeClr val="bg1"/>
                          </a:solidFill>
                          <a:effectLst/>
                          <a:latin typeface="Arial MT"/>
                          <a:ea typeface="Arial MT"/>
                          <a:cs typeface="Arial MT"/>
                        </a:rPr>
                        <a:t>18,446,744,073,709,551,615</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nSpc>
                          <a:spcPct val="146000"/>
                        </a:lnSpc>
                        <a:spcBef>
                          <a:spcPts val="200"/>
                        </a:spcBef>
                        <a:spcAft>
                          <a:spcPts val="0"/>
                        </a:spcAft>
                      </a:pPr>
                      <a:r>
                        <a:rPr lang="en-US" sz="1200" spc="-40" dirty="0">
                          <a:solidFill>
                            <a:schemeClr val="bg1"/>
                          </a:solidFill>
                          <a:effectLst/>
                          <a:latin typeface="Arial MT"/>
                          <a:ea typeface="Arial MT"/>
                          <a:cs typeface="Arial MT"/>
                        </a:rPr>
                        <a:t>Large</a:t>
                      </a:r>
                      <a:r>
                        <a:rPr lang="en-US" sz="1200" spc="-50" dirty="0">
                          <a:solidFill>
                            <a:schemeClr val="bg1"/>
                          </a:solidFill>
                          <a:effectLst/>
                          <a:latin typeface="Arial MT"/>
                          <a:ea typeface="Arial MT"/>
                          <a:cs typeface="Arial MT"/>
                        </a:rPr>
                        <a:t> </a:t>
                      </a:r>
                      <a:r>
                        <a:rPr lang="en-US" sz="1200" spc="-40" dirty="0">
                          <a:solidFill>
                            <a:schemeClr val="bg1"/>
                          </a:solidFill>
                          <a:effectLst/>
                          <a:latin typeface="Arial MT"/>
                          <a:ea typeface="Arial MT"/>
                          <a:cs typeface="Arial MT"/>
                        </a:rPr>
                        <a:t>positive </a:t>
                      </a:r>
                      <a:r>
                        <a:rPr lang="en-US" sz="1200" spc="-10" dirty="0">
                          <a:solidFill>
                            <a:schemeClr val="bg1"/>
                          </a:solidFill>
                          <a:effectLst/>
                          <a:latin typeface="Arial MT"/>
                          <a:ea typeface="Arial MT"/>
                          <a:cs typeface="Arial MT"/>
                        </a:rPr>
                        <a:t>integers</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51972296"/>
                  </a:ext>
                </a:extLst>
              </a:tr>
              <a:tr h="935319">
                <a:tc>
                  <a:txBody>
                    <a:bodyPr/>
                    <a:lstStyle/>
                    <a:p>
                      <a:pPr marL="5715" marR="635" algn="ctr">
                        <a:spcBef>
                          <a:spcPts val="215"/>
                        </a:spcBef>
                        <a:spcAft>
                          <a:spcPts val="0"/>
                        </a:spcAft>
                      </a:pPr>
                      <a:r>
                        <a:rPr lang="en-US" sz="1200" spc="-50">
                          <a:solidFill>
                            <a:schemeClr val="bg1"/>
                          </a:solidFill>
                          <a:effectLst/>
                          <a:latin typeface="Arial MT"/>
                          <a:ea typeface="Arial MT"/>
                          <a:cs typeface="Arial MT"/>
                        </a:rPr>
                        <a:t>9</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200" spc="-20">
                          <a:solidFill>
                            <a:schemeClr val="bg1"/>
                          </a:solidFill>
                          <a:effectLst/>
                          <a:latin typeface="Arial MT"/>
                          <a:ea typeface="Arial MT"/>
                          <a:cs typeface="Arial MT"/>
                        </a:rPr>
                        <a:t>float</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335915">
                        <a:lnSpc>
                          <a:spcPct val="146000"/>
                        </a:lnSpc>
                        <a:spcBef>
                          <a:spcPts val="215"/>
                        </a:spcBef>
                        <a:spcAft>
                          <a:spcPts val="0"/>
                        </a:spcAft>
                      </a:pPr>
                      <a:r>
                        <a:rPr lang="en-US" sz="1200" spc="-10">
                          <a:solidFill>
                            <a:schemeClr val="bg1"/>
                          </a:solidFill>
                          <a:effectLst/>
                          <a:latin typeface="Arial MT"/>
                          <a:ea typeface="Arial MT"/>
                          <a:cs typeface="Arial MT"/>
                        </a:rPr>
                        <a:t>Signed floating- point</a:t>
                      </a:r>
                      <a:endParaRPr lang="en-IN" sz="1200">
                        <a:solidFill>
                          <a:schemeClr val="bg1"/>
                        </a:solidFill>
                        <a:effectLst/>
                        <a:latin typeface="Arial MT"/>
                        <a:ea typeface="Arial MT"/>
                        <a:cs typeface="Arial MT"/>
                      </a:endParaRPr>
                    </a:p>
                    <a:p>
                      <a:pPr marL="67310">
                        <a:lnSpc>
                          <a:spcPts val="1255"/>
                        </a:lnSpc>
                        <a:spcBef>
                          <a:spcPts val="215"/>
                        </a:spcBef>
                        <a:spcAft>
                          <a:spcPts val="0"/>
                        </a:spcAft>
                      </a:pPr>
                      <a:r>
                        <a:rPr lang="en-US" sz="1200" spc="-10">
                          <a:solidFill>
                            <a:schemeClr val="bg1"/>
                          </a:solidFill>
                          <a:effectLst/>
                          <a:latin typeface="Arial MT"/>
                          <a:ea typeface="Arial MT"/>
                          <a:cs typeface="Arial MT"/>
                        </a:rPr>
                        <a:t>number</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3175" algn="ctr">
                        <a:spcBef>
                          <a:spcPts val="215"/>
                        </a:spcBef>
                        <a:spcAft>
                          <a:spcPts val="0"/>
                        </a:spcAft>
                      </a:pPr>
                      <a:r>
                        <a:rPr lang="en-US" sz="1200" dirty="0">
                          <a:solidFill>
                            <a:schemeClr val="bg1"/>
                          </a:solidFill>
                          <a:effectLst/>
                          <a:latin typeface="Arial MT"/>
                          <a:ea typeface="Arial MT"/>
                          <a:cs typeface="Arial MT"/>
                        </a:rPr>
                        <a:t>4</a:t>
                      </a:r>
                      <a:r>
                        <a:rPr lang="en-US" sz="1200" spc="-75" dirty="0">
                          <a:solidFill>
                            <a:schemeClr val="bg1"/>
                          </a:solidFill>
                          <a:effectLst/>
                          <a:latin typeface="Arial MT"/>
                          <a:ea typeface="Arial MT"/>
                          <a:cs typeface="Arial MT"/>
                        </a:rPr>
                        <a:t> </a:t>
                      </a:r>
                      <a:r>
                        <a:rPr lang="en-US" sz="1200" spc="-20" dirty="0">
                          <a:solidFill>
                            <a:schemeClr val="bg1"/>
                          </a:solidFill>
                          <a:effectLst/>
                          <a:latin typeface="Arial MT"/>
                          <a:ea typeface="Arial MT"/>
                          <a:cs typeface="Arial MT"/>
                        </a:rPr>
                        <a:t>bytes</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15"/>
                        </a:spcBef>
                      </a:pPr>
                      <a:r>
                        <a:rPr lang="en-US" sz="1200" spc="-30" dirty="0">
                          <a:solidFill>
                            <a:schemeClr val="bg1"/>
                          </a:solidFill>
                          <a:effectLst/>
                          <a:latin typeface="Arial MT"/>
                          <a:ea typeface="Arial MT"/>
                          <a:cs typeface="Arial MT"/>
                        </a:rPr>
                        <a:t>-3.402823E+38</a:t>
                      </a:r>
                      <a:r>
                        <a:rPr lang="en-US" sz="1200" spc="-15" dirty="0">
                          <a:solidFill>
                            <a:schemeClr val="bg1"/>
                          </a:solidFill>
                          <a:effectLst/>
                          <a:latin typeface="Arial MT"/>
                          <a:ea typeface="Arial MT"/>
                          <a:cs typeface="Arial MT"/>
                        </a:rPr>
                        <a:t> </a:t>
                      </a:r>
                      <a:r>
                        <a:rPr lang="en-US" sz="1200" spc="-30" dirty="0">
                          <a:solidFill>
                            <a:schemeClr val="bg1"/>
                          </a:solidFill>
                          <a:effectLst/>
                          <a:latin typeface="Arial MT"/>
                          <a:ea typeface="Arial MT"/>
                          <a:cs typeface="Arial MT"/>
                        </a:rPr>
                        <a:t>to</a:t>
                      </a:r>
                      <a:r>
                        <a:rPr lang="en-US" sz="1200" spc="-15" dirty="0">
                          <a:solidFill>
                            <a:schemeClr val="bg1"/>
                          </a:solidFill>
                          <a:effectLst/>
                          <a:latin typeface="Arial MT"/>
                          <a:ea typeface="Arial MT"/>
                          <a:cs typeface="Arial MT"/>
                        </a:rPr>
                        <a:t> </a:t>
                      </a:r>
                      <a:r>
                        <a:rPr lang="en-US" sz="1200" spc="-30" dirty="0">
                          <a:solidFill>
                            <a:schemeClr val="bg1"/>
                          </a:solidFill>
                          <a:effectLst/>
                          <a:latin typeface="Arial MT"/>
                          <a:ea typeface="Arial MT"/>
                          <a:cs typeface="Arial MT"/>
                        </a:rPr>
                        <a:t>3.402823E+38</a:t>
                      </a:r>
                      <a:endParaRPr lang="en-IN" sz="1200" dirty="0">
                        <a:solidFill>
                          <a:schemeClr val="bg1"/>
                        </a:solidFill>
                        <a:effectLst/>
                        <a:latin typeface="Arial MT"/>
                        <a:ea typeface="Arial MT"/>
                        <a:cs typeface="Arial MT"/>
                      </a:endParaRPr>
                    </a:p>
                    <a:p>
                      <a:pPr marL="67310">
                        <a:spcBef>
                          <a:spcPts val="595"/>
                        </a:spcBef>
                        <a:spcAft>
                          <a:spcPts val="0"/>
                        </a:spcAft>
                      </a:pPr>
                      <a:r>
                        <a:rPr lang="en-US" sz="1200" dirty="0">
                          <a:solidFill>
                            <a:schemeClr val="bg1"/>
                          </a:solidFill>
                          <a:effectLst/>
                          <a:latin typeface="Arial MT"/>
                          <a:ea typeface="Arial MT"/>
                          <a:cs typeface="Arial MT"/>
                        </a:rPr>
                        <a:t>(Precision:</a:t>
                      </a:r>
                      <a:r>
                        <a:rPr lang="en-US" sz="1200" spc="15" dirty="0">
                          <a:solidFill>
                            <a:schemeClr val="bg1"/>
                          </a:solidFill>
                          <a:effectLst/>
                          <a:latin typeface="Arial MT"/>
                          <a:ea typeface="Arial MT"/>
                          <a:cs typeface="Arial MT"/>
                        </a:rPr>
                        <a:t> </a:t>
                      </a:r>
                      <a:r>
                        <a:rPr lang="en-US" sz="1200" dirty="0">
                          <a:solidFill>
                            <a:schemeClr val="bg1"/>
                          </a:solidFill>
                          <a:effectLst/>
                          <a:latin typeface="Arial MT"/>
                          <a:ea typeface="Arial MT"/>
                          <a:cs typeface="Arial MT"/>
                        </a:rPr>
                        <a:t>7</a:t>
                      </a:r>
                      <a:r>
                        <a:rPr lang="en-US" sz="1200" spc="15" dirty="0">
                          <a:solidFill>
                            <a:schemeClr val="bg1"/>
                          </a:solidFill>
                          <a:effectLst/>
                          <a:latin typeface="Arial MT"/>
                          <a:ea typeface="Arial MT"/>
                          <a:cs typeface="Arial MT"/>
                        </a:rPr>
                        <a:t> </a:t>
                      </a:r>
                      <a:r>
                        <a:rPr lang="en-US" sz="1200" spc="-10" dirty="0">
                          <a:solidFill>
                            <a:schemeClr val="bg1"/>
                          </a:solidFill>
                          <a:effectLst/>
                          <a:latin typeface="Arial MT"/>
                          <a:ea typeface="Arial MT"/>
                          <a:cs typeface="Arial MT"/>
                        </a:rPr>
                        <a:t>digits)</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15"/>
                        </a:spcBef>
                      </a:pPr>
                      <a:r>
                        <a:rPr lang="en-US" sz="1200" spc="-10" dirty="0">
                          <a:solidFill>
                            <a:schemeClr val="bg1"/>
                          </a:solidFill>
                          <a:effectLst/>
                          <a:latin typeface="Arial MT"/>
                          <a:ea typeface="Arial MT"/>
                          <a:cs typeface="Arial MT"/>
                        </a:rPr>
                        <a:t>Small</a:t>
                      </a:r>
                      <a:endParaRPr lang="en-IN" sz="1200" dirty="0">
                        <a:solidFill>
                          <a:schemeClr val="bg1"/>
                        </a:solidFill>
                        <a:effectLst/>
                        <a:latin typeface="Arial MT"/>
                        <a:ea typeface="Arial MT"/>
                        <a:cs typeface="Arial MT"/>
                      </a:endParaRPr>
                    </a:p>
                    <a:p>
                      <a:pPr marL="67310">
                        <a:lnSpc>
                          <a:spcPct val="145000"/>
                        </a:lnSpc>
                        <a:spcBef>
                          <a:spcPts val="595"/>
                        </a:spcBef>
                        <a:spcAft>
                          <a:spcPts val="0"/>
                        </a:spcAft>
                      </a:pPr>
                      <a:r>
                        <a:rPr lang="en-US" sz="1200" spc="-10" dirty="0">
                          <a:solidFill>
                            <a:schemeClr val="bg1"/>
                          </a:solidFill>
                          <a:effectLst/>
                          <a:latin typeface="Arial MT"/>
                          <a:ea typeface="Arial MT"/>
                          <a:cs typeface="Arial MT"/>
                        </a:rPr>
                        <a:t>floating-point numbers</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3695992"/>
                  </a:ext>
                </a:extLst>
              </a:tr>
              <a:tr h="1004843">
                <a:tc>
                  <a:txBody>
                    <a:bodyPr/>
                    <a:lstStyle/>
                    <a:p>
                      <a:pPr marL="5715" algn="ctr">
                        <a:spcBef>
                          <a:spcPts val="215"/>
                        </a:spcBef>
                      </a:pPr>
                      <a:r>
                        <a:rPr lang="en-US" sz="1200" spc="-25">
                          <a:solidFill>
                            <a:schemeClr val="bg1"/>
                          </a:solidFill>
                          <a:effectLst/>
                          <a:latin typeface="Arial MT"/>
                          <a:ea typeface="Arial MT"/>
                          <a:cs typeface="Arial MT"/>
                        </a:rPr>
                        <a:t>10</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200" spc="-10">
                          <a:solidFill>
                            <a:schemeClr val="bg1"/>
                          </a:solidFill>
                          <a:effectLst/>
                          <a:latin typeface="Arial MT"/>
                          <a:ea typeface="Arial MT"/>
                          <a:cs typeface="Arial MT"/>
                        </a:rPr>
                        <a:t>double</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335915">
                        <a:lnSpc>
                          <a:spcPct val="146000"/>
                        </a:lnSpc>
                        <a:spcBef>
                          <a:spcPts val="215"/>
                        </a:spcBef>
                        <a:spcAft>
                          <a:spcPts val="0"/>
                        </a:spcAft>
                      </a:pPr>
                      <a:r>
                        <a:rPr lang="en-US" sz="1200" spc="-10">
                          <a:solidFill>
                            <a:schemeClr val="bg1"/>
                          </a:solidFill>
                          <a:effectLst/>
                          <a:latin typeface="Arial MT"/>
                          <a:ea typeface="Arial MT"/>
                          <a:cs typeface="Arial MT"/>
                        </a:rPr>
                        <a:t>Signed floating- point number</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3175" algn="ctr">
                        <a:spcBef>
                          <a:spcPts val="215"/>
                        </a:spcBef>
                        <a:spcAft>
                          <a:spcPts val="0"/>
                        </a:spcAft>
                      </a:pPr>
                      <a:r>
                        <a:rPr lang="en-US" sz="1200">
                          <a:solidFill>
                            <a:schemeClr val="bg1"/>
                          </a:solidFill>
                          <a:effectLst/>
                          <a:latin typeface="Arial MT"/>
                          <a:ea typeface="Arial MT"/>
                          <a:cs typeface="Arial MT"/>
                        </a:rPr>
                        <a:t>8</a:t>
                      </a:r>
                      <a:r>
                        <a:rPr lang="en-US" sz="1200" spc="-75">
                          <a:solidFill>
                            <a:schemeClr val="bg1"/>
                          </a:solidFill>
                          <a:effectLst/>
                          <a:latin typeface="Arial MT"/>
                          <a:ea typeface="Arial MT"/>
                          <a:cs typeface="Arial MT"/>
                        </a:rPr>
                        <a:t> </a:t>
                      </a:r>
                      <a:r>
                        <a:rPr lang="en-US" sz="1200" spc="-20">
                          <a:solidFill>
                            <a:schemeClr val="bg1"/>
                          </a:solidFill>
                          <a:effectLst/>
                          <a:latin typeface="Arial MT"/>
                          <a:ea typeface="Arial MT"/>
                          <a:cs typeface="Arial MT"/>
                        </a:rPr>
                        <a:t>bytes</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nSpc>
                          <a:spcPct val="146000"/>
                        </a:lnSpc>
                        <a:spcBef>
                          <a:spcPts val="215"/>
                        </a:spcBef>
                      </a:pPr>
                      <a:r>
                        <a:rPr lang="en-US" sz="1200" spc="-30" dirty="0">
                          <a:solidFill>
                            <a:schemeClr val="bg1"/>
                          </a:solidFill>
                          <a:effectLst/>
                          <a:latin typeface="Arial MT"/>
                          <a:ea typeface="Arial MT"/>
                          <a:cs typeface="Arial MT"/>
                        </a:rPr>
                        <a:t>-1.79769313486232E+308 to </a:t>
                      </a:r>
                      <a:r>
                        <a:rPr lang="en-US" sz="1200" spc="-10" dirty="0">
                          <a:solidFill>
                            <a:schemeClr val="bg1"/>
                          </a:solidFill>
                          <a:effectLst/>
                          <a:latin typeface="Arial MT"/>
                          <a:ea typeface="Arial MT"/>
                          <a:cs typeface="Arial MT"/>
                        </a:rPr>
                        <a:t>1.79769313486232E+308</a:t>
                      </a:r>
                      <a:endParaRPr lang="en-IN" sz="1200" dirty="0">
                        <a:solidFill>
                          <a:schemeClr val="bg1"/>
                        </a:solidFill>
                        <a:effectLst/>
                        <a:latin typeface="Arial MT"/>
                        <a:ea typeface="Arial MT"/>
                        <a:cs typeface="Arial MT"/>
                      </a:endParaRPr>
                    </a:p>
                    <a:p>
                      <a:pPr marL="67310">
                        <a:lnSpc>
                          <a:spcPts val="1255"/>
                        </a:lnSpc>
                        <a:spcBef>
                          <a:spcPts val="215"/>
                        </a:spcBef>
                        <a:spcAft>
                          <a:spcPts val="0"/>
                        </a:spcAft>
                      </a:pPr>
                      <a:r>
                        <a:rPr lang="en-US" sz="1200" dirty="0">
                          <a:solidFill>
                            <a:schemeClr val="bg1"/>
                          </a:solidFill>
                          <a:effectLst/>
                          <a:latin typeface="Arial MT"/>
                          <a:ea typeface="Arial MT"/>
                          <a:cs typeface="Arial MT"/>
                        </a:rPr>
                        <a:t>(Precision:</a:t>
                      </a:r>
                      <a:r>
                        <a:rPr lang="en-US" sz="1200" spc="35" dirty="0">
                          <a:solidFill>
                            <a:schemeClr val="bg1"/>
                          </a:solidFill>
                          <a:effectLst/>
                          <a:latin typeface="Arial MT"/>
                          <a:ea typeface="Arial MT"/>
                          <a:cs typeface="Arial MT"/>
                        </a:rPr>
                        <a:t> </a:t>
                      </a:r>
                      <a:r>
                        <a:rPr lang="en-US" sz="1200" dirty="0">
                          <a:solidFill>
                            <a:schemeClr val="bg1"/>
                          </a:solidFill>
                          <a:effectLst/>
                          <a:latin typeface="Arial MT"/>
                          <a:ea typeface="Arial MT"/>
                          <a:cs typeface="Arial MT"/>
                        </a:rPr>
                        <a:t>15</a:t>
                      </a:r>
                      <a:r>
                        <a:rPr lang="en-US" sz="1200" spc="35" dirty="0">
                          <a:solidFill>
                            <a:schemeClr val="bg1"/>
                          </a:solidFill>
                          <a:effectLst/>
                          <a:latin typeface="Arial MT"/>
                          <a:ea typeface="Arial MT"/>
                          <a:cs typeface="Arial MT"/>
                        </a:rPr>
                        <a:t> </a:t>
                      </a:r>
                      <a:r>
                        <a:rPr lang="en-US" sz="1200" spc="-10" dirty="0">
                          <a:solidFill>
                            <a:schemeClr val="bg1"/>
                          </a:solidFill>
                          <a:effectLst/>
                          <a:latin typeface="Arial MT"/>
                          <a:ea typeface="Arial MT"/>
                          <a:cs typeface="Arial MT"/>
                        </a:rPr>
                        <a:t>digits)</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88265">
                        <a:lnSpc>
                          <a:spcPct val="146000"/>
                        </a:lnSpc>
                        <a:spcBef>
                          <a:spcPts val="215"/>
                        </a:spcBef>
                        <a:spcAft>
                          <a:spcPts val="0"/>
                        </a:spcAft>
                      </a:pPr>
                      <a:r>
                        <a:rPr lang="en-US" sz="1200" spc="-10" dirty="0">
                          <a:solidFill>
                            <a:schemeClr val="bg1"/>
                          </a:solidFill>
                          <a:effectLst/>
                          <a:latin typeface="Arial MT"/>
                          <a:ea typeface="Arial MT"/>
                          <a:cs typeface="Arial MT"/>
                        </a:rPr>
                        <a:t>Medium floating-point numbers</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4507281"/>
                  </a:ext>
                </a:extLst>
              </a:tr>
              <a:tr h="1148218">
                <a:tc>
                  <a:txBody>
                    <a:bodyPr/>
                    <a:lstStyle/>
                    <a:p>
                      <a:pPr marL="5715" algn="ctr">
                        <a:spcBef>
                          <a:spcPts val="215"/>
                        </a:spcBef>
                      </a:pPr>
                      <a:r>
                        <a:rPr lang="en-US" sz="1200" spc="-25">
                          <a:solidFill>
                            <a:schemeClr val="bg1"/>
                          </a:solidFill>
                          <a:effectLst/>
                          <a:latin typeface="Arial MT"/>
                          <a:ea typeface="Arial MT"/>
                          <a:cs typeface="Arial MT"/>
                        </a:rPr>
                        <a:t>11</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200" spc="-10">
                          <a:solidFill>
                            <a:schemeClr val="bg1"/>
                          </a:solidFill>
                          <a:effectLst/>
                          <a:latin typeface="Arial MT"/>
                          <a:ea typeface="Arial MT"/>
                          <a:cs typeface="Arial MT"/>
                        </a:rPr>
                        <a:t>decimal</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335915">
                        <a:lnSpc>
                          <a:spcPct val="146000"/>
                        </a:lnSpc>
                        <a:spcBef>
                          <a:spcPts val="215"/>
                        </a:spcBef>
                        <a:spcAft>
                          <a:spcPts val="0"/>
                        </a:spcAft>
                      </a:pPr>
                      <a:r>
                        <a:rPr lang="en-US" sz="1200" spc="-10">
                          <a:solidFill>
                            <a:schemeClr val="bg1"/>
                          </a:solidFill>
                          <a:effectLst/>
                          <a:latin typeface="Arial MT"/>
                          <a:ea typeface="Arial MT"/>
                          <a:cs typeface="Arial MT"/>
                        </a:rPr>
                        <a:t>Signed floating- point number</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715" marR="3175" algn="ctr">
                        <a:spcBef>
                          <a:spcPts val="215"/>
                        </a:spcBef>
                        <a:spcAft>
                          <a:spcPts val="0"/>
                        </a:spcAft>
                      </a:pPr>
                      <a:r>
                        <a:rPr lang="en-US" sz="1200" spc="-25">
                          <a:solidFill>
                            <a:schemeClr val="bg1"/>
                          </a:solidFill>
                          <a:effectLst/>
                          <a:latin typeface="Arial MT"/>
                          <a:ea typeface="Arial MT"/>
                          <a:cs typeface="Arial MT"/>
                        </a:rPr>
                        <a:t>16</a:t>
                      </a:r>
                      <a:endParaRPr lang="en-IN" sz="1200">
                        <a:solidFill>
                          <a:schemeClr val="bg1"/>
                        </a:solidFill>
                        <a:effectLst/>
                        <a:latin typeface="Arial MT"/>
                        <a:ea typeface="Arial MT"/>
                        <a:cs typeface="Arial MT"/>
                      </a:endParaRPr>
                    </a:p>
                    <a:p>
                      <a:pPr marL="5715" algn="ctr">
                        <a:spcBef>
                          <a:spcPts val="580"/>
                        </a:spcBef>
                        <a:spcAft>
                          <a:spcPts val="0"/>
                        </a:spcAft>
                      </a:pPr>
                      <a:r>
                        <a:rPr lang="en-US" sz="1200" spc="-10">
                          <a:solidFill>
                            <a:schemeClr val="bg1"/>
                          </a:solidFill>
                          <a:effectLst/>
                          <a:latin typeface="Arial MT"/>
                          <a:ea typeface="Arial MT"/>
                          <a:cs typeface="Arial MT"/>
                        </a:rPr>
                        <a:t>bytes</a:t>
                      </a:r>
                      <a:endParaRPr lang="en-IN" sz="120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spcBef>
                          <a:spcPts val="215"/>
                        </a:spcBef>
                      </a:pPr>
                      <a:r>
                        <a:rPr lang="en-US" sz="1200" dirty="0">
                          <a:solidFill>
                            <a:schemeClr val="bg1"/>
                          </a:solidFill>
                          <a:effectLst/>
                          <a:latin typeface="Arial MT"/>
                          <a:ea typeface="Arial MT"/>
                          <a:cs typeface="Arial MT"/>
                        </a:rPr>
                        <a:t>-</a:t>
                      </a:r>
                      <a:r>
                        <a:rPr lang="en-US" sz="1200" spc="-10" dirty="0">
                          <a:solidFill>
                            <a:schemeClr val="bg1"/>
                          </a:solidFill>
                          <a:effectLst/>
                          <a:latin typeface="Arial MT"/>
                          <a:ea typeface="Arial MT"/>
                          <a:cs typeface="Arial MT"/>
                        </a:rPr>
                        <a:t>79228162514264337593543950335</a:t>
                      </a:r>
                      <a:endParaRPr lang="en-IN" sz="1200" dirty="0">
                        <a:solidFill>
                          <a:schemeClr val="bg1"/>
                        </a:solidFill>
                        <a:effectLst/>
                        <a:latin typeface="Arial MT"/>
                        <a:ea typeface="Arial MT"/>
                        <a:cs typeface="Arial MT"/>
                      </a:endParaRPr>
                    </a:p>
                    <a:p>
                      <a:pPr marL="67310">
                        <a:spcBef>
                          <a:spcPts val="580"/>
                        </a:spcBef>
                        <a:spcAft>
                          <a:spcPts val="0"/>
                        </a:spcAft>
                      </a:pPr>
                      <a:r>
                        <a:rPr lang="en-US" sz="1200" dirty="0">
                          <a:solidFill>
                            <a:schemeClr val="bg1"/>
                          </a:solidFill>
                          <a:effectLst/>
                          <a:latin typeface="Arial MT"/>
                          <a:ea typeface="Arial MT"/>
                          <a:cs typeface="Arial MT"/>
                        </a:rPr>
                        <a:t>to</a:t>
                      </a:r>
                      <a:r>
                        <a:rPr lang="en-US" sz="1200" spc="5" dirty="0">
                          <a:solidFill>
                            <a:schemeClr val="bg1"/>
                          </a:solidFill>
                          <a:effectLst/>
                          <a:latin typeface="Arial MT"/>
                          <a:ea typeface="Arial MT"/>
                          <a:cs typeface="Arial MT"/>
                        </a:rPr>
                        <a:t> </a:t>
                      </a:r>
                      <a:r>
                        <a:rPr lang="en-US" sz="1200" spc="-10" dirty="0">
                          <a:solidFill>
                            <a:schemeClr val="bg1"/>
                          </a:solidFill>
                          <a:effectLst/>
                          <a:latin typeface="Arial MT"/>
                          <a:ea typeface="Arial MT"/>
                          <a:cs typeface="Arial MT"/>
                        </a:rPr>
                        <a:t>79228162514264337593543950335</a:t>
                      </a:r>
                      <a:endParaRPr lang="en-IN" sz="1200" dirty="0">
                        <a:solidFill>
                          <a:schemeClr val="bg1"/>
                        </a:solidFill>
                        <a:effectLst/>
                        <a:latin typeface="Arial MT"/>
                        <a:ea typeface="Arial MT"/>
                        <a:cs typeface="Arial MT"/>
                      </a:endParaRPr>
                    </a:p>
                    <a:p>
                      <a:pPr marL="67310">
                        <a:spcBef>
                          <a:spcPts val="595"/>
                        </a:spcBef>
                        <a:spcAft>
                          <a:spcPts val="0"/>
                        </a:spcAft>
                      </a:pPr>
                      <a:r>
                        <a:rPr lang="en-US" sz="1200" dirty="0">
                          <a:solidFill>
                            <a:schemeClr val="bg1"/>
                          </a:solidFill>
                          <a:effectLst/>
                          <a:latin typeface="Arial MT"/>
                          <a:ea typeface="Arial MT"/>
                          <a:cs typeface="Arial MT"/>
                        </a:rPr>
                        <a:t>(Precision:</a:t>
                      </a:r>
                      <a:r>
                        <a:rPr lang="en-US" sz="1200" spc="35" dirty="0">
                          <a:solidFill>
                            <a:schemeClr val="bg1"/>
                          </a:solidFill>
                          <a:effectLst/>
                          <a:latin typeface="Arial MT"/>
                          <a:ea typeface="Arial MT"/>
                          <a:cs typeface="Arial MT"/>
                        </a:rPr>
                        <a:t> </a:t>
                      </a:r>
                      <a:r>
                        <a:rPr lang="en-US" sz="1200" dirty="0">
                          <a:solidFill>
                            <a:schemeClr val="bg1"/>
                          </a:solidFill>
                          <a:effectLst/>
                          <a:latin typeface="Arial MT"/>
                          <a:ea typeface="Arial MT"/>
                          <a:cs typeface="Arial MT"/>
                        </a:rPr>
                        <a:t>28</a:t>
                      </a:r>
                      <a:r>
                        <a:rPr lang="en-US" sz="1200" spc="35" dirty="0">
                          <a:solidFill>
                            <a:schemeClr val="bg1"/>
                          </a:solidFill>
                          <a:effectLst/>
                          <a:latin typeface="Arial MT"/>
                          <a:ea typeface="Arial MT"/>
                          <a:cs typeface="Arial MT"/>
                        </a:rPr>
                        <a:t> </a:t>
                      </a:r>
                      <a:r>
                        <a:rPr lang="en-US" sz="1200" spc="-10" dirty="0">
                          <a:solidFill>
                            <a:schemeClr val="bg1"/>
                          </a:solidFill>
                          <a:effectLst/>
                          <a:latin typeface="Arial MT"/>
                          <a:ea typeface="Arial MT"/>
                          <a:cs typeface="Arial MT"/>
                        </a:rPr>
                        <a:t>digits)</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88265">
                        <a:lnSpc>
                          <a:spcPct val="146000"/>
                        </a:lnSpc>
                        <a:spcBef>
                          <a:spcPts val="215"/>
                        </a:spcBef>
                        <a:spcAft>
                          <a:spcPts val="0"/>
                        </a:spcAft>
                      </a:pPr>
                      <a:r>
                        <a:rPr lang="en-US" sz="1200" spc="-10" dirty="0">
                          <a:solidFill>
                            <a:schemeClr val="bg1"/>
                          </a:solidFill>
                          <a:effectLst/>
                          <a:latin typeface="Arial MT"/>
                          <a:ea typeface="Arial MT"/>
                          <a:cs typeface="Arial MT"/>
                        </a:rPr>
                        <a:t>Large floating-point numbers</a:t>
                      </a:r>
                      <a:endParaRPr lang="en-IN" sz="1200" dirty="0">
                        <a:solidFill>
                          <a:schemeClr val="bg1"/>
                        </a:solidFill>
                        <a:effectLst/>
                        <a:latin typeface="Arial MT"/>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5038303"/>
                  </a:ext>
                </a:extLst>
              </a:tr>
            </a:tbl>
          </a:graphicData>
        </a:graphic>
      </p:graphicFrame>
    </p:spTree>
    <p:extLst>
      <p:ext uri="{BB962C8B-B14F-4D97-AF65-F5344CB8AC3E}">
        <p14:creationId xmlns:p14="http://schemas.microsoft.com/office/powerpoint/2010/main" val="2248809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A1EE7-EBA9-403E-BF97-898EFC1F91CD}"/>
              </a:ext>
            </a:extLst>
          </p:cNvPr>
          <p:cNvSpPr>
            <a:spLocks noGrp="1"/>
          </p:cNvSpPr>
          <p:nvPr>
            <p:ph type="title"/>
          </p:nvPr>
        </p:nvSpPr>
        <p:spPr>
          <a:xfrm>
            <a:off x="1141413" y="618518"/>
            <a:ext cx="9905998" cy="561353"/>
          </a:xfrm>
        </p:spPr>
        <p:txBody>
          <a:bodyPr>
            <a:normAutofit fontScale="90000"/>
          </a:bodyPr>
          <a:lstStyle/>
          <a:p>
            <a:br>
              <a:rPr kumimoji="0" lang="en-US" altLang="en-US" sz="3600" b="0" i="0" u="none" strike="noStrike" cap="none" normalizeH="0" baseline="0" dirty="0">
                <a:ln>
                  <a:noFill/>
                </a:ln>
                <a:solidFill>
                  <a:schemeClr val="tx1"/>
                </a:solidFill>
                <a:effectLst/>
                <a:latin typeface="Arial" panose="020B0604020202020204" pitchFamily="34" charset="0"/>
                <a:ea typeface="Arial MT"/>
                <a:cs typeface="Arial MT"/>
              </a:rPr>
            </a:br>
            <a:r>
              <a:rPr kumimoji="0" lang="en-US" altLang="en-US" sz="3600" b="0" i="0" u="none" strike="noStrike" cap="none" normalizeH="0" baseline="0" dirty="0">
                <a:ln>
                  <a:noFill/>
                </a:ln>
                <a:solidFill>
                  <a:schemeClr val="bg1"/>
                </a:solidFill>
                <a:effectLst/>
                <a:latin typeface="Arial" panose="020B0604020202020204" pitchFamily="34" charset="0"/>
                <a:ea typeface="Arial MT"/>
                <a:cs typeface="Arial MT"/>
              </a:rPr>
              <a:t>Non-Numerical Data Types</a:t>
            </a:r>
            <a:br>
              <a:rPr kumimoji="0" lang="en-US" altLang="en-US" sz="3600" b="0" i="0" u="none" strike="noStrike" cap="none" normalizeH="0" baseline="0" dirty="0">
                <a:ln>
                  <a:noFill/>
                </a:ln>
                <a:solidFill>
                  <a:schemeClr val="tx1"/>
                </a:solidFill>
                <a:effectLst/>
                <a:latin typeface="Arial" panose="020B0604020202020204" pitchFamily="34" charset="0"/>
                <a:ea typeface="Arial MT"/>
                <a:cs typeface="Arial MT"/>
              </a:rPr>
            </a:br>
            <a:endParaRPr lang="en-IN" dirty="0"/>
          </a:p>
        </p:txBody>
      </p:sp>
      <p:graphicFrame>
        <p:nvGraphicFramePr>
          <p:cNvPr id="7" name="Content Placeholder 6">
            <a:extLst>
              <a:ext uri="{FF2B5EF4-FFF2-40B4-BE49-F238E27FC236}">
                <a16:creationId xmlns:a16="http://schemas.microsoft.com/office/drawing/2014/main" id="{D3219799-08E3-492A-88D3-CA53EE300D8C}"/>
              </a:ext>
            </a:extLst>
          </p:cNvPr>
          <p:cNvGraphicFramePr>
            <a:graphicFrameLocks noGrp="1"/>
          </p:cNvGraphicFramePr>
          <p:nvPr>
            <p:ph idx="1"/>
            <p:extLst>
              <p:ext uri="{D42A27DB-BD31-4B8C-83A1-F6EECF244321}">
                <p14:modId xmlns:p14="http://schemas.microsoft.com/office/powerpoint/2010/main" val="1837587309"/>
              </p:ext>
            </p:extLst>
          </p:nvPr>
        </p:nvGraphicFramePr>
        <p:xfrm>
          <a:off x="1848464" y="1966452"/>
          <a:ext cx="6921909" cy="3356782"/>
        </p:xfrm>
        <a:graphic>
          <a:graphicData uri="http://schemas.openxmlformats.org/drawingml/2006/table">
            <a:tbl>
              <a:tblPr firstRow="1" firstCol="1" lastRow="1" lastCol="1" bandRow="1" bandCol="1"/>
              <a:tblGrid>
                <a:gridCol w="548106">
                  <a:extLst>
                    <a:ext uri="{9D8B030D-6E8A-4147-A177-3AD203B41FA5}">
                      <a16:colId xmlns:a16="http://schemas.microsoft.com/office/drawing/2014/main" val="2342034455"/>
                    </a:ext>
                  </a:extLst>
                </a:gridCol>
                <a:gridCol w="745681">
                  <a:extLst>
                    <a:ext uri="{9D8B030D-6E8A-4147-A177-3AD203B41FA5}">
                      <a16:colId xmlns:a16="http://schemas.microsoft.com/office/drawing/2014/main" val="4201157531"/>
                    </a:ext>
                  </a:extLst>
                </a:gridCol>
                <a:gridCol w="2291830">
                  <a:extLst>
                    <a:ext uri="{9D8B030D-6E8A-4147-A177-3AD203B41FA5}">
                      <a16:colId xmlns:a16="http://schemas.microsoft.com/office/drawing/2014/main" val="4106538240"/>
                    </a:ext>
                  </a:extLst>
                </a:gridCol>
                <a:gridCol w="1551346">
                  <a:extLst>
                    <a:ext uri="{9D8B030D-6E8A-4147-A177-3AD203B41FA5}">
                      <a16:colId xmlns:a16="http://schemas.microsoft.com/office/drawing/2014/main" val="1904541114"/>
                    </a:ext>
                  </a:extLst>
                </a:gridCol>
                <a:gridCol w="1784946">
                  <a:extLst>
                    <a:ext uri="{9D8B030D-6E8A-4147-A177-3AD203B41FA5}">
                      <a16:colId xmlns:a16="http://schemas.microsoft.com/office/drawing/2014/main" val="1347563889"/>
                    </a:ext>
                  </a:extLst>
                </a:gridCol>
              </a:tblGrid>
              <a:tr h="670261">
                <a:tc>
                  <a:txBody>
                    <a:bodyPr/>
                    <a:lstStyle/>
                    <a:p>
                      <a:pPr marL="90805" marR="78105" indent="15240">
                        <a:lnSpc>
                          <a:spcPct val="168000"/>
                        </a:lnSpc>
                        <a:spcBef>
                          <a:spcPts val="215"/>
                        </a:spcBef>
                        <a:spcAft>
                          <a:spcPts val="0"/>
                        </a:spcAft>
                      </a:pPr>
                      <a:r>
                        <a:rPr lang="en-US" sz="1400" spc="-30" dirty="0">
                          <a:solidFill>
                            <a:schemeClr val="bg1"/>
                          </a:solidFill>
                          <a:effectLst/>
                          <a:latin typeface="Udemy Sans"/>
                          <a:ea typeface="Arial MT"/>
                          <a:cs typeface="Arial MT"/>
                        </a:rPr>
                        <a:t>Sl. </a:t>
                      </a:r>
                      <a:r>
                        <a:rPr lang="en-US" sz="1400" spc="-50" dirty="0">
                          <a:solidFill>
                            <a:schemeClr val="bg1"/>
                          </a:solidFill>
                          <a:effectLst/>
                          <a:latin typeface="Udemy Sans"/>
                          <a:ea typeface="Arial MT"/>
                          <a:cs typeface="Arial MT"/>
                        </a:rPr>
                        <a:t>No</a:t>
                      </a:r>
                      <a:endParaRPr lang="en-IN" sz="14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tc>
                  <a:txBody>
                    <a:bodyPr/>
                    <a:lstStyle/>
                    <a:p>
                      <a:pPr marL="71120">
                        <a:spcBef>
                          <a:spcPts val="215"/>
                        </a:spcBef>
                      </a:pPr>
                      <a:r>
                        <a:rPr lang="en-US" sz="1400" dirty="0">
                          <a:solidFill>
                            <a:schemeClr val="bg1"/>
                          </a:solidFill>
                          <a:effectLst/>
                          <a:latin typeface="Udemy Sans"/>
                          <a:ea typeface="Arial MT"/>
                          <a:cs typeface="Arial MT"/>
                        </a:rPr>
                        <a:t>Data</a:t>
                      </a:r>
                      <a:r>
                        <a:rPr lang="en-US" sz="1400" spc="35" dirty="0">
                          <a:solidFill>
                            <a:schemeClr val="bg1"/>
                          </a:solidFill>
                          <a:effectLst/>
                          <a:latin typeface="Udemy Sans"/>
                          <a:ea typeface="Arial MT"/>
                          <a:cs typeface="Arial MT"/>
                        </a:rPr>
                        <a:t> </a:t>
                      </a:r>
                      <a:r>
                        <a:rPr lang="en-US" sz="1400" spc="-20" dirty="0">
                          <a:solidFill>
                            <a:schemeClr val="bg1"/>
                          </a:solidFill>
                          <a:effectLst/>
                          <a:latin typeface="Udemy Sans"/>
                          <a:ea typeface="Arial MT"/>
                          <a:cs typeface="Arial MT"/>
                        </a:rPr>
                        <a:t>Type</a:t>
                      </a:r>
                      <a:endParaRPr lang="en-IN" sz="14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tc>
                  <a:txBody>
                    <a:bodyPr/>
                    <a:lstStyle/>
                    <a:p>
                      <a:pPr marL="635635">
                        <a:spcBef>
                          <a:spcPts val="215"/>
                        </a:spcBef>
                      </a:pPr>
                      <a:r>
                        <a:rPr lang="en-US" sz="1400" spc="-10" dirty="0">
                          <a:solidFill>
                            <a:schemeClr val="bg1"/>
                          </a:solidFill>
                          <a:effectLst/>
                          <a:latin typeface="Udemy Sans"/>
                          <a:ea typeface="Arial MT"/>
                          <a:cs typeface="Arial MT"/>
                        </a:rPr>
                        <a:t>Description</a:t>
                      </a:r>
                      <a:endParaRPr lang="en-IN" sz="14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tc>
                  <a:txBody>
                    <a:bodyPr/>
                    <a:lstStyle/>
                    <a:p>
                      <a:pPr marL="275590">
                        <a:spcBef>
                          <a:spcPts val="215"/>
                        </a:spcBef>
                      </a:pPr>
                      <a:r>
                        <a:rPr lang="en-US" sz="1400">
                          <a:solidFill>
                            <a:schemeClr val="bg1"/>
                          </a:solidFill>
                          <a:effectLst/>
                          <a:latin typeface="Udemy Sans"/>
                          <a:ea typeface="Arial MT"/>
                          <a:cs typeface="Arial MT"/>
                        </a:rPr>
                        <a:t>Value </a:t>
                      </a:r>
                      <a:r>
                        <a:rPr lang="en-US" sz="1400" spc="-10">
                          <a:solidFill>
                            <a:schemeClr val="bg1"/>
                          </a:solidFill>
                          <a:effectLst/>
                          <a:latin typeface="Udemy Sans"/>
                          <a:ea typeface="Arial MT"/>
                          <a:cs typeface="Arial MT"/>
                        </a:rPr>
                        <a:t>format</a:t>
                      </a:r>
                      <a:endParaRPr lang="en-IN" sz="14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tc>
                  <a:txBody>
                    <a:bodyPr/>
                    <a:lstStyle/>
                    <a:p>
                      <a:pPr marL="2540" marR="1905" algn="ctr">
                        <a:spcBef>
                          <a:spcPts val="215"/>
                        </a:spcBef>
                        <a:spcAft>
                          <a:spcPts val="0"/>
                        </a:spcAft>
                      </a:pPr>
                      <a:r>
                        <a:rPr lang="en-US" sz="1400" spc="-30">
                          <a:solidFill>
                            <a:schemeClr val="bg1"/>
                          </a:solidFill>
                          <a:effectLst/>
                          <a:latin typeface="Udemy Sans"/>
                          <a:ea typeface="Arial MT"/>
                          <a:cs typeface="Arial MT"/>
                        </a:rPr>
                        <a:t>No.</a:t>
                      </a:r>
                      <a:r>
                        <a:rPr lang="en-US" sz="1400" spc="-5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of</a:t>
                      </a:r>
                      <a:r>
                        <a:rPr lang="en-US" sz="1400" spc="-4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Bytes</a:t>
                      </a:r>
                      <a:endParaRPr lang="en-IN" sz="14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1DFCC"/>
                    </a:solidFill>
                  </a:tcPr>
                </a:tc>
                <a:extLst>
                  <a:ext uri="{0D108BD9-81ED-4DB2-BD59-A6C34878D82A}">
                    <a16:rowId xmlns:a16="http://schemas.microsoft.com/office/drawing/2014/main" val="1747014883"/>
                  </a:ext>
                </a:extLst>
              </a:tr>
              <a:tr h="561342">
                <a:tc>
                  <a:txBody>
                    <a:bodyPr/>
                    <a:lstStyle/>
                    <a:p>
                      <a:pPr marL="3810" algn="ctr">
                        <a:spcBef>
                          <a:spcPts val="215"/>
                        </a:spcBef>
                      </a:pPr>
                      <a:r>
                        <a:rPr lang="en-US" sz="1400" spc="-50">
                          <a:solidFill>
                            <a:schemeClr val="bg1"/>
                          </a:solidFill>
                          <a:effectLst/>
                          <a:latin typeface="Udemy Sans"/>
                          <a:ea typeface="Arial MT"/>
                          <a:cs typeface="Arial MT"/>
                        </a:rPr>
                        <a:t>1</a:t>
                      </a:r>
                      <a:endParaRPr lang="en-IN" sz="14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a:spcBef>
                          <a:spcPts val="215"/>
                        </a:spcBef>
                      </a:pPr>
                      <a:r>
                        <a:rPr lang="en-US" sz="1400" spc="-20">
                          <a:solidFill>
                            <a:schemeClr val="bg1"/>
                          </a:solidFill>
                          <a:effectLst/>
                          <a:latin typeface="Udemy Sans"/>
                          <a:ea typeface="Arial MT"/>
                          <a:cs typeface="Arial MT"/>
                        </a:rPr>
                        <a:t>char</a:t>
                      </a:r>
                      <a:endParaRPr lang="en-IN" sz="14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400" spc="-30" dirty="0">
                          <a:solidFill>
                            <a:schemeClr val="bg1"/>
                          </a:solidFill>
                          <a:effectLst/>
                          <a:latin typeface="Udemy Sans"/>
                          <a:ea typeface="Arial MT"/>
                          <a:cs typeface="Arial MT"/>
                        </a:rPr>
                        <a:t>To</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store</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single</a:t>
                      </a:r>
                      <a:r>
                        <a:rPr lang="en-US" sz="1400" spc="-5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character</a:t>
                      </a:r>
                      <a:endParaRPr lang="en-IN" sz="14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400" spc="-10">
                          <a:solidFill>
                            <a:schemeClr val="bg1"/>
                          </a:solidFill>
                          <a:effectLst/>
                          <a:latin typeface="Udemy Sans"/>
                          <a:ea typeface="Arial MT"/>
                          <a:cs typeface="Arial MT"/>
                        </a:rPr>
                        <a:t>‘character’</a:t>
                      </a:r>
                      <a:endParaRPr lang="en-IN" sz="14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540" marR="2540" algn="ctr">
                        <a:spcBef>
                          <a:spcPts val="215"/>
                        </a:spcBef>
                        <a:spcAft>
                          <a:spcPts val="0"/>
                        </a:spcAft>
                      </a:pPr>
                      <a:r>
                        <a:rPr lang="en-US" sz="1400">
                          <a:solidFill>
                            <a:schemeClr val="bg1"/>
                          </a:solidFill>
                          <a:effectLst/>
                          <a:latin typeface="Udemy Sans"/>
                          <a:ea typeface="Arial MT"/>
                          <a:cs typeface="Arial MT"/>
                        </a:rPr>
                        <a:t>2</a:t>
                      </a:r>
                      <a:r>
                        <a:rPr lang="en-US" sz="1400" spc="-75">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bytes</a:t>
                      </a:r>
                      <a:endParaRPr lang="en-IN" sz="14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5915564"/>
                  </a:ext>
                </a:extLst>
              </a:tr>
              <a:tr h="1560881">
                <a:tc>
                  <a:txBody>
                    <a:bodyPr/>
                    <a:lstStyle/>
                    <a:p>
                      <a:pPr marL="3810" algn="ctr">
                        <a:spcBef>
                          <a:spcPts val="215"/>
                        </a:spcBef>
                      </a:pPr>
                      <a:r>
                        <a:rPr lang="en-US" sz="1400" spc="-50">
                          <a:solidFill>
                            <a:schemeClr val="bg1"/>
                          </a:solidFill>
                          <a:effectLst/>
                          <a:latin typeface="Udemy Sans"/>
                          <a:ea typeface="Arial MT"/>
                          <a:cs typeface="Arial MT"/>
                        </a:rPr>
                        <a:t>2</a:t>
                      </a:r>
                      <a:endParaRPr lang="en-IN" sz="14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a:spcBef>
                          <a:spcPts val="215"/>
                        </a:spcBef>
                      </a:pPr>
                      <a:r>
                        <a:rPr lang="en-US" sz="1400" spc="-10">
                          <a:solidFill>
                            <a:schemeClr val="bg1"/>
                          </a:solidFill>
                          <a:effectLst/>
                          <a:latin typeface="Udemy Sans"/>
                          <a:ea typeface="Arial MT"/>
                          <a:cs typeface="Arial MT"/>
                        </a:rPr>
                        <a:t>string</a:t>
                      </a:r>
                      <a:endParaRPr lang="en-IN" sz="14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marR="640715">
                        <a:lnSpc>
                          <a:spcPct val="168000"/>
                        </a:lnSpc>
                        <a:spcBef>
                          <a:spcPts val="215"/>
                        </a:spcBef>
                      </a:pPr>
                      <a:r>
                        <a:rPr lang="en-US" sz="1400" spc="-30" dirty="0">
                          <a:solidFill>
                            <a:schemeClr val="bg1"/>
                          </a:solidFill>
                          <a:effectLst/>
                          <a:latin typeface="Udemy Sans"/>
                          <a:ea typeface="Arial MT"/>
                          <a:cs typeface="Arial MT"/>
                        </a:rPr>
                        <a:t>To</a:t>
                      </a:r>
                      <a:r>
                        <a:rPr lang="en-US" sz="1400" spc="-5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store</a:t>
                      </a:r>
                      <a:r>
                        <a:rPr lang="en-US" sz="1400" spc="-5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one</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or</a:t>
                      </a:r>
                      <a:r>
                        <a:rPr lang="en-US" sz="1400" spc="-6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more </a:t>
                      </a:r>
                      <a:r>
                        <a:rPr lang="en-US" sz="1400" spc="-10" dirty="0">
                          <a:solidFill>
                            <a:schemeClr val="bg1"/>
                          </a:solidFill>
                          <a:effectLst/>
                          <a:latin typeface="Udemy Sans"/>
                          <a:ea typeface="Arial MT"/>
                          <a:cs typeface="Arial MT"/>
                        </a:rPr>
                        <a:t>characters.</a:t>
                      </a:r>
                      <a:endParaRPr lang="en-IN" sz="1400" dirty="0">
                        <a:solidFill>
                          <a:schemeClr val="bg1"/>
                        </a:solidFill>
                        <a:effectLst/>
                        <a:latin typeface="Udemy Sans"/>
                        <a:ea typeface="Arial MT"/>
                        <a:cs typeface="Arial MT"/>
                      </a:endParaRPr>
                    </a:p>
                    <a:p>
                      <a:pPr marL="67945">
                        <a:spcBef>
                          <a:spcPts val="595"/>
                        </a:spcBef>
                      </a:pPr>
                      <a:r>
                        <a:rPr lang="en-US" sz="1400" u="sng" spc="-30" dirty="0">
                          <a:solidFill>
                            <a:schemeClr val="bg1"/>
                          </a:solidFill>
                          <a:effectLst/>
                          <a:latin typeface="Udemy Sans"/>
                          <a:ea typeface="Arial MT"/>
                          <a:cs typeface="Arial MT"/>
                        </a:rPr>
                        <a:t>Max:</a:t>
                      </a:r>
                      <a:r>
                        <a:rPr lang="en-US" sz="1400" spc="-2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2</a:t>
                      </a:r>
                      <a:r>
                        <a:rPr lang="en-US" sz="1400" spc="-2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billion</a:t>
                      </a:r>
                      <a:r>
                        <a:rPr lang="en-US" sz="1400" spc="-3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characters</a:t>
                      </a:r>
                      <a:endParaRPr lang="en-IN" sz="14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400" dirty="0">
                          <a:solidFill>
                            <a:schemeClr val="bg1"/>
                          </a:solidFill>
                          <a:effectLst/>
                          <a:latin typeface="Udemy Sans"/>
                          <a:ea typeface="Arial MT"/>
                          <a:cs typeface="Arial MT"/>
                        </a:rPr>
                        <a:t>"string</a:t>
                      </a:r>
                      <a:r>
                        <a:rPr lang="en-US" sz="1400" spc="-20"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here"</a:t>
                      </a:r>
                      <a:endParaRPr lang="en-IN" sz="14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540" marR="1905" algn="ctr">
                        <a:spcBef>
                          <a:spcPts val="215"/>
                        </a:spcBef>
                        <a:spcAft>
                          <a:spcPts val="0"/>
                        </a:spcAft>
                      </a:pPr>
                      <a:r>
                        <a:rPr lang="en-US" sz="1400" spc="-30" dirty="0">
                          <a:solidFill>
                            <a:schemeClr val="bg1"/>
                          </a:solidFill>
                          <a:effectLst/>
                          <a:latin typeface="Udemy Sans"/>
                          <a:ea typeface="Arial MT"/>
                          <a:cs typeface="Arial MT"/>
                        </a:rPr>
                        <a:t>No. of</a:t>
                      </a:r>
                      <a:r>
                        <a:rPr lang="en-US" sz="1400" spc="-3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characters</a:t>
                      </a:r>
                      <a:r>
                        <a:rPr lang="en-US" sz="1400" spc="-3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 </a:t>
                      </a:r>
                      <a:r>
                        <a:rPr lang="en-US" sz="1400" spc="-50" dirty="0">
                          <a:solidFill>
                            <a:schemeClr val="bg1"/>
                          </a:solidFill>
                          <a:effectLst/>
                          <a:latin typeface="Udemy Sans"/>
                          <a:ea typeface="Arial MT"/>
                          <a:cs typeface="Arial MT"/>
                        </a:rPr>
                        <a:t>2</a:t>
                      </a:r>
                      <a:endParaRPr lang="en-IN" sz="14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1393612"/>
                  </a:ext>
                </a:extLst>
              </a:tr>
              <a:tr h="560316">
                <a:tc>
                  <a:txBody>
                    <a:bodyPr/>
                    <a:lstStyle/>
                    <a:p>
                      <a:pPr marL="3810" algn="ctr">
                        <a:spcBef>
                          <a:spcPts val="215"/>
                        </a:spcBef>
                      </a:pPr>
                      <a:r>
                        <a:rPr lang="en-US" sz="1400" spc="-50">
                          <a:solidFill>
                            <a:schemeClr val="bg1"/>
                          </a:solidFill>
                          <a:effectLst/>
                          <a:latin typeface="Udemy Sans"/>
                          <a:ea typeface="Arial MT"/>
                          <a:cs typeface="Arial MT"/>
                        </a:rPr>
                        <a:t>3</a:t>
                      </a:r>
                      <a:endParaRPr lang="en-IN" sz="14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a:spcBef>
                          <a:spcPts val="215"/>
                        </a:spcBef>
                      </a:pPr>
                      <a:r>
                        <a:rPr lang="en-US" sz="1400" spc="-20">
                          <a:solidFill>
                            <a:schemeClr val="bg1"/>
                          </a:solidFill>
                          <a:effectLst/>
                          <a:latin typeface="Udemy Sans"/>
                          <a:ea typeface="Arial MT"/>
                          <a:cs typeface="Arial MT"/>
                        </a:rPr>
                        <a:t>bool</a:t>
                      </a:r>
                      <a:endParaRPr lang="en-IN" sz="14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400" spc="-10">
                          <a:solidFill>
                            <a:schemeClr val="bg1"/>
                          </a:solidFill>
                          <a:effectLst/>
                          <a:latin typeface="Udemy Sans"/>
                          <a:ea typeface="Arial MT"/>
                          <a:cs typeface="Arial MT"/>
                        </a:rPr>
                        <a:t>To</a:t>
                      </a:r>
                      <a:r>
                        <a:rPr lang="en-US" sz="1400" spc="-4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store</a:t>
                      </a:r>
                      <a:r>
                        <a:rPr lang="en-US" sz="1400" spc="-4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true</a:t>
                      </a:r>
                      <a:r>
                        <a:rPr lang="en-US" sz="1400" spc="-3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a:t>
                      </a:r>
                      <a:r>
                        <a:rPr lang="en-US" sz="1400" spc="-9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false</a:t>
                      </a:r>
                      <a:r>
                        <a:rPr lang="en-US" sz="1400" spc="-40">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values.</a:t>
                      </a:r>
                      <a:endParaRPr lang="en-IN" sz="14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spcBef>
                          <a:spcPts val="215"/>
                        </a:spcBef>
                      </a:pPr>
                      <a:r>
                        <a:rPr lang="en-US" sz="1400">
                          <a:solidFill>
                            <a:schemeClr val="bg1"/>
                          </a:solidFill>
                          <a:effectLst/>
                          <a:latin typeface="Udemy Sans"/>
                          <a:ea typeface="Arial MT"/>
                          <a:cs typeface="Arial MT"/>
                        </a:rPr>
                        <a:t>true</a:t>
                      </a:r>
                      <a:r>
                        <a:rPr lang="en-US" sz="1400" spc="-4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or</a:t>
                      </a:r>
                      <a:r>
                        <a:rPr lang="en-US" sz="1400" spc="-5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false</a:t>
                      </a:r>
                      <a:endParaRPr lang="en-IN" sz="14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540" algn="ctr">
                        <a:spcBef>
                          <a:spcPts val="215"/>
                        </a:spcBef>
                      </a:pPr>
                      <a:r>
                        <a:rPr lang="en-US" sz="1400" dirty="0">
                          <a:solidFill>
                            <a:schemeClr val="bg1"/>
                          </a:solidFill>
                          <a:effectLst/>
                          <a:latin typeface="Udemy Sans"/>
                          <a:ea typeface="Arial MT"/>
                          <a:cs typeface="Arial MT"/>
                        </a:rPr>
                        <a:t>1</a:t>
                      </a:r>
                      <a:r>
                        <a:rPr lang="en-US" sz="1400" spc="-70" dirty="0">
                          <a:solidFill>
                            <a:schemeClr val="bg1"/>
                          </a:solidFill>
                          <a:effectLst/>
                          <a:latin typeface="Udemy Sans"/>
                          <a:ea typeface="Arial MT"/>
                          <a:cs typeface="Arial MT"/>
                        </a:rPr>
                        <a:t> </a:t>
                      </a:r>
                      <a:r>
                        <a:rPr lang="en-US" sz="1400" spc="-25" dirty="0">
                          <a:solidFill>
                            <a:schemeClr val="bg1"/>
                          </a:solidFill>
                          <a:effectLst/>
                          <a:latin typeface="Udemy Sans"/>
                          <a:ea typeface="Arial MT"/>
                          <a:cs typeface="Arial MT"/>
                        </a:rPr>
                        <a:t>bit</a:t>
                      </a:r>
                      <a:endParaRPr lang="en-IN" sz="14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9750286"/>
                  </a:ext>
                </a:extLst>
              </a:tr>
            </a:tbl>
          </a:graphicData>
        </a:graphic>
      </p:graphicFrame>
      <p:sp>
        <p:nvSpPr>
          <p:cNvPr id="4" name="Rectangle 2">
            <a:extLst>
              <a:ext uri="{FF2B5EF4-FFF2-40B4-BE49-F238E27FC236}">
                <a16:creationId xmlns:a16="http://schemas.microsoft.com/office/drawing/2014/main" id="{6898A213-B007-48A7-A739-4BC1FFF1738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95201"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039428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A1EE7-EBA9-403E-BF97-898EFC1F91CD}"/>
              </a:ext>
            </a:extLst>
          </p:cNvPr>
          <p:cNvSpPr>
            <a:spLocks noGrp="1"/>
          </p:cNvSpPr>
          <p:nvPr>
            <p:ph type="title"/>
          </p:nvPr>
        </p:nvSpPr>
        <p:spPr>
          <a:xfrm>
            <a:off x="856278" y="369796"/>
            <a:ext cx="9905998" cy="457201"/>
          </a:xfrm>
        </p:spPr>
        <p:txBody>
          <a:bodyPr>
            <a:normAutofit fontScale="90000"/>
          </a:bodyPr>
          <a:lstStyle/>
          <a:p>
            <a:br>
              <a:rPr kumimoji="0" lang="en-US" altLang="en-US" sz="3600" b="0" i="0" u="none" strike="noStrike" cap="none" normalizeH="0" baseline="0" dirty="0">
                <a:ln>
                  <a:noFill/>
                </a:ln>
                <a:solidFill>
                  <a:schemeClr val="tx1"/>
                </a:solidFill>
                <a:effectLst/>
                <a:latin typeface="Arial" panose="020B0604020202020204" pitchFamily="34" charset="0"/>
                <a:ea typeface="Arial MT"/>
                <a:cs typeface="Arial MT"/>
              </a:rPr>
            </a:br>
            <a:br>
              <a:rPr kumimoji="0" lang="en-US" altLang="en-US" sz="3600" b="0" i="0" u="none" strike="noStrike" cap="none" normalizeH="0" baseline="0" dirty="0">
                <a:ln>
                  <a:noFill/>
                </a:ln>
                <a:solidFill>
                  <a:schemeClr val="tx1"/>
                </a:solidFill>
                <a:effectLst/>
                <a:latin typeface="Arial" panose="020B0604020202020204" pitchFamily="34" charset="0"/>
                <a:ea typeface="Arial MT"/>
                <a:cs typeface="Arial MT"/>
              </a:rPr>
            </a:br>
            <a:r>
              <a:rPr lang="en-US" sz="1800" b="1" spc="65" dirty="0">
                <a:solidFill>
                  <a:srgbClr val="000000"/>
                </a:solidFill>
                <a:effectLst/>
                <a:latin typeface="Arial" panose="020B0604020202020204" pitchFamily="34" charset="0"/>
                <a:ea typeface="Arial MT"/>
                <a:cs typeface="Arial MT"/>
              </a:rPr>
              <a:t>Operators</a:t>
            </a:r>
            <a:br>
              <a:rPr lang="en-IN" sz="1800" dirty="0">
                <a:effectLst/>
                <a:latin typeface="Arial MT"/>
                <a:ea typeface="Arial MT"/>
                <a:cs typeface="Arial MT"/>
              </a:rPr>
            </a:br>
            <a:br>
              <a:rPr kumimoji="0" lang="en-US" altLang="en-US" sz="3600" b="0" i="0" u="none" strike="noStrike" cap="none" normalizeH="0" baseline="0" dirty="0">
                <a:ln>
                  <a:noFill/>
                </a:ln>
                <a:solidFill>
                  <a:schemeClr val="tx1"/>
                </a:solidFill>
                <a:effectLst/>
                <a:latin typeface="Arial" panose="020B0604020202020204" pitchFamily="34" charset="0"/>
                <a:ea typeface="Arial MT"/>
                <a:cs typeface="Arial MT"/>
              </a:rPr>
            </a:br>
            <a:endParaRPr lang="en-IN" dirty="0"/>
          </a:p>
        </p:txBody>
      </p:sp>
      <p:sp>
        <p:nvSpPr>
          <p:cNvPr id="4" name="Rectangle 2">
            <a:extLst>
              <a:ext uri="{FF2B5EF4-FFF2-40B4-BE49-F238E27FC236}">
                <a16:creationId xmlns:a16="http://schemas.microsoft.com/office/drawing/2014/main" id="{6898A213-B007-48A7-A739-4BC1FFF1738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95201" tIns="45720" rIns="91440" bIns="45720" numCol="1" anchor="ctr" anchorCtr="0" compatLnSpc="1">
            <a:prstTxWarp prst="textNoShape">
              <a:avLst/>
            </a:prstTxWarp>
            <a:spAutoFit/>
          </a:bodyPr>
          <a:lstStyle/>
          <a:p>
            <a:endParaRPr lang="en-IN"/>
          </a:p>
        </p:txBody>
      </p:sp>
      <p:sp>
        <p:nvSpPr>
          <p:cNvPr id="5" name="Content Placeholder 4">
            <a:extLst>
              <a:ext uri="{FF2B5EF4-FFF2-40B4-BE49-F238E27FC236}">
                <a16:creationId xmlns:a16="http://schemas.microsoft.com/office/drawing/2014/main" id="{37C43D89-8EC8-4485-880B-64E85F5A5846}"/>
              </a:ext>
            </a:extLst>
          </p:cNvPr>
          <p:cNvSpPr>
            <a:spLocks noGrp="1"/>
          </p:cNvSpPr>
          <p:nvPr>
            <p:ph idx="1"/>
          </p:nvPr>
        </p:nvSpPr>
        <p:spPr>
          <a:xfrm>
            <a:off x="1141412" y="1002890"/>
            <a:ext cx="9905999" cy="4788311"/>
          </a:xfrm>
        </p:spPr>
        <p:txBody>
          <a:bodyPr>
            <a:normAutofit/>
          </a:bodyPr>
          <a:lstStyle/>
          <a:p>
            <a:r>
              <a:rPr lang="en-IN" sz="1800" dirty="0">
                <a:solidFill>
                  <a:schemeClr val="bg1"/>
                </a:solidFill>
                <a:latin typeface="Udemy Sans"/>
              </a:rPr>
              <a:t>Operator is a symbol to perform an operation</a:t>
            </a:r>
          </a:p>
          <a:p>
            <a:r>
              <a:rPr lang="en-US" sz="1800" dirty="0">
                <a:solidFill>
                  <a:schemeClr val="bg1"/>
                </a:solidFill>
                <a:latin typeface="Udemy Sans"/>
              </a:rPr>
              <a:t>An operator receives one or two operands and perform some operation &amp; returns the result.</a:t>
            </a:r>
            <a:endParaRPr lang="en-IN" sz="1800" dirty="0">
              <a:solidFill>
                <a:schemeClr val="bg1"/>
              </a:solidFill>
              <a:latin typeface="Udemy Sans"/>
            </a:endParaRPr>
          </a:p>
          <a:p>
            <a:r>
              <a:rPr lang="en-IN" sz="1800" dirty="0">
                <a:solidFill>
                  <a:schemeClr val="bg1"/>
                </a:solidFill>
                <a:latin typeface="Udemy Sans"/>
              </a:rPr>
              <a:t>Types of operators:</a:t>
            </a:r>
          </a:p>
          <a:p>
            <a:pPr lvl="1"/>
            <a:r>
              <a:rPr lang="en-US" sz="1800" spc="0" dirty="0">
                <a:solidFill>
                  <a:schemeClr val="bg1"/>
                </a:solidFill>
                <a:effectLst/>
                <a:latin typeface="Udemy Sans"/>
                <a:ea typeface="Arial MT"/>
                <a:cs typeface="Arial MT"/>
              </a:rPr>
              <a:t>Assignment</a:t>
            </a:r>
            <a:r>
              <a:rPr lang="en-US" sz="1800" spc="165" dirty="0">
                <a:solidFill>
                  <a:schemeClr val="bg1"/>
                </a:solidFill>
                <a:effectLst/>
                <a:latin typeface="Udemy Sans"/>
                <a:ea typeface="Arial MT"/>
                <a:cs typeface="Arial MT"/>
              </a:rPr>
              <a:t> </a:t>
            </a:r>
            <a:r>
              <a:rPr lang="en-US" sz="1800" spc="-10" dirty="0">
                <a:solidFill>
                  <a:schemeClr val="bg1"/>
                </a:solidFill>
                <a:effectLst/>
                <a:latin typeface="Udemy Sans"/>
                <a:ea typeface="Arial MT"/>
                <a:cs typeface="Arial MT"/>
              </a:rPr>
              <a:t>Operators</a:t>
            </a:r>
          </a:p>
          <a:p>
            <a:pPr lvl="1"/>
            <a:r>
              <a:rPr lang="en-US" sz="1800" spc="-10" dirty="0">
                <a:solidFill>
                  <a:schemeClr val="bg1"/>
                </a:solidFill>
                <a:latin typeface="Udemy Sans"/>
                <a:ea typeface="Arial MT"/>
                <a:cs typeface="Arial MT"/>
              </a:rPr>
              <a:t>Arithmetic Operators</a:t>
            </a:r>
          </a:p>
          <a:p>
            <a:pPr lvl="1"/>
            <a:r>
              <a:rPr lang="en-US" sz="1800" spc="-10" dirty="0">
                <a:solidFill>
                  <a:schemeClr val="bg1"/>
                </a:solidFill>
                <a:effectLst/>
                <a:latin typeface="Udemy Sans"/>
                <a:ea typeface="Arial MT"/>
                <a:cs typeface="Arial MT"/>
              </a:rPr>
              <a:t>Incremental Operators</a:t>
            </a:r>
          </a:p>
          <a:p>
            <a:pPr lvl="1"/>
            <a:r>
              <a:rPr lang="en-US" sz="1800" spc="-10" dirty="0">
                <a:solidFill>
                  <a:schemeClr val="bg1"/>
                </a:solidFill>
                <a:latin typeface="Udemy Sans"/>
                <a:ea typeface="Arial MT"/>
                <a:cs typeface="Arial MT"/>
              </a:rPr>
              <a:t>Relational </a:t>
            </a:r>
            <a:r>
              <a:rPr lang="en-US" sz="1800" spc="-10" dirty="0">
                <a:solidFill>
                  <a:schemeClr val="bg1"/>
                </a:solidFill>
                <a:effectLst/>
                <a:latin typeface="Udemy Sans"/>
                <a:ea typeface="Arial MT"/>
                <a:cs typeface="Arial MT"/>
              </a:rPr>
              <a:t>Operators</a:t>
            </a:r>
            <a:endParaRPr lang="en-US" sz="1800" spc="-10" dirty="0">
              <a:solidFill>
                <a:schemeClr val="bg1"/>
              </a:solidFill>
              <a:latin typeface="Udemy Sans"/>
              <a:ea typeface="Arial MT"/>
              <a:cs typeface="Arial MT"/>
            </a:endParaRPr>
          </a:p>
          <a:p>
            <a:pPr lvl="1"/>
            <a:r>
              <a:rPr lang="en-US" sz="1800" spc="-10" dirty="0">
                <a:solidFill>
                  <a:schemeClr val="bg1"/>
                </a:solidFill>
                <a:effectLst/>
                <a:latin typeface="Udemy Sans"/>
                <a:ea typeface="Arial MT"/>
                <a:cs typeface="Arial MT"/>
              </a:rPr>
              <a:t>Logical Operators</a:t>
            </a:r>
          </a:p>
          <a:p>
            <a:pPr lvl="1"/>
            <a:r>
              <a:rPr lang="en-US" sz="1800" spc="-10" dirty="0">
                <a:solidFill>
                  <a:schemeClr val="bg1"/>
                </a:solidFill>
                <a:latin typeface="Udemy Sans"/>
                <a:ea typeface="Arial MT"/>
                <a:cs typeface="Arial MT"/>
              </a:rPr>
              <a:t>Concatenation </a:t>
            </a:r>
            <a:r>
              <a:rPr lang="en-US" sz="1800" spc="-10" dirty="0">
                <a:solidFill>
                  <a:schemeClr val="bg1"/>
                </a:solidFill>
                <a:effectLst/>
                <a:latin typeface="Udemy Sans"/>
                <a:ea typeface="Arial MT"/>
                <a:cs typeface="Arial MT"/>
              </a:rPr>
              <a:t>Operators</a:t>
            </a:r>
            <a:endParaRPr lang="en-US" sz="1800" spc="-10" dirty="0">
              <a:solidFill>
                <a:schemeClr val="bg1"/>
              </a:solidFill>
              <a:latin typeface="Udemy Sans"/>
              <a:ea typeface="Arial MT"/>
              <a:cs typeface="Arial MT"/>
            </a:endParaRPr>
          </a:p>
          <a:p>
            <a:pPr lvl="1"/>
            <a:r>
              <a:rPr lang="en-US" sz="1800" spc="-10" dirty="0">
                <a:solidFill>
                  <a:schemeClr val="bg1"/>
                </a:solidFill>
                <a:effectLst/>
                <a:latin typeface="Udemy Sans"/>
                <a:ea typeface="Arial MT"/>
                <a:cs typeface="Arial MT"/>
              </a:rPr>
              <a:t>Conditional Operators</a:t>
            </a:r>
            <a:endParaRPr lang="en-IN" sz="1800" spc="0" dirty="0">
              <a:solidFill>
                <a:schemeClr val="bg1"/>
              </a:solidFill>
              <a:effectLst/>
              <a:latin typeface="Udemy Sans"/>
              <a:ea typeface="Arial MT"/>
              <a:cs typeface="Arial MT"/>
            </a:endParaRPr>
          </a:p>
          <a:p>
            <a:endParaRPr lang="en-IN" dirty="0">
              <a:latin typeface="Udemy Sans"/>
            </a:endParaRPr>
          </a:p>
        </p:txBody>
      </p:sp>
    </p:spTree>
    <p:extLst>
      <p:ext uri="{BB962C8B-B14F-4D97-AF65-F5344CB8AC3E}">
        <p14:creationId xmlns:p14="http://schemas.microsoft.com/office/powerpoint/2010/main" val="3102962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3A1E1-8ABE-4ED2-B1DA-64607BB44C76}"/>
              </a:ext>
            </a:extLst>
          </p:cNvPr>
          <p:cNvSpPr>
            <a:spLocks noGrp="1"/>
          </p:cNvSpPr>
          <p:nvPr>
            <p:ph type="title"/>
          </p:nvPr>
        </p:nvSpPr>
        <p:spPr/>
        <p:txBody>
          <a:bodyPr/>
          <a:lstStyle/>
          <a:p>
            <a:r>
              <a:rPr lang="en-US" sz="1800" b="1" spc="80" dirty="0">
                <a:solidFill>
                  <a:srgbClr val="000000"/>
                </a:solidFill>
                <a:effectLst/>
                <a:latin typeface="Arial" panose="020B0604020202020204" pitchFamily="34" charset="0"/>
                <a:ea typeface="Arial MT"/>
                <a:cs typeface="Arial MT"/>
              </a:rPr>
              <a:t>Control</a:t>
            </a:r>
            <a:r>
              <a:rPr lang="en-US" sz="1800" b="1" spc="70" dirty="0">
                <a:solidFill>
                  <a:srgbClr val="000000"/>
                </a:solidFill>
                <a:effectLst/>
                <a:latin typeface="Arial" panose="020B0604020202020204" pitchFamily="34" charset="0"/>
                <a:ea typeface="Arial MT"/>
                <a:cs typeface="Arial MT"/>
              </a:rPr>
              <a:t> </a:t>
            </a:r>
            <a:r>
              <a:rPr lang="en-US" sz="1800" b="1" spc="65" dirty="0">
                <a:solidFill>
                  <a:srgbClr val="000000"/>
                </a:solidFill>
                <a:effectLst/>
                <a:latin typeface="Arial" panose="020B0604020202020204" pitchFamily="34" charset="0"/>
                <a:ea typeface="Arial MT"/>
                <a:cs typeface="Arial MT"/>
              </a:rPr>
              <a:t>Statements</a:t>
            </a:r>
            <a:br>
              <a:rPr lang="en-IN" sz="1800" dirty="0">
                <a:effectLst/>
                <a:latin typeface="Arial MT"/>
                <a:ea typeface="Arial MT"/>
                <a:cs typeface="Arial MT"/>
              </a:rPr>
            </a:br>
            <a:endParaRPr lang="en-IN" dirty="0"/>
          </a:p>
        </p:txBody>
      </p:sp>
      <p:sp>
        <p:nvSpPr>
          <p:cNvPr id="3" name="Content Placeholder 2">
            <a:extLst>
              <a:ext uri="{FF2B5EF4-FFF2-40B4-BE49-F238E27FC236}">
                <a16:creationId xmlns:a16="http://schemas.microsoft.com/office/drawing/2014/main" id="{C6C19D5D-104D-4EA9-9BC2-1299EEDE4F50}"/>
              </a:ext>
            </a:extLst>
          </p:cNvPr>
          <p:cNvSpPr>
            <a:spLocks noGrp="1"/>
          </p:cNvSpPr>
          <p:nvPr>
            <p:ph idx="1"/>
          </p:nvPr>
        </p:nvSpPr>
        <p:spPr>
          <a:xfrm>
            <a:off x="1141412" y="1445342"/>
            <a:ext cx="9905999" cy="4345859"/>
          </a:xfrm>
        </p:spPr>
        <p:txBody>
          <a:bodyPr>
            <a:normAutofit fontScale="77500" lnSpcReduction="20000"/>
          </a:bodyPr>
          <a:lstStyle/>
          <a:p>
            <a:pPr>
              <a:spcBef>
                <a:spcPts val="755"/>
              </a:spcBef>
              <a:buFont typeface="Wingdings" panose="05000000000000000000" pitchFamily="2" charset="2"/>
              <a:buChar char="Ø"/>
              <a:tabLst>
                <a:tab pos="652145" algn="l"/>
              </a:tabLst>
            </a:pPr>
            <a:r>
              <a:rPr lang="en-US" sz="2200" spc="-30" dirty="0">
                <a:solidFill>
                  <a:schemeClr val="bg1"/>
                </a:solidFill>
                <a:effectLst/>
                <a:latin typeface="Arial MT"/>
                <a:ea typeface="Symbol" panose="05050102010706020507" pitchFamily="18" charset="2"/>
                <a:cs typeface="Symbol" panose="05050102010706020507" pitchFamily="18" charset="2"/>
              </a:rPr>
              <a:t>Control</a:t>
            </a:r>
            <a:r>
              <a:rPr lang="en-US" sz="2200" spc="-20"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statements</a:t>
            </a:r>
            <a:r>
              <a:rPr lang="en-US" sz="2200" spc="-25"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are</a:t>
            </a:r>
            <a:r>
              <a:rPr lang="en-US" sz="2200" spc="-15"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used</a:t>
            </a:r>
            <a:r>
              <a:rPr lang="en-US" sz="2200" spc="-15"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to</a:t>
            </a:r>
            <a:r>
              <a:rPr lang="en-US" sz="2200" spc="-20"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control</a:t>
            </a:r>
            <a:r>
              <a:rPr lang="en-US" sz="2200" spc="-20"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the</a:t>
            </a:r>
            <a:r>
              <a:rPr lang="en-US" sz="2200" spc="-15"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“program execution</a:t>
            </a:r>
            <a:r>
              <a:rPr lang="en-US" sz="2200" spc="-10"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flow”.</a:t>
            </a:r>
            <a:endParaRPr lang="en-IN" sz="2200" spc="0" dirty="0">
              <a:solidFill>
                <a:schemeClr val="bg1"/>
              </a:solidFill>
              <a:effectLst/>
              <a:latin typeface="Arial MT"/>
              <a:ea typeface="Symbol" panose="05050102010706020507" pitchFamily="18" charset="2"/>
              <a:cs typeface="Symbol" panose="05050102010706020507" pitchFamily="18" charset="2"/>
            </a:endParaRPr>
          </a:p>
          <a:p>
            <a:pPr>
              <a:spcBef>
                <a:spcPts val="785"/>
              </a:spcBef>
              <a:buFont typeface="Wingdings" panose="05000000000000000000" pitchFamily="2" charset="2"/>
              <a:buChar char="Ø"/>
              <a:tabLst>
                <a:tab pos="652145" algn="l"/>
              </a:tabLst>
            </a:pPr>
            <a:r>
              <a:rPr lang="en-US" sz="2200" spc="-30" dirty="0">
                <a:solidFill>
                  <a:schemeClr val="bg1"/>
                </a:solidFill>
                <a:effectLst/>
                <a:latin typeface="Arial MT"/>
                <a:ea typeface="Symbol" panose="05050102010706020507" pitchFamily="18" charset="2"/>
                <a:cs typeface="Symbol" panose="05050102010706020507" pitchFamily="18" charset="2"/>
              </a:rPr>
              <a:t>That</a:t>
            </a:r>
            <a:r>
              <a:rPr lang="en-US" sz="2200" spc="-40"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means</a:t>
            </a:r>
            <a:r>
              <a:rPr lang="en-US" sz="2200" spc="-45"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these</a:t>
            </a:r>
            <a:r>
              <a:rPr lang="en-US" sz="2200" spc="-45"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are</a:t>
            </a:r>
            <a:r>
              <a:rPr lang="en-US" sz="2200" spc="-35"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used</a:t>
            </a:r>
            <a:r>
              <a:rPr lang="en-US" sz="2200" spc="-40"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to</a:t>
            </a:r>
            <a:r>
              <a:rPr lang="en-US" sz="2200" spc="-45"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“go</a:t>
            </a:r>
            <a:r>
              <a:rPr lang="en-US" sz="2200" spc="-40"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forward”</a:t>
            </a:r>
            <a:r>
              <a:rPr lang="en-US" sz="2200" spc="-45"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or</a:t>
            </a:r>
            <a:r>
              <a:rPr lang="en-US" sz="2200" spc="-40"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“go</a:t>
            </a:r>
            <a:r>
              <a:rPr lang="en-US" sz="2200" spc="-40"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backward”</a:t>
            </a:r>
            <a:r>
              <a:rPr lang="en-US" sz="2200" spc="-45"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within</a:t>
            </a:r>
            <a:r>
              <a:rPr lang="en-US" sz="2200" spc="-40"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the</a:t>
            </a:r>
            <a:r>
              <a:rPr lang="en-US" sz="2200" spc="-35" dirty="0">
                <a:solidFill>
                  <a:schemeClr val="bg1"/>
                </a:solidFill>
                <a:effectLst/>
                <a:latin typeface="Arial MT"/>
                <a:ea typeface="Symbol" panose="05050102010706020507" pitchFamily="18" charset="2"/>
                <a:cs typeface="Symbol" panose="05050102010706020507" pitchFamily="18" charset="2"/>
              </a:rPr>
              <a:t> </a:t>
            </a:r>
            <a:r>
              <a:rPr lang="en-US" sz="2200" spc="-30" dirty="0">
                <a:solidFill>
                  <a:schemeClr val="bg1"/>
                </a:solidFill>
                <a:effectLst/>
                <a:latin typeface="Arial MT"/>
                <a:ea typeface="Symbol" panose="05050102010706020507" pitchFamily="18" charset="2"/>
                <a:cs typeface="Symbol" panose="05050102010706020507" pitchFamily="18" charset="2"/>
              </a:rPr>
              <a:t>program.</a:t>
            </a:r>
            <a:endParaRPr lang="en-IN" sz="2200" spc="0" dirty="0">
              <a:solidFill>
                <a:schemeClr val="bg1"/>
              </a:solidFill>
              <a:effectLst/>
              <a:latin typeface="Arial MT"/>
              <a:ea typeface="Symbol" panose="05050102010706020507" pitchFamily="18" charset="2"/>
              <a:cs typeface="Symbol" panose="05050102010706020507" pitchFamily="18" charset="2"/>
            </a:endParaRPr>
          </a:p>
          <a:p>
            <a:r>
              <a:rPr lang="en-IN" dirty="0">
                <a:solidFill>
                  <a:schemeClr val="bg1"/>
                </a:solidFill>
              </a:rPr>
              <a:t>Type of Control Statements</a:t>
            </a:r>
          </a:p>
          <a:p>
            <a:pPr lvl="1"/>
            <a:r>
              <a:rPr lang="en-US" dirty="0">
                <a:solidFill>
                  <a:schemeClr val="bg1"/>
                </a:solidFill>
                <a:latin typeface="Udemy Sans"/>
              </a:rPr>
              <a:t>Conditional Control Statements</a:t>
            </a:r>
          </a:p>
          <a:p>
            <a:pPr lvl="2"/>
            <a:r>
              <a:rPr lang="en-US" dirty="0">
                <a:solidFill>
                  <a:schemeClr val="bg1"/>
                </a:solidFill>
                <a:latin typeface="Udemy Sans"/>
              </a:rPr>
              <a:t>If</a:t>
            </a:r>
          </a:p>
          <a:p>
            <a:pPr lvl="2"/>
            <a:r>
              <a:rPr lang="en-US" dirty="0">
                <a:solidFill>
                  <a:schemeClr val="bg1"/>
                </a:solidFill>
                <a:latin typeface="Udemy Sans"/>
              </a:rPr>
              <a:t>Switch-case</a:t>
            </a:r>
          </a:p>
          <a:p>
            <a:pPr lvl="1"/>
            <a:r>
              <a:rPr lang="en-US" dirty="0">
                <a:solidFill>
                  <a:schemeClr val="bg1"/>
                </a:solidFill>
                <a:latin typeface="Udemy Sans"/>
              </a:rPr>
              <a:t> Looping Control Statements</a:t>
            </a:r>
          </a:p>
          <a:p>
            <a:pPr lvl="2"/>
            <a:r>
              <a:rPr lang="en-US" dirty="0">
                <a:solidFill>
                  <a:schemeClr val="bg1"/>
                </a:solidFill>
                <a:latin typeface="Udemy Sans"/>
              </a:rPr>
              <a:t>While</a:t>
            </a:r>
          </a:p>
          <a:p>
            <a:pPr lvl="2"/>
            <a:r>
              <a:rPr lang="en-US" dirty="0">
                <a:solidFill>
                  <a:schemeClr val="bg1"/>
                </a:solidFill>
                <a:latin typeface="Udemy Sans"/>
              </a:rPr>
              <a:t>Do-While</a:t>
            </a:r>
          </a:p>
          <a:p>
            <a:pPr lvl="2"/>
            <a:r>
              <a:rPr lang="en-US" dirty="0">
                <a:solidFill>
                  <a:schemeClr val="bg1"/>
                </a:solidFill>
                <a:latin typeface="Udemy Sans"/>
              </a:rPr>
              <a:t>For</a:t>
            </a:r>
          </a:p>
          <a:p>
            <a:pPr lvl="1">
              <a:tabLst>
                <a:tab pos="651510" algn="l"/>
              </a:tabLst>
            </a:pPr>
            <a:r>
              <a:rPr lang="en-US" sz="2100" dirty="0">
                <a:solidFill>
                  <a:schemeClr val="bg1"/>
                </a:solidFill>
                <a:latin typeface="Udemy Sans"/>
              </a:rPr>
              <a:t>Jumping Control Statements</a:t>
            </a:r>
          </a:p>
          <a:p>
            <a:pPr lvl="2">
              <a:tabLst>
                <a:tab pos="1109345" algn="l"/>
              </a:tabLst>
            </a:pPr>
            <a:r>
              <a:rPr lang="en-US" dirty="0">
                <a:solidFill>
                  <a:schemeClr val="bg1"/>
                </a:solidFill>
                <a:latin typeface="Udemy Sans"/>
              </a:rPr>
              <a:t>Break</a:t>
            </a:r>
            <a:endParaRPr lang="en-IN" dirty="0">
              <a:solidFill>
                <a:schemeClr val="bg1"/>
              </a:solidFill>
              <a:latin typeface="Udemy Sans"/>
            </a:endParaRPr>
          </a:p>
          <a:p>
            <a:pPr lvl="2">
              <a:tabLst>
                <a:tab pos="1109345" algn="l"/>
              </a:tabLst>
            </a:pPr>
            <a:r>
              <a:rPr lang="en-US" dirty="0">
                <a:solidFill>
                  <a:schemeClr val="bg1"/>
                </a:solidFill>
                <a:latin typeface="Udemy Sans"/>
              </a:rPr>
              <a:t>Continue </a:t>
            </a:r>
            <a:endParaRPr lang="en-IN" dirty="0">
              <a:solidFill>
                <a:schemeClr val="bg1"/>
              </a:solidFill>
              <a:latin typeface="Udemy Sans"/>
            </a:endParaRPr>
          </a:p>
          <a:p>
            <a:pPr lvl="2">
              <a:tabLst>
                <a:tab pos="1109345" algn="l"/>
              </a:tabLst>
            </a:pPr>
            <a:r>
              <a:rPr lang="en-US" dirty="0" err="1">
                <a:solidFill>
                  <a:schemeClr val="bg1"/>
                </a:solidFill>
                <a:latin typeface="Udemy Sans"/>
              </a:rPr>
              <a:t>Goto</a:t>
            </a:r>
            <a:endParaRPr lang="en-IN" dirty="0">
              <a:solidFill>
                <a:schemeClr val="bg1"/>
              </a:solidFill>
              <a:latin typeface="Udemy Sans"/>
            </a:endParaRPr>
          </a:p>
          <a:p>
            <a:pPr lvl="0">
              <a:buSzPts val="1100"/>
              <a:tabLst>
                <a:tab pos="651510" algn="l"/>
              </a:tabLst>
            </a:pPr>
            <a:endParaRPr lang="en-IN" sz="1800" spc="0" dirty="0">
              <a:effectLst/>
              <a:latin typeface="Arial MT"/>
              <a:ea typeface="Wingdings" panose="05000000000000000000" pitchFamily="2" charset="2"/>
              <a:cs typeface="Wingdings" panose="05000000000000000000" pitchFamily="2" charset="2"/>
            </a:endParaRPr>
          </a:p>
          <a:p>
            <a:pPr marL="0" indent="0">
              <a:spcBef>
                <a:spcPts val="130"/>
              </a:spcBef>
              <a:buNone/>
            </a:pPr>
            <a:endParaRPr lang="en-IN" sz="1800" dirty="0">
              <a:effectLst/>
              <a:latin typeface="Arial MT"/>
              <a:ea typeface="Arial MT"/>
              <a:cs typeface="Arial MT"/>
            </a:endParaRPr>
          </a:p>
          <a:p>
            <a:endParaRPr lang="en-US" dirty="0"/>
          </a:p>
          <a:p>
            <a:endParaRPr lang="en-IN" dirty="0"/>
          </a:p>
        </p:txBody>
      </p:sp>
    </p:spTree>
    <p:extLst>
      <p:ext uri="{BB962C8B-B14F-4D97-AF65-F5344CB8AC3E}">
        <p14:creationId xmlns:p14="http://schemas.microsoft.com/office/powerpoint/2010/main" val="933187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CBCCA-7BFF-42ED-BBD9-17A9A2D6F521}"/>
              </a:ext>
            </a:extLst>
          </p:cNvPr>
          <p:cNvSpPr>
            <a:spLocks noGrp="1"/>
          </p:cNvSpPr>
          <p:nvPr>
            <p:ph type="title"/>
          </p:nvPr>
        </p:nvSpPr>
        <p:spPr>
          <a:xfrm>
            <a:off x="1143001" y="225228"/>
            <a:ext cx="9905998" cy="448281"/>
          </a:xfrm>
        </p:spPr>
        <p:txBody>
          <a:bodyPr/>
          <a:lstStyle/>
          <a:p>
            <a:r>
              <a:rPr lang="en-US" sz="1800" spc="85" dirty="0">
                <a:solidFill>
                  <a:srgbClr val="000000"/>
                </a:solidFill>
                <a:effectLst/>
                <a:latin typeface="Arial MT"/>
                <a:ea typeface="Arial MT"/>
                <a:cs typeface="Arial MT"/>
              </a:rPr>
              <a:t>Introduction</a:t>
            </a:r>
            <a:r>
              <a:rPr lang="en-US" sz="1800" spc="155" dirty="0">
                <a:solidFill>
                  <a:srgbClr val="000000"/>
                </a:solidFill>
                <a:effectLst/>
                <a:latin typeface="Arial MT"/>
                <a:ea typeface="Arial MT"/>
                <a:cs typeface="Arial MT"/>
              </a:rPr>
              <a:t> </a:t>
            </a:r>
            <a:r>
              <a:rPr lang="en-US" sz="1800" spc="55" dirty="0">
                <a:solidFill>
                  <a:srgbClr val="000000"/>
                </a:solidFill>
                <a:effectLst/>
                <a:latin typeface="Arial MT"/>
                <a:ea typeface="Arial MT"/>
                <a:cs typeface="Arial MT"/>
              </a:rPr>
              <a:t>to</a:t>
            </a:r>
            <a:r>
              <a:rPr lang="en-US" sz="1800" spc="190" dirty="0">
                <a:solidFill>
                  <a:srgbClr val="000000"/>
                </a:solidFill>
                <a:effectLst/>
                <a:latin typeface="Arial MT"/>
                <a:ea typeface="Arial MT"/>
                <a:cs typeface="Arial MT"/>
              </a:rPr>
              <a:t> </a:t>
            </a:r>
            <a:r>
              <a:rPr lang="en-US" sz="1800" spc="80" dirty="0">
                <a:solidFill>
                  <a:srgbClr val="000000"/>
                </a:solidFill>
                <a:effectLst/>
                <a:latin typeface="Arial MT"/>
                <a:ea typeface="Arial MT"/>
                <a:cs typeface="Arial MT"/>
              </a:rPr>
              <a:t>Object</a:t>
            </a:r>
            <a:r>
              <a:rPr lang="en-US" sz="1800" spc="170" dirty="0">
                <a:solidFill>
                  <a:srgbClr val="000000"/>
                </a:solidFill>
                <a:effectLst/>
                <a:latin typeface="Arial MT"/>
                <a:ea typeface="Arial MT"/>
                <a:cs typeface="Arial MT"/>
              </a:rPr>
              <a:t> </a:t>
            </a:r>
            <a:r>
              <a:rPr lang="en-US" sz="1800" spc="85" dirty="0">
                <a:solidFill>
                  <a:srgbClr val="000000"/>
                </a:solidFill>
                <a:effectLst/>
                <a:latin typeface="Arial MT"/>
                <a:ea typeface="Arial MT"/>
                <a:cs typeface="Arial MT"/>
              </a:rPr>
              <a:t>Oriented</a:t>
            </a:r>
            <a:r>
              <a:rPr lang="en-US" sz="1800" spc="170" dirty="0">
                <a:solidFill>
                  <a:srgbClr val="000000"/>
                </a:solidFill>
                <a:effectLst/>
                <a:latin typeface="Arial MT"/>
                <a:ea typeface="Arial MT"/>
                <a:cs typeface="Arial MT"/>
              </a:rPr>
              <a:t> </a:t>
            </a:r>
            <a:r>
              <a:rPr lang="en-US" sz="1800" spc="80" dirty="0">
                <a:solidFill>
                  <a:srgbClr val="000000"/>
                </a:solidFill>
                <a:effectLst/>
                <a:latin typeface="Arial MT"/>
                <a:ea typeface="Arial MT"/>
                <a:cs typeface="Arial MT"/>
              </a:rPr>
              <a:t>Programming</a:t>
            </a:r>
            <a:endParaRPr lang="en-IN" dirty="0"/>
          </a:p>
        </p:txBody>
      </p:sp>
      <p:sp>
        <p:nvSpPr>
          <p:cNvPr id="3" name="Content Placeholder 2">
            <a:extLst>
              <a:ext uri="{FF2B5EF4-FFF2-40B4-BE49-F238E27FC236}">
                <a16:creationId xmlns:a16="http://schemas.microsoft.com/office/drawing/2014/main" id="{5E6EF16D-F5B6-4FC0-A23D-3F157637CF5A}"/>
              </a:ext>
            </a:extLst>
          </p:cNvPr>
          <p:cNvSpPr>
            <a:spLocks noGrp="1"/>
          </p:cNvSpPr>
          <p:nvPr>
            <p:ph idx="1"/>
          </p:nvPr>
        </p:nvSpPr>
        <p:spPr>
          <a:xfrm>
            <a:off x="1143000" y="980767"/>
            <a:ext cx="9905999" cy="4896466"/>
          </a:xfrm>
        </p:spPr>
        <p:txBody>
          <a:bodyPr>
            <a:normAutofit/>
          </a:bodyPr>
          <a:lstStyle/>
          <a:p>
            <a:r>
              <a:rPr lang="en-US" sz="1800" dirty="0">
                <a:solidFill>
                  <a:schemeClr val="bg1"/>
                </a:solidFill>
                <a:latin typeface="Udemy Sans"/>
              </a:rPr>
              <a:t>“Object oriented programming” is a programming style / programming paradigm, which provides necessary guidelines for the programmers to write the programs in a well- organized, understandable, secured, re-usable, efficient, structured, clean, maintainable manner</a:t>
            </a:r>
          </a:p>
          <a:p>
            <a:r>
              <a:rPr lang="en-US" sz="1800" dirty="0">
                <a:solidFill>
                  <a:schemeClr val="bg1"/>
                </a:solidFill>
                <a:latin typeface="Udemy Sans"/>
              </a:rPr>
              <a:t>OOP is followed in almost-all modern programming languages such as C++, VC++, Java, C#.NET, VB.NET etc.</a:t>
            </a:r>
          </a:p>
          <a:p>
            <a:r>
              <a:rPr lang="en-US" sz="1800" dirty="0">
                <a:solidFill>
                  <a:schemeClr val="bg1"/>
                </a:solidFill>
                <a:latin typeface="Udemy Sans"/>
              </a:rPr>
              <a:t>.NET developers must know OOP.</a:t>
            </a:r>
          </a:p>
          <a:p>
            <a:r>
              <a:rPr lang="en-IN" sz="1800" dirty="0">
                <a:solidFill>
                  <a:schemeClr val="bg1"/>
                </a:solidFill>
                <a:latin typeface="Udemy Sans"/>
              </a:rPr>
              <a:t>Advantages of OOP:</a:t>
            </a:r>
            <a:endParaRPr lang="en-US" sz="1800" dirty="0">
              <a:solidFill>
                <a:schemeClr val="bg1"/>
              </a:solidFill>
              <a:latin typeface="Udemy Sans"/>
            </a:endParaRPr>
          </a:p>
          <a:p>
            <a:pPr lvl="1"/>
            <a:r>
              <a:rPr lang="en-US" sz="1800" dirty="0">
                <a:solidFill>
                  <a:schemeClr val="bg1"/>
                </a:solidFill>
                <a:latin typeface="Udemy Sans"/>
              </a:rPr>
              <a:t>Modularity: Dividing large programs into multiple parts called classes</a:t>
            </a:r>
          </a:p>
          <a:p>
            <a:pPr lvl="1"/>
            <a:r>
              <a:rPr lang="en-US" sz="1800" dirty="0">
                <a:solidFill>
                  <a:schemeClr val="bg1"/>
                </a:solidFill>
                <a:latin typeface="Udemy Sans"/>
              </a:rPr>
              <a:t>Re-usability: The class created once can be called many times</a:t>
            </a:r>
          </a:p>
          <a:p>
            <a:pPr lvl="1"/>
            <a:r>
              <a:rPr lang="en-US" sz="1800" dirty="0">
                <a:solidFill>
                  <a:schemeClr val="bg1"/>
                </a:solidFill>
                <a:latin typeface="Udemy Sans"/>
              </a:rPr>
              <a:t>Security: The members of a class can be private or public. The private members</a:t>
            </a:r>
          </a:p>
          <a:p>
            <a:pPr lvl="1"/>
            <a:r>
              <a:rPr lang="en-US" sz="1800" dirty="0">
                <a:solidFill>
                  <a:schemeClr val="bg1"/>
                </a:solidFill>
                <a:latin typeface="Udemy Sans"/>
              </a:rPr>
              <a:t>can’t be accessible outside the class</a:t>
            </a:r>
            <a:endParaRPr lang="en-IN" sz="1800" dirty="0">
              <a:solidFill>
                <a:schemeClr val="bg1"/>
              </a:solidFill>
              <a:latin typeface="Udemy Sans"/>
            </a:endParaRPr>
          </a:p>
        </p:txBody>
      </p:sp>
    </p:spTree>
    <p:extLst>
      <p:ext uri="{BB962C8B-B14F-4D97-AF65-F5344CB8AC3E}">
        <p14:creationId xmlns:p14="http://schemas.microsoft.com/office/powerpoint/2010/main" val="2835071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7F6977-A2FA-4D1B-8A11-0140A3B0C467}"/>
              </a:ext>
            </a:extLst>
          </p:cNvPr>
          <p:cNvSpPr>
            <a:spLocks noGrp="1"/>
          </p:cNvSpPr>
          <p:nvPr>
            <p:ph idx="1"/>
          </p:nvPr>
        </p:nvSpPr>
        <p:spPr>
          <a:xfrm>
            <a:off x="619432" y="1295758"/>
            <a:ext cx="3313470" cy="5248523"/>
          </a:xfrm>
        </p:spPr>
        <p:txBody>
          <a:bodyPr>
            <a:noAutofit/>
          </a:bodyPr>
          <a:lstStyle/>
          <a:p>
            <a:r>
              <a:rPr lang="en-US" sz="1800" b="1" spc="-10" dirty="0">
                <a:solidFill>
                  <a:schemeClr val="bg1"/>
                </a:solidFill>
                <a:effectLst/>
                <a:latin typeface="Udemy Sans"/>
                <a:ea typeface="Arial MT"/>
                <a:cs typeface="Arial MT"/>
              </a:rPr>
              <a:t>Object</a:t>
            </a:r>
            <a:endParaRPr lang="en-IN" sz="1800" b="1" dirty="0">
              <a:solidFill>
                <a:schemeClr val="bg1"/>
              </a:solidFill>
              <a:effectLst/>
              <a:latin typeface="Udemy Sans"/>
              <a:ea typeface="Arial MT"/>
              <a:cs typeface="Arial MT"/>
            </a:endParaRPr>
          </a:p>
          <a:p>
            <a:r>
              <a:rPr lang="en-US" sz="1400" dirty="0">
                <a:solidFill>
                  <a:schemeClr val="bg1"/>
                </a:solidFill>
                <a:latin typeface="Udemy Sans"/>
              </a:rPr>
              <a:t>An object represents a real world item. For example, you are an object, your laptop is an object, and your city is an object</a:t>
            </a:r>
          </a:p>
          <a:p>
            <a:r>
              <a:rPr lang="en-US" sz="1400" dirty="0">
                <a:solidFill>
                  <a:schemeClr val="bg1"/>
                </a:solidFill>
                <a:latin typeface="Udemy Sans"/>
              </a:rPr>
              <a:t>An object consists of "details" and "functionality“</a:t>
            </a:r>
          </a:p>
          <a:p>
            <a:r>
              <a:rPr lang="en-US" sz="1400" dirty="0">
                <a:solidFill>
                  <a:schemeClr val="bg1"/>
                </a:solidFill>
                <a:latin typeface="Udemy Sans"/>
              </a:rPr>
              <a:t>Details are called as "fields".</a:t>
            </a:r>
          </a:p>
          <a:p>
            <a:r>
              <a:rPr lang="en-US" sz="1400" dirty="0">
                <a:solidFill>
                  <a:schemeClr val="bg1"/>
                </a:solidFill>
                <a:latin typeface="Udemy Sans"/>
              </a:rPr>
              <a:t>Functionality is called as "functions" or "methods" or "operations".</a:t>
            </a:r>
          </a:p>
          <a:p>
            <a:r>
              <a:rPr lang="en-US" sz="1400" dirty="0">
                <a:solidFill>
                  <a:schemeClr val="bg1"/>
                </a:solidFill>
                <a:latin typeface="Udemy Sans"/>
              </a:rPr>
              <a:t>All the objects will be stored in an area called "heap" in RAM</a:t>
            </a:r>
          </a:p>
          <a:p>
            <a:endParaRPr lang="en-US" sz="1400" dirty="0">
              <a:solidFill>
                <a:schemeClr val="bg1"/>
              </a:solidFill>
              <a:latin typeface="Udemy Sans"/>
            </a:endParaRPr>
          </a:p>
          <a:p>
            <a:endParaRPr lang="en-US" sz="1400" dirty="0">
              <a:solidFill>
                <a:schemeClr val="bg1"/>
              </a:solidFill>
              <a:latin typeface="Udemy Sans"/>
            </a:endParaRPr>
          </a:p>
          <a:p>
            <a:endParaRPr lang="en-US" sz="1400" dirty="0">
              <a:solidFill>
                <a:schemeClr val="bg1"/>
              </a:solidFill>
              <a:latin typeface="Udemy Sans"/>
            </a:endParaRPr>
          </a:p>
          <a:p>
            <a:endParaRPr lang="en-US" sz="1800" dirty="0">
              <a:solidFill>
                <a:schemeClr val="bg1"/>
              </a:solidFill>
              <a:latin typeface="Udemy Sans"/>
            </a:endParaRPr>
          </a:p>
          <a:p>
            <a:endParaRPr lang="en-US" sz="1800" dirty="0">
              <a:solidFill>
                <a:schemeClr val="bg1"/>
              </a:solidFill>
              <a:latin typeface="Udemy Sans"/>
            </a:endParaRPr>
          </a:p>
          <a:p>
            <a:endParaRPr lang="en-IN" sz="1800" dirty="0">
              <a:solidFill>
                <a:schemeClr val="bg1"/>
              </a:solidFill>
              <a:latin typeface="Udemy Sans"/>
            </a:endParaRPr>
          </a:p>
        </p:txBody>
      </p:sp>
      <p:sp>
        <p:nvSpPr>
          <p:cNvPr id="4" name="Content Placeholder 2">
            <a:extLst>
              <a:ext uri="{FF2B5EF4-FFF2-40B4-BE49-F238E27FC236}">
                <a16:creationId xmlns:a16="http://schemas.microsoft.com/office/drawing/2014/main" id="{15BDAC31-D573-4BB8-BBBC-A1FEB7FC069B}"/>
              </a:ext>
            </a:extLst>
          </p:cNvPr>
          <p:cNvSpPr txBox="1">
            <a:spLocks/>
          </p:cNvSpPr>
          <p:nvPr/>
        </p:nvSpPr>
        <p:spPr>
          <a:xfrm>
            <a:off x="4017347" y="1295759"/>
            <a:ext cx="3828794" cy="354171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IN" sz="1800" b="1" spc="-10" dirty="0">
                <a:solidFill>
                  <a:schemeClr val="bg1"/>
                </a:solidFill>
                <a:latin typeface="Udemy Sans"/>
                <a:ea typeface="Arial MT"/>
                <a:cs typeface="Arial MT"/>
              </a:rPr>
              <a:t>Fields</a:t>
            </a:r>
            <a:endParaRPr lang="en-IN" sz="1800" b="1" dirty="0">
              <a:solidFill>
                <a:schemeClr val="bg1"/>
              </a:solidFill>
              <a:latin typeface="Udemy Sans"/>
              <a:ea typeface="Arial MT"/>
              <a:cs typeface="Arial MT"/>
            </a:endParaRPr>
          </a:p>
          <a:p>
            <a:r>
              <a:rPr lang="en-US" sz="1400" dirty="0">
                <a:solidFill>
                  <a:schemeClr val="bg1"/>
                </a:solidFill>
                <a:latin typeface="Udemy Sans"/>
              </a:rPr>
              <a:t>Fields also called as "details".</a:t>
            </a:r>
          </a:p>
          <a:p>
            <a:r>
              <a:rPr lang="en-US" sz="1400" dirty="0">
                <a:solidFill>
                  <a:schemeClr val="bg1"/>
                </a:solidFill>
                <a:latin typeface="Udemy Sans"/>
              </a:rPr>
              <a:t>The variables inside object are called as "Fields“</a:t>
            </a:r>
          </a:p>
          <a:p>
            <a:r>
              <a:rPr lang="en-US" sz="1400" dirty="0">
                <a:solidFill>
                  <a:schemeClr val="bg1"/>
                </a:solidFill>
                <a:latin typeface="Udemy Sans"/>
              </a:rPr>
              <a:t>Fields are used to store data</a:t>
            </a:r>
          </a:p>
          <a:p>
            <a:endParaRPr lang="en-US" sz="1800" dirty="0">
              <a:solidFill>
                <a:schemeClr val="bg1"/>
              </a:solidFill>
              <a:latin typeface="Udemy Sans"/>
            </a:endParaRPr>
          </a:p>
          <a:p>
            <a:endParaRPr lang="en-IN" sz="1800" dirty="0">
              <a:solidFill>
                <a:schemeClr val="bg1"/>
              </a:solidFill>
              <a:latin typeface="Udemy Sans"/>
            </a:endParaRPr>
          </a:p>
        </p:txBody>
      </p:sp>
      <p:sp>
        <p:nvSpPr>
          <p:cNvPr id="5" name="Content Placeholder 2">
            <a:extLst>
              <a:ext uri="{FF2B5EF4-FFF2-40B4-BE49-F238E27FC236}">
                <a16:creationId xmlns:a16="http://schemas.microsoft.com/office/drawing/2014/main" id="{7551CB4F-CED8-486A-BB87-61B141E618BB}"/>
              </a:ext>
            </a:extLst>
          </p:cNvPr>
          <p:cNvSpPr txBox="1">
            <a:spLocks/>
          </p:cNvSpPr>
          <p:nvPr/>
        </p:nvSpPr>
        <p:spPr>
          <a:xfrm>
            <a:off x="8318090" y="1295759"/>
            <a:ext cx="3234812" cy="354171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IN" sz="1800" b="1" spc="-10" dirty="0">
                <a:solidFill>
                  <a:schemeClr val="bg1"/>
                </a:solidFill>
                <a:latin typeface="Udemy Sans"/>
                <a:ea typeface="Arial MT"/>
                <a:cs typeface="Arial MT"/>
              </a:rPr>
              <a:t>Methods</a:t>
            </a:r>
            <a:endParaRPr lang="en-IN" sz="1800" b="1" dirty="0">
              <a:solidFill>
                <a:schemeClr val="bg1"/>
              </a:solidFill>
              <a:latin typeface="Udemy Sans"/>
              <a:ea typeface="Arial MT"/>
              <a:cs typeface="Arial MT"/>
            </a:endParaRPr>
          </a:p>
          <a:p>
            <a:pPr marL="342900" lvl="0" indent="-342900">
              <a:spcBef>
                <a:spcPts val="740"/>
              </a:spcBef>
              <a:buSzPts val="1100"/>
              <a:buFont typeface="Symbol" panose="05050102010706020507" pitchFamily="18" charset="2"/>
              <a:buChar char=""/>
              <a:tabLst>
                <a:tab pos="652145" algn="l"/>
              </a:tabLst>
            </a:pPr>
            <a:r>
              <a:rPr lang="en-US" sz="1400" spc="-20" dirty="0">
                <a:solidFill>
                  <a:schemeClr val="bg1"/>
                </a:solidFill>
                <a:effectLst/>
                <a:latin typeface="Udemy Sans"/>
                <a:ea typeface="Symbol" panose="05050102010706020507" pitchFamily="18" charset="2"/>
                <a:cs typeface="Symbol" panose="05050102010706020507" pitchFamily="18" charset="2"/>
              </a:rPr>
              <a:t>Methods</a:t>
            </a:r>
            <a:r>
              <a:rPr lang="en-US" sz="1400" spc="-40"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also</a:t>
            </a:r>
            <a:r>
              <a:rPr lang="en-US" sz="1400" spc="-30"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called</a:t>
            </a:r>
            <a:r>
              <a:rPr lang="en-US" sz="1400" spc="-35"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as</a:t>
            </a:r>
            <a:r>
              <a:rPr lang="en-US" sz="1400" spc="-45"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"functionality"</a:t>
            </a:r>
            <a:r>
              <a:rPr lang="en-US" sz="1400" spc="-30"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or</a:t>
            </a:r>
            <a:r>
              <a:rPr lang="en-US" sz="1400" spc="-30"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"functions"</a:t>
            </a:r>
            <a:r>
              <a:rPr lang="en-US" sz="1400" spc="-45"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or</a:t>
            </a:r>
            <a:r>
              <a:rPr lang="en-US" sz="1400" spc="-30"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"operations".</a:t>
            </a:r>
            <a:r>
              <a:rPr lang="en-US" sz="1400" dirty="0">
                <a:solidFill>
                  <a:schemeClr val="bg1"/>
                </a:solidFill>
                <a:effectLst/>
                <a:latin typeface="Udemy Sans"/>
                <a:ea typeface="Arial MT"/>
                <a:cs typeface="Arial MT"/>
              </a:rPr>
              <a:t> </a:t>
            </a:r>
            <a:endParaRPr lang="en-IN" sz="1400" dirty="0">
              <a:solidFill>
                <a:schemeClr val="bg1"/>
              </a:solidFill>
              <a:effectLst/>
              <a:latin typeface="Udemy Sans"/>
              <a:ea typeface="Arial MT"/>
              <a:cs typeface="Arial MT"/>
            </a:endParaRPr>
          </a:p>
          <a:p>
            <a:pPr marL="342900" lvl="0" indent="-342900">
              <a:buSzPts val="1100"/>
              <a:buFont typeface="Symbol" panose="05050102010706020507" pitchFamily="18" charset="2"/>
              <a:buChar char=""/>
              <a:tabLst>
                <a:tab pos="652145" algn="l"/>
              </a:tabLst>
            </a:pPr>
            <a:r>
              <a:rPr lang="en-US" sz="1400" spc="-20" dirty="0">
                <a:solidFill>
                  <a:schemeClr val="bg1"/>
                </a:solidFill>
                <a:effectLst/>
                <a:latin typeface="Udemy Sans"/>
                <a:ea typeface="Symbol" panose="05050102010706020507" pitchFamily="18" charset="2"/>
                <a:cs typeface="Symbol" panose="05050102010706020507" pitchFamily="18" charset="2"/>
              </a:rPr>
              <a:t>A</a:t>
            </a:r>
            <a:r>
              <a:rPr lang="en-US" sz="1400" spc="-50"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method</a:t>
            </a:r>
            <a:r>
              <a:rPr lang="en-US" sz="1400" spc="-50"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is</a:t>
            </a:r>
            <a:r>
              <a:rPr lang="en-US" sz="1400" spc="-50"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a</a:t>
            </a:r>
            <a:r>
              <a:rPr lang="en-US" sz="1400" spc="-45"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"set</a:t>
            </a:r>
            <a:r>
              <a:rPr lang="en-US" sz="1400" spc="-45"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of</a:t>
            </a:r>
            <a:r>
              <a:rPr lang="en-US" sz="1400" spc="-50"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statements"</a:t>
            </a:r>
            <a:r>
              <a:rPr lang="en-US" sz="1400" spc="-50"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to</a:t>
            </a:r>
            <a:r>
              <a:rPr lang="en-US" sz="1400" spc="-45"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do</a:t>
            </a:r>
            <a:r>
              <a:rPr lang="en-US" sz="1400" spc="-50"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a</a:t>
            </a:r>
            <a:r>
              <a:rPr lang="en-US" sz="1400" spc="-45"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particular</a:t>
            </a:r>
            <a:r>
              <a:rPr lang="en-US" sz="1400" spc="-45"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task</a:t>
            </a:r>
            <a:r>
              <a:rPr lang="en-US" sz="1400" spc="-45"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in</a:t>
            </a:r>
            <a:r>
              <a:rPr lang="en-US" sz="1400" spc="-45"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the</a:t>
            </a:r>
            <a:r>
              <a:rPr lang="en-US" sz="1400" spc="-40" dirty="0">
                <a:solidFill>
                  <a:schemeClr val="bg1"/>
                </a:solidFill>
                <a:effectLst/>
                <a:latin typeface="Udemy Sans"/>
                <a:ea typeface="Symbol" panose="05050102010706020507" pitchFamily="18" charset="2"/>
                <a:cs typeface="Symbol" panose="05050102010706020507" pitchFamily="18" charset="2"/>
              </a:rPr>
              <a:t> </a:t>
            </a:r>
            <a:r>
              <a:rPr lang="en-US" sz="1400" spc="-20" dirty="0">
                <a:solidFill>
                  <a:schemeClr val="bg1"/>
                </a:solidFill>
                <a:effectLst/>
                <a:latin typeface="Udemy Sans"/>
                <a:ea typeface="Symbol" panose="05050102010706020507" pitchFamily="18" charset="2"/>
                <a:cs typeface="Symbol" panose="05050102010706020507" pitchFamily="18" charset="2"/>
              </a:rPr>
              <a:t>program.</a:t>
            </a:r>
            <a:endParaRPr lang="en-IN" sz="1400" spc="0" dirty="0">
              <a:solidFill>
                <a:schemeClr val="bg1"/>
              </a:solidFill>
              <a:effectLst/>
              <a:latin typeface="Udemy Sans"/>
              <a:ea typeface="Symbol" panose="05050102010706020507" pitchFamily="18" charset="2"/>
              <a:cs typeface="Symbol" panose="05050102010706020507" pitchFamily="18" charset="2"/>
            </a:endParaRPr>
          </a:p>
          <a:p>
            <a:pPr>
              <a:spcBef>
                <a:spcPts val="125"/>
              </a:spcBef>
            </a:pPr>
            <a:r>
              <a:rPr lang="en-US" sz="1400" dirty="0">
                <a:solidFill>
                  <a:schemeClr val="bg1"/>
                </a:solidFill>
                <a:effectLst/>
                <a:latin typeface="Udemy Sans"/>
                <a:ea typeface="Arial MT"/>
                <a:cs typeface="Arial MT"/>
              </a:rPr>
              <a:t> </a:t>
            </a:r>
            <a:r>
              <a:rPr lang="en-US" sz="1400" spc="-40" dirty="0">
                <a:solidFill>
                  <a:schemeClr val="bg1"/>
                </a:solidFill>
                <a:effectLst/>
                <a:latin typeface="Udemy Sans"/>
                <a:ea typeface="Symbol" panose="05050102010706020507" pitchFamily="18" charset="2"/>
                <a:cs typeface="Symbol" panose="05050102010706020507" pitchFamily="18" charset="2"/>
              </a:rPr>
              <a:t>Methods</a:t>
            </a:r>
            <a:r>
              <a:rPr lang="en-US" sz="1400" spc="-25" dirty="0">
                <a:solidFill>
                  <a:schemeClr val="bg1"/>
                </a:solidFill>
                <a:effectLst/>
                <a:latin typeface="Udemy Sans"/>
                <a:ea typeface="Symbol" panose="05050102010706020507" pitchFamily="18" charset="2"/>
                <a:cs typeface="Symbol" panose="05050102010706020507" pitchFamily="18" charset="2"/>
              </a:rPr>
              <a:t> </a:t>
            </a:r>
            <a:r>
              <a:rPr lang="en-US" sz="1400" spc="-40" dirty="0">
                <a:solidFill>
                  <a:schemeClr val="bg1"/>
                </a:solidFill>
                <a:effectLst/>
                <a:latin typeface="Udemy Sans"/>
                <a:ea typeface="Symbol" panose="05050102010706020507" pitchFamily="18" charset="2"/>
                <a:cs typeface="Symbol" panose="05050102010706020507" pitchFamily="18" charset="2"/>
              </a:rPr>
              <a:t>are</a:t>
            </a:r>
            <a:r>
              <a:rPr lang="en-US" sz="1400" spc="-5" dirty="0">
                <a:solidFill>
                  <a:schemeClr val="bg1"/>
                </a:solidFill>
                <a:effectLst/>
                <a:latin typeface="Udemy Sans"/>
                <a:ea typeface="Symbol" panose="05050102010706020507" pitchFamily="18" charset="2"/>
                <a:cs typeface="Symbol" panose="05050102010706020507" pitchFamily="18" charset="2"/>
              </a:rPr>
              <a:t> </a:t>
            </a:r>
            <a:r>
              <a:rPr lang="en-US" sz="1400" spc="-40" dirty="0">
                <a:solidFill>
                  <a:schemeClr val="bg1"/>
                </a:solidFill>
                <a:effectLst/>
                <a:latin typeface="Udemy Sans"/>
                <a:ea typeface="Symbol" panose="05050102010706020507" pitchFamily="18" charset="2"/>
                <a:cs typeface="Symbol" panose="05050102010706020507" pitchFamily="18" charset="2"/>
              </a:rPr>
              <a:t>used</a:t>
            </a:r>
            <a:r>
              <a:rPr lang="en-US" sz="1400" spc="-15" dirty="0">
                <a:solidFill>
                  <a:schemeClr val="bg1"/>
                </a:solidFill>
                <a:effectLst/>
                <a:latin typeface="Udemy Sans"/>
                <a:ea typeface="Symbol" panose="05050102010706020507" pitchFamily="18" charset="2"/>
                <a:cs typeface="Symbol" panose="05050102010706020507" pitchFamily="18" charset="2"/>
              </a:rPr>
              <a:t> </a:t>
            </a:r>
            <a:r>
              <a:rPr lang="en-US" sz="1400" spc="-40" dirty="0">
                <a:solidFill>
                  <a:schemeClr val="bg1"/>
                </a:solidFill>
                <a:effectLst/>
                <a:latin typeface="Udemy Sans"/>
                <a:ea typeface="Symbol" panose="05050102010706020507" pitchFamily="18" charset="2"/>
                <a:cs typeface="Symbol" panose="05050102010706020507" pitchFamily="18" charset="2"/>
              </a:rPr>
              <a:t>to</a:t>
            </a:r>
            <a:r>
              <a:rPr lang="en-US" sz="1400" spc="-15" dirty="0">
                <a:solidFill>
                  <a:schemeClr val="bg1"/>
                </a:solidFill>
                <a:effectLst/>
                <a:latin typeface="Udemy Sans"/>
                <a:ea typeface="Symbol" panose="05050102010706020507" pitchFamily="18" charset="2"/>
                <a:cs typeface="Symbol" panose="05050102010706020507" pitchFamily="18" charset="2"/>
              </a:rPr>
              <a:t> </a:t>
            </a:r>
            <a:r>
              <a:rPr lang="en-US" sz="1400" spc="-40" dirty="0">
                <a:solidFill>
                  <a:schemeClr val="bg1"/>
                </a:solidFill>
                <a:effectLst/>
                <a:latin typeface="Udemy Sans"/>
                <a:ea typeface="Symbol" panose="05050102010706020507" pitchFamily="18" charset="2"/>
                <a:cs typeface="Symbol" panose="05050102010706020507" pitchFamily="18" charset="2"/>
              </a:rPr>
              <a:t>manipulate</a:t>
            </a:r>
            <a:r>
              <a:rPr lang="en-US" sz="1400" spc="-5" dirty="0">
                <a:solidFill>
                  <a:schemeClr val="bg1"/>
                </a:solidFill>
                <a:effectLst/>
                <a:latin typeface="Udemy Sans"/>
                <a:ea typeface="Symbol" panose="05050102010706020507" pitchFamily="18" charset="2"/>
                <a:cs typeface="Symbol" panose="05050102010706020507" pitchFamily="18" charset="2"/>
              </a:rPr>
              <a:t> </a:t>
            </a:r>
            <a:r>
              <a:rPr lang="en-US" sz="1400" spc="-40" dirty="0">
                <a:solidFill>
                  <a:schemeClr val="bg1"/>
                </a:solidFill>
                <a:effectLst/>
                <a:latin typeface="Udemy Sans"/>
                <a:ea typeface="Symbol" panose="05050102010706020507" pitchFamily="18" charset="2"/>
                <a:cs typeface="Symbol" panose="05050102010706020507" pitchFamily="18" charset="2"/>
              </a:rPr>
              <a:t>Fields.</a:t>
            </a:r>
          </a:p>
          <a:p>
            <a:pPr>
              <a:spcBef>
                <a:spcPts val="125"/>
              </a:spcBef>
            </a:pPr>
            <a:endParaRPr lang="en-US" sz="1400" spc="-40" dirty="0">
              <a:solidFill>
                <a:schemeClr val="bg1"/>
              </a:solidFill>
              <a:latin typeface="Udemy Sans"/>
              <a:ea typeface="Symbol" panose="05050102010706020507" pitchFamily="18" charset="2"/>
              <a:cs typeface="Symbol" panose="05050102010706020507" pitchFamily="18" charset="2"/>
            </a:endParaRPr>
          </a:p>
          <a:p>
            <a:pPr>
              <a:spcBef>
                <a:spcPts val="125"/>
              </a:spcBef>
            </a:pPr>
            <a:endParaRPr lang="en-IN" sz="1400" spc="0" dirty="0">
              <a:solidFill>
                <a:schemeClr val="bg1"/>
              </a:solidFill>
              <a:effectLst/>
              <a:latin typeface="Udemy Sans"/>
              <a:ea typeface="Symbol" panose="05050102010706020507" pitchFamily="18" charset="2"/>
              <a:cs typeface="Symbol" panose="05050102010706020507" pitchFamily="18" charset="2"/>
            </a:endParaRPr>
          </a:p>
          <a:p>
            <a:endParaRPr lang="en-IN" sz="1800" dirty="0">
              <a:solidFill>
                <a:schemeClr val="bg1"/>
              </a:solidFill>
              <a:latin typeface="Udemy Sans"/>
            </a:endParaRPr>
          </a:p>
        </p:txBody>
      </p:sp>
      <p:pic>
        <p:nvPicPr>
          <p:cNvPr id="6" name="Image 568">
            <a:extLst>
              <a:ext uri="{FF2B5EF4-FFF2-40B4-BE49-F238E27FC236}">
                <a16:creationId xmlns:a16="http://schemas.microsoft.com/office/drawing/2014/main" id="{0E8E8F47-124E-4559-B9C4-5058633EDFB5}"/>
              </a:ext>
            </a:extLst>
          </p:cNvPr>
          <p:cNvPicPr/>
          <p:nvPr/>
        </p:nvPicPr>
        <p:blipFill>
          <a:blip r:embed="rId3" cstate="print"/>
          <a:stretch>
            <a:fillRect/>
          </a:stretch>
        </p:blipFill>
        <p:spPr>
          <a:xfrm>
            <a:off x="1378626" y="5252607"/>
            <a:ext cx="2040890" cy="1445895"/>
          </a:xfrm>
          <a:prstGeom prst="rect">
            <a:avLst/>
          </a:prstGeom>
        </p:spPr>
      </p:pic>
      <p:pic>
        <p:nvPicPr>
          <p:cNvPr id="7" name="Image 572">
            <a:extLst>
              <a:ext uri="{FF2B5EF4-FFF2-40B4-BE49-F238E27FC236}">
                <a16:creationId xmlns:a16="http://schemas.microsoft.com/office/drawing/2014/main" id="{C353CFF3-CE96-4FB9-95C8-B52A883C7D08}"/>
              </a:ext>
            </a:extLst>
          </p:cNvPr>
          <p:cNvPicPr/>
          <p:nvPr/>
        </p:nvPicPr>
        <p:blipFill>
          <a:blip r:embed="rId4" cstate="print"/>
          <a:stretch>
            <a:fillRect/>
          </a:stretch>
        </p:blipFill>
        <p:spPr>
          <a:xfrm>
            <a:off x="8718837" y="3627705"/>
            <a:ext cx="2738120" cy="2139315"/>
          </a:xfrm>
          <a:prstGeom prst="rect">
            <a:avLst/>
          </a:prstGeom>
        </p:spPr>
      </p:pic>
    </p:spTree>
    <p:extLst>
      <p:ext uri="{BB962C8B-B14F-4D97-AF65-F5344CB8AC3E}">
        <p14:creationId xmlns:p14="http://schemas.microsoft.com/office/powerpoint/2010/main" val="1935694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37F97-4B7D-400A-AC4D-5A80E6077A93}"/>
              </a:ext>
            </a:extLst>
          </p:cNvPr>
          <p:cNvSpPr>
            <a:spLocks noGrp="1"/>
          </p:cNvSpPr>
          <p:nvPr>
            <p:ph type="title"/>
          </p:nvPr>
        </p:nvSpPr>
        <p:spPr>
          <a:xfrm>
            <a:off x="1143001" y="195731"/>
            <a:ext cx="9905998" cy="448282"/>
          </a:xfrm>
        </p:spPr>
        <p:txBody>
          <a:bodyPr>
            <a:normAutofit fontScale="90000"/>
          </a:bodyPr>
          <a:lstStyle/>
          <a:p>
            <a:r>
              <a:rPr lang="en-IN" dirty="0">
                <a:solidFill>
                  <a:schemeClr val="bg1"/>
                </a:solidFill>
              </a:rPr>
              <a:t>Class</a:t>
            </a:r>
          </a:p>
        </p:txBody>
      </p:sp>
      <p:pic>
        <p:nvPicPr>
          <p:cNvPr id="4" name="Image 576">
            <a:extLst>
              <a:ext uri="{FF2B5EF4-FFF2-40B4-BE49-F238E27FC236}">
                <a16:creationId xmlns:a16="http://schemas.microsoft.com/office/drawing/2014/main" id="{7786199B-F4AF-45C0-B008-495FABF15FA3}"/>
              </a:ext>
            </a:extLst>
          </p:cNvPr>
          <p:cNvPicPr>
            <a:picLocks noGrp="1"/>
          </p:cNvPicPr>
          <p:nvPr>
            <p:ph sz="half" idx="1"/>
          </p:nvPr>
        </p:nvPicPr>
        <p:blipFill>
          <a:blip r:embed="rId3" cstate="print"/>
          <a:stretch>
            <a:fillRect/>
          </a:stretch>
        </p:blipFill>
        <p:spPr>
          <a:xfrm>
            <a:off x="825910" y="1455174"/>
            <a:ext cx="3854962" cy="4183626"/>
          </a:xfrm>
          <a:prstGeom prst="rect">
            <a:avLst/>
          </a:prstGeom>
        </p:spPr>
      </p:pic>
      <p:sp>
        <p:nvSpPr>
          <p:cNvPr id="5" name="Content Placeholder 4">
            <a:extLst>
              <a:ext uri="{FF2B5EF4-FFF2-40B4-BE49-F238E27FC236}">
                <a16:creationId xmlns:a16="http://schemas.microsoft.com/office/drawing/2014/main" id="{79863F99-A79A-4AF7-8C5C-475D2E202BB4}"/>
              </a:ext>
            </a:extLst>
          </p:cNvPr>
          <p:cNvSpPr>
            <a:spLocks noGrp="1"/>
          </p:cNvSpPr>
          <p:nvPr>
            <p:ph sz="half" idx="2"/>
          </p:nvPr>
        </p:nvSpPr>
        <p:spPr>
          <a:xfrm>
            <a:off x="4788310" y="1238865"/>
            <a:ext cx="7157884" cy="4552335"/>
          </a:xfrm>
          <a:solidFill>
            <a:schemeClr val="tx1"/>
          </a:solidFill>
        </p:spPr>
        <p:txBody>
          <a:bodyPr>
            <a:normAutofit fontScale="77500" lnSpcReduction="20000"/>
          </a:bodyPr>
          <a:lstStyle/>
          <a:p>
            <a:pPr algn="just"/>
            <a:r>
              <a:rPr lang="en-US" sz="2300" dirty="0">
                <a:solidFill>
                  <a:schemeClr val="bg1"/>
                </a:solidFill>
                <a:latin typeface="Udemy Sans"/>
              </a:rPr>
              <a:t>A class is a "model" or “type” or "blue-print" of object</a:t>
            </a:r>
          </a:p>
          <a:p>
            <a:pPr algn="just"/>
            <a:r>
              <a:rPr lang="en-US" sz="2300" dirty="0">
                <a:solidFill>
                  <a:schemeClr val="bg1"/>
                </a:solidFill>
                <a:latin typeface="Udemy Sans"/>
              </a:rPr>
              <a:t>Class is used to define the common members of similar objects</a:t>
            </a:r>
          </a:p>
          <a:p>
            <a:pPr algn="just"/>
            <a:r>
              <a:rPr lang="en-US" sz="2300" dirty="0">
                <a:solidFill>
                  <a:schemeClr val="bg1"/>
                </a:solidFill>
                <a:latin typeface="Udemy Sans"/>
              </a:rPr>
              <a:t>A class specifies the list of Fields and methods that you want to store in every object.</a:t>
            </a:r>
          </a:p>
          <a:p>
            <a:pPr algn="just"/>
            <a:r>
              <a:rPr lang="en-US" sz="2300" dirty="0">
                <a:solidFill>
                  <a:schemeClr val="bg1"/>
                </a:solidFill>
                <a:latin typeface="Udemy Sans"/>
              </a:rPr>
              <a:t>For a class, memory will not be allocated.</a:t>
            </a:r>
          </a:p>
          <a:p>
            <a:pPr algn="just"/>
            <a:r>
              <a:rPr lang="en-US" sz="2300" dirty="0">
                <a:solidFill>
                  <a:schemeClr val="bg1"/>
                </a:solidFill>
                <a:latin typeface="Udemy Sans"/>
              </a:rPr>
              <a:t>So you must create an object for the class, in order to access its members.</a:t>
            </a:r>
          </a:p>
          <a:p>
            <a:pPr algn="just"/>
            <a:r>
              <a:rPr lang="en-US" sz="2300" dirty="0">
                <a:solidFill>
                  <a:schemeClr val="bg1"/>
                </a:solidFill>
                <a:latin typeface="Udemy Sans"/>
              </a:rPr>
              <a:t>Class is a just “model” only; no actual data will be stored in class. Object is the “real instance”; actual data will be stored in object only.</a:t>
            </a:r>
          </a:p>
          <a:p>
            <a:pPr algn="just"/>
            <a:r>
              <a:rPr lang="en-US" sz="2300" dirty="0">
                <a:solidFill>
                  <a:schemeClr val="bg1"/>
                </a:solidFill>
                <a:latin typeface="Udemy Sans"/>
              </a:rPr>
              <a:t>Based on a class, any no. of objects can be created.</a:t>
            </a:r>
          </a:p>
          <a:p>
            <a:pPr algn="just"/>
            <a:r>
              <a:rPr lang="en-US" sz="2300" dirty="0">
                <a:solidFill>
                  <a:schemeClr val="bg1"/>
                </a:solidFill>
                <a:latin typeface="Udemy Sans"/>
              </a:rPr>
              <a:t>Each object’s memory will be allocated separately in RAM.</a:t>
            </a:r>
          </a:p>
          <a:p>
            <a:pPr algn="just"/>
            <a:endParaRPr lang="en-US" sz="2300" dirty="0">
              <a:solidFill>
                <a:schemeClr val="bg1"/>
              </a:solidFill>
              <a:latin typeface="Udemy Sans"/>
            </a:endParaRPr>
          </a:p>
          <a:p>
            <a:endParaRPr lang="en-US" dirty="0"/>
          </a:p>
          <a:p>
            <a:endParaRPr lang="en-IN" dirty="0"/>
          </a:p>
        </p:txBody>
      </p:sp>
    </p:spTree>
    <p:extLst>
      <p:ext uri="{BB962C8B-B14F-4D97-AF65-F5344CB8AC3E}">
        <p14:creationId xmlns:p14="http://schemas.microsoft.com/office/powerpoint/2010/main" val="4012848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9270-4DDD-48CE-8DE5-7D772EFA67C5}"/>
              </a:ext>
            </a:extLst>
          </p:cNvPr>
          <p:cNvSpPr>
            <a:spLocks noGrp="1"/>
          </p:cNvSpPr>
          <p:nvPr>
            <p:ph type="title"/>
          </p:nvPr>
        </p:nvSpPr>
        <p:spPr>
          <a:xfrm>
            <a:off x="1141413" y="278050"/>
            <a:ext cx="9905998" cy="448282"/>
          </a:xfrm>
        </p:spPr>
        <p:txBody>
          <a:bodyPr>
            <a:normAutofit/>
          </a:bodyPr>
          <a:lstStyle/>
          <a:p>
            <a:r>
              <a:rPr lang="en-US" sz="1800" spc="-30" dirty="0">
                <a:solidFill>
                  <a:schemeClr val="bg1"/>
                </a:solidFill>
                <a:effectLst/>
                <a:latin typeface="Arial MT"/>
                <a:ea typeface="Arial MT"/>
                <a:cs typeface="Arial MT"/>
              </a:rPr>
              <a:t>Memory</a:t>
            </a:r>
            <a:r>
              <a:rPr lang="en-US" sz="1800" spc="-55" dirty="0">
                <a:solidFill>
                  <a:schemeClr val="bg1"/>
                </a:solidFill>
                <a:effectLst/>
                <a:latin typeface="Arial MT"/>
                <a:ea typeface="Arial MT"/>
                <a:cs typeface="Arial MT"/>
              </a:rPr>
              <a:t> </a:t>
            </a:r>
            <a:r>
              <a:rPr lang="en-US" sz="1800" spc="-30" dirty="0">
                <a:solidFill>
                  <a:schemeClr val="bg1"/>
                </a:solidFill>
                <a:effectLst/>
                <a:latin typeface="Arial MT"/>
                <a:ea typeface="Arial MT"/>
                <a:cs typeface="Arial MT"/>
              </a:rPr>
              <a:t>allocation</a:t>
            </a:r>
            <a:r>
              <a:rPr lang="en-US" sz="1800" spc="-55" dirty="0">
                <a:solidFill>
                  <a:schemeClr val="bg1"/>
                </a:solidFill>
                <a:effectLst/>
                <a:latin typeface="Arial MT"/>
                <a:ea typeface="Arial MT"/>
                <a:cs typeface="Arial MT"/>
              </a:rPr>
              <a:t> </a:t>
            </a:r>
            <a:r>
              <a:rPr lang="en-US" sz="1800" spc="-30" dirty="0">
                <a:solidFill>
                  <a:schemeClr val="bg1"/>
                </a:solidFill>
                <a:effectLst/>
                <a:latin typeface="Arial MT"/>
                <a:ea typeface="Arial MT"/>
                <a:cs typeface="Arial MT"/>
              </a:rPr>
              <a:t>of</a:t>
            </a:r>
            <a:r>
              <a:rPr lang="en-US" sz="1800" spc="-50" dirty="0">
                <a:solidFill>
                  <a:schemeClr val="bg1"/>
                </a:solidFill>
                <a:effectLst/>
                <a:latin typeface="Arial MT"/>
                <a:ea typeface="Arial MT"/>
                <a:cs typeface="Arial MT"/>
              </a:rPr>
              <a:t> </a:t>
            </a:r>
            <a:r>
              <a:rPr lang="en-US" sz="1800" spc="-30" dirty="0">
                <a:solidFill>
                  <a:schemeClr val="bg1"/>
                </a:solidFill>
                <a:effectLst/>
                <a:latin typeface="Arial MT"/>
                <a:ea typeface="Arial MT"/>
                <a:cs typeface="Arial MT"/>
              </a:rPr>
              <a:t>Objects</a:t>
            </a:r>
            <a:endParaRPr lang="en-IN" dirty="0">
              <a:solidFill>
                <a:schemeClr val="bg1"/>
              </a:solidFill>
            </a:endParaRPr>
          </a:p>
        </p:txBody>
      </p:sp>
      <p:sp>
        <p:nvSpPr>
          <p:cNvPr id="3" name="Content Placeholder 2">
            <a:extLst>
              <a:ext uri="{FF2B5EF4-FFF2-40B4-BE49-F238E27FC236}">
                <a16:creationId xmlns:a16="http://schemas.microsoft.com/office/drawing/2014/main" id="{7D43C4A1-8349-4887-82CA-1E626B217733}"/>
              </a:ext>
            </a:extLst>
          </p:cNvPr>
          <p:cNvSpPr>
            <a:spLocks noGrp="1"/>
          </p:cNvSpPr>
          <p:nvPr>
            <p:ph sz="half" idx="1"/>
          </p:nvPr>
        </p:nvSpPr>
        <p:spPr>
          <a:xfrm>
            <a:off x="778213" y="1721796"/>
            <a:ext cx="5525310" cy="3699753"/>
          </a:xfrm>
        </p:spPr>
        <p:txBody>
          <a:bodyPr>
            <a:normAutofit fontScale="92500" lnSpcReduction="10000"/>
          </a:bodyPr>
          <a:lstStyle/>
          <a:p>
            <a:pPr marR="460375" lvl="0" algn="just">
              <a:lnSpc>
                <a:spcPct val="163000"/>
              </a:lnSpc>
              <a:spcBef>
                <a:spcPts val="740"/>
              </a:spcBef>
              <a:spcAft>
                <a:spcPts val="0"/>
              </a:spcAft>
              <a:buSzPct val="101000"/>
              <a:tabLst>
                <a:tab pos="652145" algn="l"/>
              </a:tabLst>
            </a:pPr>
            <a:r>
              <a:rPr lang="en-US" sz="1800" spc="-10" dirty="0">
                <a:solidFill>
                  <a:schemeClr val="bg1"/>
                </a:solidFill>
                <a:effectLst/>
                <a:latin typeface="Arial MT"/>
                <a:ea typeface="Symbol" panose="05050102010706020507" pitchFamily="18" charset="2"/>
                <a:cs typeface="Symbol" panose="05050102010706020507" pitchFamily="18" charset="2"/>
              </a:rPr>
              <a:t>All</a:t>
            </a:r>
            <a:r>
              <a:rPr lang="en-US" sz="1800" spc="-70"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the</a:t>
            </a:r>
            <a:r>
              <a:rPr lang="en-US" sz="1800" spc="-6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reference</a:t>
            </a:r>
            <a:r>
              <a:rPr lang="en-US" sz="1800" spc="-6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variables</a:t>
            </a:r>
            <a:r>
              <a:rPr lang="en-US" sz="1800" spc="-70"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are</a:t>
            </a:r>
            <a:r>
              <a:rPr lang="en-US" sz="1800" spc="-6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stored</a:t>
            </a:r>
            <a:r>
              <a:rPr lang="en-US" sz="1800" spc="-6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in</a:t>
            </a:r>
            <a:r>
              <a:rPr lang="en-US" sz="1800" spc="-6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an</a:t>
            </a:r>
            <a:r>
              <a:rPr lang="en-US" sz="1800" spc="-70"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area</a:t>
            </a:r>
            <a:r>
              <a:rPr lang="en-US" sz="1800" spc="-6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called</a:t>
            </a:r>
            <a:r>
              <a:rPr lang="en-US" sz="1800" spc="-6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"stack"</a:t>
            </a:r>
            <a:r>
              <a:rPr lang="en-US" sz="1800" spc="-70"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in</a:t>
            </a:r>
            <a:r>
              <a:rPr lang="en-US" sz="1800" spc="-6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RAM.</a:t>
            </a:r>
            <a:r>
              <a:rPr lang="en-US" sz="1800" spc="-6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For</a:t>
            </a:r>
            <a:r>
              <a:rPr lang="en-US" sz="1800" spc="-6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every</a:t>
            </a:r>
            <a:r>
              <a:rPr lang="en-US" sz="1800" spc="-70"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method call,</a:t>
            </a:r>
            <a:r>
              <a:rPr lang="en-US" sz="1800" spc="-40"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a</a:t>
            </a:r>
            <a:r>
              <a:rPr lang="en-US" sz="1800" spc="-40"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“stack”</a:t>
            </a:r>
            <a:r>
              <a:rPr lang="en-US" sz="1800" spc="-40"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will</a:t>
            </a:r>
            <a:r>
              <a:rPr lang="en-US" sz="1800" spc="-40"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be</a:t>
            </a:r>
            <a:r>
              <a:rPr lang="en-US" sz="1800" spc="-3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created</a:t>
            </a:r>
            <a:r>
              <a:rPr lang="en-US" sz="1800" spc="-45" dirty="0">
                <a:solidFill>
                  <a:schemeClr val="bg1"/>
                </a:solidFill>
                <a:effectLst/>
                <a:latin typeface="Arial MT"/>
                <a:ea typeface="Symbol" panose="05050102010706020507" pitchFamily="18" charset="2"/>
                <a:cs typeface="Symbol" panose="05050102010706020507" pitchFamily="18" charset="2"/>
              </a:rPr>
              <a:t> </a:t>
            </a:r>
            <a:r>
              <a:rPr lang="en-US" sz="1800" spc="-10" dirty="0">
                <a:solidFill>
                  <a:schemeClr val="bg1"/>
                </a:solidFill>
                <a:effectLst/>
                <a:latin typeface="Arial MT"/>
                <a:ea typeface="Symbol" panose="05050102010706020507" pitchFamily="18" charset="2"/>
                <a:cs typeface="Symbol" panose="05050102010706020507" pitchFamily="18" charset="2"/>
              </a:rPr>
              <a:t>automatically.</a:t>
            </a:r>
          </a:p>
          <a:p>
            <a:pPr marL="0" marR="460375" lvl="0" indent="0" algn="just">
              <a:lnSpc>
                <a:spcPct val="163000"/>
              </a:lnSpc>
              <a:spcBef>
                <a:spcPts val="740"/>
              </a:spcBef>
              <a:spcAft>
                <a:spcPts val="0"/>
              </a:spcAft>
              <a:buSzPct val="101000"/>
              <a:buNone/>
              <a:tabLst>
                <a:tab pos="652145" algn="l"/>
              </a:tabLst>
            </a:pPr>
            <a:endParaRPr lang="en-IN" sz="1800" spc="0" dirty="0">
              <a:solidFill>
                <a:schemeClr val="bg1"/>
              </a:solidFill>
              <a:effectLst/>
              <a:latin typeface="Arial MT"/>
              <a:ea typeface="Symbol" panose="05050102010706020507" pitchFamily="18" charset="2"/>
              <a:cs typeface="Symbol" panose="05050102010706020507" pitchFamily="18" charset="2"/>
            </a:endParaRPr>
          </a:p>
          <a:p>
            <a:pPr lvl="0" algn="just">
              <a:spcBef>
                <a:spcPts val="590"/>
              </a:spcBef>
              <a:buSzPct val="101000"/>
              <a:tabLst>
                <a:tab pos="652145" algn="l"/>
              </a:tabLst>
            </a:pPr>
            <a:r>
              <a:rPr lang="en-US" sz="1800" spc="-20" dirty="0">
                <a:solidFill>
                  <a:schemeClr val="bg1"/>
                </a:solidFill>
                <a:effectLst/>
                <a:latin typeface="Arial MT"/>
                <a:ea typeface="Symbol" panose="05050102010706020507" pitchFamily="18" charset="2"/>
                <a:cs typeface="Symbol" panose="05050102010706020507" pitchFamily="18" charset="2"/>
              </a:rPr>
              <a:t>All</a:t>
            </a:r>
            <a:r>
              <a:rPr lang="en-US" sz="1800" spc="-4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the</a:t>
            </a:r>
            <a:r>
              <a:rPr lang="en-US" sz="1800" spc="-4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objects</a:t>
            </a:r>
            <a:r>
              <a:rPr lang="en-US" sz="1800" spc="-4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are</a:t>
            </a:r>
            <a:r>
              <a:rPr lang="en-US" sz="1800" spc="-4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stored</a:t>
            </a:r>
            <a:r>
              <a:rPr lang="en-US" sz="1800" spc="-5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in</a:t>
            </a:r>
            <a:r>
              <a:rPr lang="en-US" sz="1800" spc="-40"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an</a:t>
            </a:r>
            <a:r>
              <a:rPr lang="en-US" sz="1800" spc="-4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area</a:t>
            </a:r>
            <a:r>
              <a:rPr lang="en-US" sz="1800" spc="-4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called</a:t>
            </a:r>
            <a:r>
              <a:rPr lang="en-US" sz="1800" spc="-4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"heap"</a:t>
            </a:r>
            <a:r>
              <a:rPr lang="en-US" sz="1800" spc="-50"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in</a:t>
            </a:r>
            <a:r>
              <a:rPr lang="en-US" sz="1800" spc="-4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RAM.</a:t>
            </a:r>
            <a:r>
              <a:rPr lang="en-US" sz="1800" spc="-2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For</a:t>
            </a:r>
            <a:r>
              <a:rPr lang="en-US" sz="1800" spc="-50"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entire</a:t>
            </a:r>
            <a:r>
              <a:rPr lang="en-US" sz="1800" spc="-4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application,</a:t>
            </a:r>
            <a:r>
              <a:rPr lang="en-US" sz="1800" spc="-45"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a</a:t>
            </a:r>
            <a:r>
              <a:rPr lang="en-US" sz="1800" spc="-50" dirty="0">
                <a:solidFill>
                  <a:schemeClr val="bg1"/>
                </a:solidFill>
                <a:effectLst/>
                <a:latin typeface="Arial MT"/>
                <a:ea typeface="Symbol" panose="05050102010706020507" pitchFamily="18" charset="2"/>
                <a:cs typeface="Symbol" panose="05050102010706020507" pitchFamily="18" charset="2"/>
              </a:rPr>
              <a:t> </a:t>
            </a:r>
            <a:r>
              <a:rPr lang="en-US" sz="1800" spc="-20" dirty="0">
                <a:solidFill>
                  <a:schemeClr val="bg1"/>
                </a:solidFill>
                <a:effectLst/>
                <a:latin typeface="Arial MT"/>
                <a:ea typeface="Symbol" panose="05050102010706020507" pitchFamily="18" charset="2"/>
                <a:cs typeface="Symbol" panose="05050102010706020507" pitchFamily="18" charset="2"/>
              </a:rPr>
              <a:t>“heap” </a:t>
            </a:r>
            <a:r>
              <a:rPr lang="en-US" sz="1800" spc="-20" dirty="0">
                <a:solidFill>
                  <a:schemeClr val="bg1"/>
                </a:solidFill>
                <a:effectLst/>
                <a:latin typeface="Arial MT"/>
                <a:ea typeface="Arial MT"/>
                <a:cs typeface="Arial MT"/>
              </a:rPr>
              <a:t>will</a:t>
            </a:r>
            <a:r>
              <a:rPr lang="en-US" sz="1800" spc="-55" dirty="0">
                <a:solidFill>
                  <a:schemeClr val="bg1"/>
                </a:solidFill>
                <a:effectLst/>
                <a:latin typeface="Arial MT"/>
                <a:ea typeface="Arial MT"/>
                <a:cs typeface="Arial MT"/>
              </a:rPr>
              <a:t> </a:t>
            </a:r>
            <a:r>
              <a:rPr lang="en-US" sz="1800" spc="-20" dirty="0">
                <a:solidFill>
                  <a:schemeClr val="bg1"/>
                </a:solidFill>
                <a:effectLst/>
                <a:latin typeface="Arial MT"/>
                <a:ea typeface="Arial MT"/>
                <a:cs typeface="Arial MT"/>
              </a:rPr>
              <a:t>be</a:t>
            </a:r>
            <a:r>
              <a:rPr lang="en-US" sz="1800" spc="-50" dirty="0">
                <a:solidFill>
                  <a:schemeClr val="bg1"/>
                </a:solidFill>
                <a:effectLst/>
                <a:latin typeface="Arial MT"/>
                <a:ea typeface="Arial MT"/>
                <a:cs typeface="Arial MT"/>
              </a:rPr>
              <a:t> </a:t>
            </a:r>
            <a:r>
              <a:rPr lang="en-US" sz="1800" spc="-20" dirty="0">
                <a:solidFill>
                  <a:schemeClr val="bg1"/>
                </a:solidFill>
                <a:effectLst/>
                <a:latin typeface="Arial MT"/>
                <a:ea typeface="Arial MT"/>
                <a:cs typeface="Arial MT"/>
              </a:rPr>
              <a:t>created.</a:t>
            </a:r>
            <a:endParaRPr lang="en-IN" sz="1800" dirty="0">
              <a:solidFill>
                <a:schemeClr val="bg1"/>
              </a:solidFill>
              <a:effectLst/>
              <a:latin typeface="Arial MT"/>
              <a:ea typeface="Arial MT"/>
              <a:cs typeface="Arial MT"/>
            </a:endParaRPr>
          </a:p>
          <a:p>
            <a:pPr algn="just">
              <a:spcBef>
                <a:spcPts val="135"/>
              </a:spcBef>
              <a:buSzPct val="101000"/>
            </a:pPr>
            <a:endParaRPr lang="en-IN" sz="1800" dirty="0">
              <a:solidFill>
                <a:schemeClr val="bg1"/>
              </a:solidFill>
              <a:effectLst/>
              <a:latin typeface="Arial MT"/>
              <a:ea typeface="Arial MT"/>
              <a:cs typeface="Arial MT"/>
            </a:endParaRPr>
          </a:p>
          <a:p>
            <a:pPr algn="just">
              <a:buSzPct val="101000"/>
            </a:pPr>
            <a:r>
              <a:rPr lang="en-US" sz="1800" spc="-10" dirty="0">
                <a:solidFill>
                  <a:schemeClr val="bg1"/>
                </a:solidFill>
                <a:effectLst/>
                <a:latin typeface="Arial MT"/>
                <a:ea typeface="Arial MT"/>
                <a:cs typeface="Arial MT"/>
              </a:rPr>
              <a:t>You</a:t>
            </a:r>
            <a:r>
              <a:rPr lang="en-US" sz="1800" spc="-30"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must</a:t>
            </a:r>
            <a:r>
              <a:rPr lang="en-US" sz="1800" spc="-25"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store</a:t>
            </a:r>
            <a:r>
              <a:rPr lang="en-US" sz="1800" spc="-20"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the</a:t>
            </a:r>
            <a:r>
              <a:rPr lang="en-US" sz="1800" spc="-25"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address</a:t>
            </a:r>
            <a:r>
              <a:rPr lang="en-US" sz="1800" spc="-30"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of</a:t>
            </a:r>
            <a:r>
              <a:rPr lang="en-US" sz="1800" spc="-30"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an</a:t>
            </a:r>
            <a:r>
              <a:rPr lang="en-US" sz="1800" spc="-25"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object</a:t>
            </a:r>
            <a:r>
              <a:rPr lang="en-US" sz="1800" spc="-25"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into</a:t>
            </a:r>
            <a:r>
              <a:rPr lang="en-US" sz="1800" spc="-25"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the</a:t>
            </a:r>
            <a:r>
              <a:rPr lang="en-US" sz="1800" spc="-15"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reference</a:t>
            </a:r>
            <a:r>
              <a:rPr lang="en-US" sz="1800" spc="-35"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variable;</a:t>
            </a:r>
            <a:r>
              <a:rPr lang="en-US" sz="1800" spc="-25"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otherwise</a:t>
            </a:r>
            <a:r>
              <a:rPr lang="en-US" sz="1800" spc="-25"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you</a:t>
            </a:r>
            <a:r>
              <a:rPr lang="en-US" sz="1800" spc="-35" dirty="0">
                <a:solidFill>
                  <a:schemeClr val="bg1"/>
                </a:solidFill>
                <a:effectLst/>
                <a:latin typeface="Arial MT"/>
                <a:ea typeface="Arial MT"/>
                <a:cs typeface="Arial MT"/>
              </a:rPr>
              <a:t> </a:t>
            </a:r>
            <a:r>
              <a:rPr lang="en-US" sz="1800" spc="-10" dirty="0">
                <a:solidFill>
                  <a:schemeClr val="bg1"/>
                </a:solidFill>
                <a:effectLst/>
                <a:latin typeface="Arial MT"/>
                <a:ea typeface="Arial MT"/>
                <a:cs typeface="Arial MT"/>
              </a:rPr>
              <a:t>can't </a:t>
            </a:r>
            <a:r>
              <a:rPr lang="en-US" sz="1800" dirty="0">
                <a:solidFill>
                  <a:schemeClr val="bg1"/>
                </a:solidFill>
                <a:effectLst/>
                <a:latin typeface="Arial MT"/>
                <a:ea typeface="Arial MT"/>
                <a:cs typeface="Arial MT"/>
              </a:rPr>
              <a:t>access</a:t>
            </a:r>
            <a:r>
              <a:rPr lang="en-US" sz="1800" spc="-25" dirty="0">
                <a:solidFill>
                  <a:schemeClr val="bg1"/>
                </a:solidFill>
                <a:effectLst/>
                <a:latin typeface="Arial MT"/>
                <a:ea typeface="Arial MT"/>
                <a:cs typeface="Arial MT"/>
              </a:rPr>
              <a:t> </a:t>
            </a:r>
            <a:r>
              <a:rPr lang="en-US" sz="1800" dirty="0">
                <a:solidFill>
                  <a:schemeClr val="bg1"/>
                </a:solidFill>
                <a:effectLst/>
                <a:latin typeface="Arial MT"/>
                <a:ea typeface="Arial MT"/>
                <a:cs typeface="Arial MT"/>
              </a:rPr>
              <a:t>the</a:t>
            </a:r>
            <a:r>
              <a:rPr lang="en-US" sz="1800" spc="-10" dirty="0">
                <a:solidFill>
                  <a:schemeClr val="bg1"/>
                </a:solidFill>
                <a:effectLst/>
                <a:latin typeface="Arial MT"/>
                <a:ea typeface="Arial MT"/>
                <a:cs typeface="Arial MT"/>
              </a:rPr>
              <a:t> </a:t>
            </a:r>
            <a:r>
              <a:rPr lang="en-US" sz="1800" dirty="0">
                <a:solidFill>
                  <a:schemeClr val="bg1"/>
                </a:solidFill>
                <a:effectLst/>
                <a:latin typeface="Arial MT"/>
                <a:ea typeface="Arial MT"/>
                <a:cs typeface="Arial MT"/>
              </a:rPr>
              <a:t>object</a:t>
            </a:r>
            <a:endParaRPr lang="en-IN" dirty="0">
              <a:solidFill>
                <a:schemeClr val="bg1"/>
              </a:solidFill>
            </a:endParaRPr>
          </a:p>
        </p:txBody>
      </p:sp>
      <p:pic>
        <p:nvPicPr>
          <p:cNvPr id="11" name="Image 586">
            <a:extLst>
              <a:ext uri="{FF2B5EF4-FFF2-40B4-BE49-F238E27FC236}">
                <a16:creationId xmlns:a16="http://schemas.microsoft.com/office/drawing/2014/main" id="{4708F702-7BCA-4F0F-AD5D-8C7D78C8C07E}"/>
              </a:ext>
            </a:extLst>
          </p:cNvPr>
          <p:cNvPicPr>
            <a:picLocks noGrp="1"/>
          </p:cNvPicPr>
          <p:nvPr>
            <p:ph sz="half" idx="2"/>
          </p:nvPr>
        </p:nvPicPr>
        <p:blipFill>
          <a:blip r:embed="rId2" cstate="print"/>
          <a:stretch>
            <a:fillRect/>
          </a:stretch>
        </p:blipFill>
        <p:spPr>
          <a:xfrm>
            <a:off x="7169285" y="2013626"/>
            <a:ext cx="4578519" cy="2830747"/>
          </a:xfrm>
          <a:prstGeom prst="rect">
            <a:avLst/>
          </a:prstGeom>
        </p:spPr>
      </p:pic>
    </p:spTree>
    <p:extLst>
      <p:ext uri="{BB962C8B-B14F-4D97-AF65-F5344CB8AC3E}">
        <p14:creationId xmlns:p14="http://schemas.microsoft.com/office/powerpoint/2010/main" val="1526365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4B593-4EB8-4140-BD78-54B118070C7A}"/>
              </a:ext>
            </a:extLst>
          </p:cNvPr>
          <p:cNvSpPr>
            <a:spLocks noGrp="1"/>
          </p:cNvSpPr>
          <p:nvPr>
            <p:ph type="title"/>
          </p:nvPr>
        </p:nvSpPr>
        <p:spPr>
          <a:xfrm>
            <a:off x="1141413" y="598569"/>
            <a:ext cx="9905998" cy="257465"/>
          </a:xfrm>
        </p:spPr>
        <p:txBody>
          <a:bodyPr>
            <a:normAutofit fontScale="90000"/>
          </a:bodyPr>
          <a:lstStyle/>
          <a:p>
            <a:r>
              <a:rPr lang="en-US" sz="1800" b="1" spc="85" dirty="0">
                <a:solidFill>
                  <a:srgbClr val="000000"/>
                </a:solidFill>
                <a:effectLst/>
                <a:latin typeface="Arial" panose="020B0604020202020204" pitchFamily="34" charset="0"/>
                <a:ea typeface="Arial MT"/>
                <a:cs typeface="Arial MT"/>
              </a:rPr>
              <a:t>Principles</a:t>
            </a:r>
            <a:r>
              <a:rPr lang="en-US" sz="1800" b="1" spc="60" dirty="0">
                <a:solidFill>
                  <a:srgbClr val="000000"/>
                </a:solidFill>
                <a:effectLst/>
                <a:latin typeface="Arial" panose="020B0604020202020204" pitchFamily="34" charset="0"/>
                <a:ea typeface="Arial MT"/>
                <a:cs typeface="Arial MT"/>
              </a:rPr>
              <a:t> </a:t>
            </a:r>
            <a:r>
              <a:rPr lang="en-US" sz="1800" b="1" spc="55" dirty="0">
                <a:solidFill>
                  <a:srgbClr val="000000"/>
                </a:solidFill>
                <a:effectLst/>
                <a:latin typeface="Arial" panose="020B0604020202020204" pitchFamily="34" charset="0"/>
                <a:ea typeface="Arial MT"/>
                <a:cs typeface="Arial MT"/>
              </a:rPr>
              <a:t>of</a:t>
            </a:r>
            <a:r>
              <a:rPr lang="en-US" sz="1800" b="1" spc="65" dirty="0">
                <a:solidFill>
                  <a:srgbClr val="000000"/>
                </a:solidFill>
                <a:effectLst/>
                <a:latin typeface="Arial" panose="020B0604020202020204" pitchFamily="34" charset="0"/>
                <a:ea typeface="Arial MT"/>
                <a:cs typeface="Arial MT"/>
              </a:rPr>
              <a:t> </a:t>
            </a:r>
            <a:r>
              <a:rPr lang="en-US" sz="1800" b="1" spc="80" dirty="0">
                <a:solidFill>
                  <a:srgbClr val="000000"/>
                </a:solidFill>
                <a:effectLst/>
                <a:latin typeface="Arial" panose="020B0604020202020204" pitchFamily="34" charset="0"/>
                <a:ea typeface="Arial MT"/>
                <a:cs typeface="Arial MT"/>
              </a:rPr>
              <a:t>Object</a:t>
            </a:r>
            <a:r>
              <a:rPr lang="en-US" sz="1800" b="1" spc="75" dirty="0">
                <a:solidFill>
                  <a:srgbClr val="000000"/>
                </a:solidFill>
                <a:effectLst/>
                <a:latin typeface="Arial" panose="020B0604020202020204" pitchFamily="34" charset="0"/>
                <a:ea typeface="Arial MT"/>
                <a:cs typeface="Arial MT"/>
              </a:rPr>
              <a:t> </a:t>
            </a:r>
            <a:r>
              <a:rPr lang="en-US" sz="1800" b="1" spc="85" dirty="0">
                <a:solidFill>
                  <a:srgbClr val="000000"/>
                </a:solidFill>
                <a:effectLst/>
                <a:latin typeface="Arial" panose="020B0604020202020204" pitchFamily="34" charset="0"/>
                <a:ea typeface="Arial MT"/>
                <a:cs typeface="Arial MT"/>
              </a:rPr>
              <a:t>Oriented</a:t>
            </a:r>
            <a:r>
              <a:rPr lang="en-US" sz="1800" b="1" spc="70" dirty="0">
                <a:solidFill>
                  <a:srgbClr val="000000"/>
                </a:solidFill>
                <a:effectLst/>
                <a:latin typeface="Arial" panose="020B0604020202020204" pitchFamily="34" charset="0"/>
                <a:ea typeface="Arial MT"/>
                <a:cs typeface="Arial MT"/>
              </a:rPr>
              <a:t> Programming</a:t>
            </a:r>
            <a:br>
              <a:rPr lang="en-IN" sz="1800" dirty="0">
                <a:effectLst/>
                <a:latin typeface="Arial MT"/>
                <a:ea typeface="Arial MT"/>
                <a:cs typeface="Arial MT"/>
              </a:rPr>
            </a:br>
            <a:endParaRPr lang="en-IN" dirty="0"/>
          </a:p>
        </p:txBody>
      </p:sp>
      <p:sp>
        <p:nvSpPr>
          <p:cNvPr id="3" name="Content Placeholder 2">
            <a:extLst>
              <a:ext uri="{FF2B5EF4-FFF2-40B4-BE49-F238E27FC236}">
                <a16:creationId xmlns:a16="http://schemas.microsoft.com/office/drawing/2014/main" id="{1720CD27-D816-4D3A-B5D8-D4040756E314}"/>
              </a:ext>
            </a:extLst>
          </p:cNvPr>
          <p:cNvSpPr>
            <a:spLocks noGrp="1"/>
          </p:cNvSpPr>
          <p:nvPr>
            <p:ph sz="half" idx="1"/>
          </p:nvPr>
        </p:nvSpPr>
        <p:spPr>
          <a:xfrm>
            <a:off x="1141413" y="1510184"/>
            <a:ext cx="4130979" cy="2779714"/>
          </a:xfrm>
        </p:spPr>
        <p:txBody>
          <a:bodyPr>
            <a:normAutofit fontScale="85000" lnSpcReduction="10000"/>
          </a:bodyPr>
          <a:lstStyle/>
          <a:p>
            <a:r>
              <a:rPr lang="en-US" dirty="0">
                <a:solidFill>
                  <a:srgbClr val="0070C0"/>
                </a:solidFill>
              </a:rPr>
              <a:t>OOP following the following principles.</a:t>
            </a:r>
          </a:p>
          <a:p>
            <a:pPr lvl="1">
              <a:lnSpc>
                <a:spcPct val="170000"/>
              </a:lnSpc>
            </a:pPr>
            <a:r>
              <a:rPr lang="en-US" sz="2100" dirty="0">
                <a:solidFill>
                  <a:schemeClr val="bg1"/>
                </a:solidFill>
                <a:latin typeface="Udemy Sans"/>
              </a:rPr>
              <a:t>Encapsulation</a:t>
            </a:r>
          </a:p>
          <a:p>
            <a:pPr lvl="1">
              <a:lnSpc>
                <a:spcPct val="170000"/>
              </a:lnSpc>
            </a:pPr>
            <a:r>
              <a:rPr lang="en-US" sz="2100" dirty="0">
                <a:solidFill>
                  <a:schemeClr val="bg1"/>
                </a:solidFill>
                <a:latin typeface="Udemy Sans"/>
              </a:rPr>
              <a:t>Abstraction</a:t>
            </a:r>
          </a:p>
          <a:p>
            <a:pPr lvl="1">
              <a:lnSpc>
                <a:spcPct val="170000"/>
              </a:lnSpc>
            </a:pPr>
            <a:r>
              <a:rPr lang="en-US" sz="2100" dirty="0">
                <a:solidFill>
                  <a:schemeClr val="bg1"/>
                </a:solidFill>
                <a:latin typeface="Udemy Sans"/>
              </a:rPr>
              <a:t>Inheritance</a:t>
            </a:r>
          </a:p>
          <a:p>
            <a:pPr lvl="1">
              <a:lnSpc>
                <a:spcPct val="170000"/>
              </a:lnSpc>
            </a:pPr>
            <a:r>
              <a:rPr lang="en-US" sz="2100" dirty="0">
                <a:solidFill>
                  <a:schemeClr val="bg1"/>
                </a:solidFill>
                <a:latin typeface="Udemy Sans"/>
              </a:rPr>
              <a:t>Polymorphism</a:t>
            </a:r>
          </a:p>
          <a:p>
            <a:endParaRPr lang="en-IN" dirty="0"/>
          </a:p>
        </p:txBody>
      </p:sp>
      <p:sp>
        <p:nvSpPr>
          <p:cNvPr id="4" name="Content Placeholder 3">
            <a:extLst>
              <a:ext uri="{FF2B5EF4-FFF2-40B4-BE49-F238E27FC236}">
                <a16:creationId xmlns:a16="http://schemas.microsoft.com/office/drawing/2014/main" id="{8D6747ED-309B-411F-9D3D-D0284AAE29A5}"/>
              </a:ext>
            </a:extLst>
          </p:cNvPr>
          <p:cNvSpPr>
            <a:spLocks noGrp="1"/>
          </p:cNvSpPr>
          <p:nvPr>
            <p:ph sz="half" idx="2"/>
          </p:nvPr>
        </p:nvSpPr>
        <p:spPr>
          <a:xfrm>
            <a:off x="5272392" y="1201295"/>
            <a:ext cx="6439710" cy="5403786"/>
          </a:xfrm>
        </p:spPr>
        <p:txBody>
          <a:bodyPr>
            <a:normAutofit fontScale="85000" lnSpcReduction="10000"/>
          </a:bodyPr>
          <a:lstStyle/>
          <a:p>
            <a:r>
              <a:rPr lang="en-IN" dirty="0">
                <a:solidFill>
                  <a:srgbClr val="0070C0"/>
                </a:solidFill>
              </a:rPr>
              <a:t>Encapsulation:</a:t>
            </a:r>
          </a:p>
          <a:p>
            <a:pPr lvl="1"/>
            <a:r>
              <a:rPr lang="en-US" dirty="0">
                <a:solidFill>
                  <a:schemeClr val="bg1"/>
                </a:solidFill>
              </a:rPr>
              <a:t>Encapsulation is a concept of combining Fields and methods as a single unit called “object”.</a:t>
            </a:r>
          </a:p>
          <a:p>
            <a:pPr lvl="1"/>
            <a:r>
              <a:rPr lang="en-US" dirty="0">
                <a:solidFill>
                  <a:schemeClr val="bg1"/>
                </a:solidFill>
              </a:rPr>
              <a:t>Fields are variables that stores the data; Methods are functions that manipulates the data.</a:t>
            </a:r>
          </a:p>
          <a:p>
            <a:pPr lvl="1"/>
            <a:r>
              <a:rPr lang="en-US" dirty="0">
                <a:solidFill>
                  <a:schemeClr val="bg1"/>
                </a:solidFill>
              </a:rPr>
              <a:t>This is implemented by creating classes with Fields and methods.</a:t>
            </a:r>
          </a:p>
          <a:p>
            <a:pPr marL="0" indent="0">
              <a:buNone/>
            </a:pPr>
            <a:r>
              <a:rPr lang="en-US" dirty="0">
                <a:solidFill>
                  <a:srgbClr val="0070C0"/>
                </a:solidFill>
              </a:rPr>
              <a:t>Abstraction:</a:t>
            </a:r>
          </a:p>
          <a:p>
            <a:pPr lvl="1"/>
            <a:r>
              <a:rPr lang="en-US" dirty="0">
                <a:solidFill>
                  <a:schemeClr val="bg1"/>
                </a:solidFill>
              </a:rPr>
              <a:t>	</a:t>
            </a:r>
            <a:r>
              <a:rPr lang="en-US" sz="2100" dirty="0">
                <a:solidFill>
                  <a:schemeClr val="bg1"/>
                </a:solidFill>
              </a:rPr>
              <a:t>Abstraction is a concept of hiding implementation details (internal logic) and providing only necessary details to other classes.</a:t>
            </a:r>
          </a:p>
          <a:p>
            <a:pPr lvl="1"/>
            <a:r>
              <a:rPr lang="en-US" sz="2100" dirty="0">
                <a:solidFill>
                  <a:schemeClr val="bg1"/>
                </a:solidFill>
              </a:rPr>
              <a:t>This is implemented by creating private Fields and public methods</a:t>
            </a:r>
          </a:p>
          <a:p>
            <a:pPr marL="0" indent="0">
              <a:buNone/>
            </a:pPr>
            <a:r>
              <a:rPr lang="en-US" dirty="0">
                <a:solidFill>
                  <a:srgbClr val="0070C0"/>
                </a:solidFill>
              </a:rPr>
              <a:t>Inheritance:</a:t>
            </a:r>
          </a:p>
          <a:p>
            <a:pPr lvl="1"/>
            <a:r>
              <a:rPr lang="en-US" sz="2100" dirty="0">
                <a:solidFill>
                  <a:schemeClr val="bg1"/>
                </a:solidFill>
                <a:latin typeface="Udemy Sans"/>
              </a:rPr>
              <a:t>Inheritance is a concept of creating “parent-child” relationship among two or more classes</a:t>
            </a:r>
          </a:p>
          <a:p>
            <a:pPr marL="0" indent="0">
              <a:buNone/>
            </a:pPr>
            <a:endParaRPr lang="en-US" dirty="0"/>
          </a:p>
          <a:p>
            <a:pPr marL="457200" lvl="1" indent="0">
              <a:buNone/>
            </a:pPr>
            <a:endParaRPr lang="en-US" dirty="0"/>
          </a:p>
          <a:p>
            <a:pPr lvl="1"/>
            <a:endParaRPr lang="en-IN" dirty="0"/>
          </a:p>
          <a:p>
            <a:endParaRPr lang="en-IN" dirty="0"/>
          </a:p>
          <a:p>
            <a:endParaRPr lang="en-IN" dirty="0"/>
          </a:p>
        </p:txBody>
      </p:sp>
    </p:spTree>
    <p:extLst>
      <p:ext uri="{BB962C8B-B14F-4D97-AF65-F5344CB8AC3E}">
        <p14:creationId xmlns:p14="http://schemas.microsoft.com/office/powerpoint/2010/main" val="3701301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55151F-AF7E-46FF-AF8E-975622248529}"/>
              </a:ext>
            </a:extLst>
          </p:cNvPr>
          <p:cNvSpPr>
            <a:spLocks noGrp="1"/>
          </p:cNvSpPr>
          <p:nvPr>
            <p:ph sz="half" idx="1"/>
          </p:nvPr>
        </p:nvSpPr>
        <p:spPr>
          <a:xfrm>
            <a:off x="661481" y="721045"/>
            <a:ext cx="11147898" cy="5912900"/>
          </a:xfrm>
        </p:spPr>
        <p:txBody>
          <a:bodyPr>
            <a:noAutofit/>
          </a:bodyPr>
          <a:lstStyle/>
          <a:p>
            <a:r>
              <a:rPr lang="en-US" sz="1400" dirty="0">
                <a:solidFill>
                  <a:schemeClr val="bg1"/>
                </a:solidFill>
                <a:latin typeface="Udemy Sans"/>
              </a:rPr>
              <a:t>Polymorphism: : means "decision making".  “the ability of a statement that calls different methods at different situations”</a:t>
            </a:r>
          </a:p>
          <a:p>
            <a:r>
              <a:rPr lang="en-IN" sz="1400" b="1" dirty="0">
                <a:solidFill>
                  <a:schemeClr val="bg1"/>
                </a:solidFill>
                <a:latin typeface="Udemy Sans"/>
              </a:rPr>
              <a:t>Types of polymorphism</a:t>
            </a:r>
            <a:r>
              <a:rPr lang="en-US" sz="1400" b="1" dirty="0">
                <a:solidFill>
                  <a:schemeClr val="bg1"/>
                </a:solidFill>
                <a:latin typeface="Udemy Sans"/>
              </a:rPr>
              <a:t>:</a:t>
            </a:r>
          </a:p>
          <a:p>
            <a:pPr lvl="1"/>
            <a:r>
              <a:rPr lang="en-US" sz="1400" b="1" dirty="0">
                <a:solidFill>
                  <a:srgbClr val="0070C0"/>
                </a:solidFill>
                <a:latin typeface="Udemy Sans"/>
              </a:rPr>
              <a:t>Static polymorphism (or) Compile-time polymorphism (or) Early binding:</a:t>
            </a:r>
          </a:p>
          <a:p>
            <a:pPr lvl="2"/>
            <a:r>
              <a:rPr lang="en-US" sz="1400" dirty="0">
                <a:solidFill>
                  <a:schemeClr val="bg1"/>
                </a:solidFill>
                <a:latin typeface="Udemy Sans"/>
              </a:rPr>
              <a:t>Static polymorphism means method overloading.</a:t>
            </a:r>
          </a:p>
          <a:p>
            <a:pPr lvl="2"/>
            <a:r>
              <a:rPr lang="en-US" sz="1400" dirty="0">
                <a:solidFill>
                  <a:schemeClr val="bg1"/>
                </a:solidFill>
                <a:latin typeface="Udemy Sans"/>
              </a:rPr>
              <a:t>Method overloading is a concept of creating multiple methods with same name in the same class with different types of arguments. While calling the method, the matching method will be executed, depending on the arguments that are passed.</a:t>
            </a:r>
          </a:p>
          <a:p>
            <a:pPr lvl="2"/>
            <a:r>
              <a:rPr lang="en-US" sz="1400" dirty="0">
                <a:solidFill>
                  <a:schemeClr val="bg1"/>
                </a:solidFill>
                <a:latin typeface="Udemy Sans"/>
              </a:rPr>
              <a:t>The decision of which method is to be executed will be taken at compilation time (by c#.net compiler). That’s why it is called “Compile- time polymorphism”.</a:t>
            </a:r>
          </a:p>
          <a:p>
            <a:pPr lvl="2"/>
            <a:r>
              <a:rPr lang="en-US" sz="1400" dirty="0">
                <a:solidFill>
                  <a:schemeClr val="bg1"/>
                </a:solidFill>
                <a:latin typeface="Udemy Sans"/>
              </a:rPr>
              <a:t>Example of static polymorphism: Method overloading</a:t>
            </a:r>
          </a:p>
          <a:p>
            <a:pPr lvl="1"/>
            <a:r>
              <a:rPr lang="en-US" sz="1400" b="1" dirty="0">
                <a:solidFill>
                  <a:srgbClr val="0070C0"/>
                </a:solidFill>
                <a:latin typeface="Udemy Sans"/>
              </a:rPr>
              <a:t>Dynamic polymorphism (or) Run-time polymorphism (or) Late binding</a:t>
            </a:r>
          </a:p>
          <a:p>
            <a:pPr lvl="2"/>
            <a:r>
              <a:rPr lang="en-US" sz="1400" dirty="0">
                <a:solidFill>
                  <a:schemeClr val="bg1"/>
                </a:solidFill>
                <a:latin typeface="Udemy Sans"/>
              </a:rPr>
              <a:t>Dynamic polymorphism means method overriding.</a:t>
            </a:r>
          </a:p>
          <a:p>
            <a:pPr lvl="2"/>
            <a:r>
              <a:rPr lang="en-US" sz="1400" dirty="0">
                <a:solidFill>
                  <a:schemeClr val="bg1"/>
                </a:solidFill>
                <a:latin typeface="Udemy Sans"/>
              </a:rPr>
              <a:t>Method overriding is a concept of creating two methods with same name and same signature; one is in parent class and other one is in child class; both methods have different code.</a:t>
            </a:r>
          </a:p>
          <a:p>
            <a:pPr lvl="2"/>
            <a:r>
              <a:rPr lang="en-US" sz="1400" dirty="0">
                <a:solidFill>
                  <a:schemeClr val="bg1"/>
                </a:solidFill>
                <a:latin typeface="Udemy Sans"/>
              </a:rPr>
              <a:t> You will create a reference variable for the parent class (or) interface; assign the reference of child class’s object; and call the method. Then the current child class’s method will be called.</a:t>
            </a:r>
          </a:p>
          <a:p>
            <a:pPr lvl="2"/>
            <a:r>
              <a:rPr lang="en-US" sz="1400" dirty="0">
                <a:solidFill>
                  <a:schemeClr val="bg1"/>
                </a:solidFill>
                <a:latin typeface="Udemy Sans"/>
              </a:rPr>
              <a:t>The decision of which class’s method is to be executed will be taken at run time (by </a:t>
            </a:r>
            <a:r>
              <a:rPr lang="en-US" sz="1400" dirty="0" err="1">
                <a:solidFill>
                  <a:schemeClr val="bg1"/>
                </a:solidFill>
                <a:latin typeface="Udemy Sans"/>
              </a:rPr>
              <a:t>.net</a:t>
            </a:r>
            <a:r>
              <a:rPr lang="en-US" sz="1400" dirty="0">
                <a:solidFill>
                  <a:schemeClr val="bg1"/>
                </a:solidFill>
                <a:latin typeface="Udemy Sans"/>
              </a:rPr>
              <a:t> CLR). That’s why it is called “Run-time polymorphism”.</a:t>
            </a:r>
          </a:p>
          <a:p>
            <a:pPr lvl="2"/>
            <a:r>
              <a:rPr lang="en-US" sz="1400" dirty="0">
                <a:solidFill>
                  <a:schemeClr val="bg1"/>
                </a:solidFill>
                <a:latin typeface="Udemy Sans"/>
              </a:rPr>
              <a:t>Example of dynamic polymorphism: Reference variable of interface type</a:t>
            </a:r>
            <a:r>
              <a:rPr lang="en-US" sz="1400" dirty="0">
                <a:latin typeface="Udemy Sans"/>
              </a:rPr>
              <a:t>.</a:t>
            </a:r>
          </a:p>
          <a:p>
            <a:pPr lvl="1"/>
            <a:endParaRPr lang="en-IN" sz="1400" dirty="0"/>
          </a:p>
        </p:txBody>
      </p:sp>
      <p:sp>
        <p:nvSpPr>
          <p:cNvPr id="6" name="TextBox 5">
            <a:extLst>
              <a:ext uri="{FF2B5EF4-FFF2-40B4-BE49-F238E27FC236}">
                <a16:creationId xmlns:a16="http://schemas.microsoft.com/office/drawing/2014/main" id="{ABACE270-DC9E-40AC-B647-2B472E6D0304}"/>
              </a:ext>
            </a:extLst>
          </p:cNvPr>
          <p:cNvSpPr txBox="1"/>
          <p:nvPr/>
        </p:nvSpPr>
        <p:spPr>
          <a:xfrm>
            <a:off x="1055450" y="224055"/>
            <a:ext cx="6099242" cy="369332"/>
          </a:xfrm>
          <a:prstGeom prst="rect">
            <a:avLst/>
          </a:prstGeom>
          <a:noFill/>
        </p:spPr>
        <p:txBody>
          <a:bodyPr wrap="square">
            <a:spAutoFit/>
          </a:bodyPr>
          <a:lstStyle/>
          <a:p>
            <a:r>
              <a:rPr lang="en-US" sz="1800" b="1" spc="85" dirty="0">
                <a:solidFill>
                  <a:srgbClr val="000000"/>
                </a:solidFill>
                <a:effectLst/>
                <a:latin typeface="Arial" panose="020B0604020202020204" pitchFamily="34" charset="0"/>
                <a:ea typeface="Arial MT"/>
                <a:cs typeface="Arial MT"/>
              </a:rPr>
              <a:t>Principles</a:t>
            </a:r>
            <a:r>
              <a:rPr lang="en-US" sz="1800" b="1" spc="60" dirty="0">
                <a:solidFill>
                  <a:srgbClr val="000000"/>
                </a:solidFill>
                <a:effectLst/>
                <a:latin typeface="Arial" panose="020B0604020202020204" pitchFamily="34" charset="0"/>
                <a:ea typeface="Arial MT"/>
                <a:cs typeface="Arial MT"/>
              </a:rPr>
              <a:t> </a:t>
            </a:r>
            <a:r>
              <a:rPr lang="en-US" sz="1800" b="1" spc="55" dirty="0">
                <a:solidFill>
                  <a:srgbClr val="000000"/>
                </a:solidFill>
                <a:effectLst/>
                <a:latin typeface="Arial" panose="020B0604020202020204" pitchFamily="34" charset="0"/>
                <a:ea typeface="Arial MT"/>
                <a:cs typeface="Arial MT"/>
              </a:rPr>
              <a:t>of</a:t>
            </a:r>
            <a:r>
              <a:rPr lang="en-US" sz="1800" b="1" spc="65" dirty="0">
                <a:solidFill>
                  <a:srgbClr val="000000"/>
                </a:solidFill>
                <a:effectLst/>
                <a:latin typeface="Arial" panose="020B0604020202020204" pitchFamily="34" charset="0"/>
                <a:ea typeface="Arial MT"/>
                <a:cs typeface="Arial MT"/>
              </a:rPr>
              <a:t> </a:t>
            </a:r>
            <a:r>
              <a:rPr lang="en-US" sz="1800" b="1" spc="80" dirty="0">
                <a:solidFill>
                  <a:srgbClr val="000000"/>
                </a:solidFill>
                <a:effectLst/>
                <a:latin typeface="Arial" panose="020B0604020202020204" pitchFamily="34" charset="0"/>
                <a:ea typeface="Arial MT"/>
                <a:cs typeface="Arial MT"/>
              </a:rPr>
              <a:t>Object</a:t>
            </a:r>
            <a:r>
              <a:rPr lang="en-US" sz="1800" b="1" spc="75" dirty="0">
                <a:solidFill>
                  <a:srgbClr val="000000"/>
                </a:solidFill>
                <a:effectLst/>
                <a:latin typeface="Arial" panose="020B0604020202020204" pitchFamily="34" charset="0"/>
                <a:ea typeface="Arial MT"/>
                <a:cs typeface="Arial MT"/>
              </a:rPr>
              <a:t> </a:t>
            </a:r>
            <a:r>
              <a:rPr lang="en-US" sz="1800" b="1" spc="85" dirty="0">
                <a:solidFill>
                  <a:srgbClr val="000000"/>
                </a:solidFill>
                <a:effectLst/>
                <a:latin typeface="Arial" panose="020B0604020202020204" pitchFamily="34" charset="0"/>
                <a:ea typeface="Arial MT"/>
                <a:cs typeface="Arial MT"/>
              </a:rPr>
              <a:t>Oriented</a:t>
            </a:r>
            <a:r>
              <a:rPr lang="en-US" sz="1800" b="1" spc="70" dirty="0">
                <a:solidFill>
                  <a:srgbClr val="000000"/>
                </a:solidFill>
                <a:effectLst/>
                <a:latin typeface="Arial" panose="020B0604020202020204" pitchFamily="34" charset="0"/>
                <a:ea typeface="Arial MT"/>
                <a:cs typeface="Arial MT"/>
              </a:rPr>
              <a:t> Programming</a:t>
            </a:r>
            <a:endParaRPr lang="en-IN" dirty="0"/>
          </a:p>
        </p:txBody>
      </p:sp>
    </p:spTree>
    <p:extLst>
      <p:ext uri="{BB962C8B-B14F-4D97-AF65-F5344CB8AC3E}">
        <p14:creationId xmlns:p14="http://schemas.microsoft.com/office/powerpoint/2010/main" val="3628321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CEFB7-6CCB-459C-BD94-5D8ECF1E5417}"/>
              </a:ext>
            </a:extLst>
          </p:cNvPr>
          <p:cNvSpPr>
            <a:spLocks noGrp="1"/>
          </p:cNvSpPr>
          <p:nvPr>
            <p:ph type="title"/>
          </p:nvPr>
        </p:nvSpPr>
        <p:spPr>
          <a:xfrm>
            <a:off x="1216023" y="132135"/>
            <a:ext cx="9905998" cy="448282"/>
          </a:xfrm>
        </p:spPr>
        <p:txBody>
          <a:bodyPr/>
          <a:lstStyle/>
          <a:p>
            <a:r>
              <a:rPr lang="en-US" sz="1800" b="1" spc="80" dirty="0">
                <a:solidFill>
                  <a:srgbClr val="000000"/>
                </a:solidFill>
                <a:effectLst/>
                <a:latin typeface="Arial MT"/>
                <a:ea typeface="Arial MT"/>
                <a:cs typeface="Arial MT"/>
              </a:rPr>
              <a:t>Access</a:t>
            </a:r>
            <a:r>
              <a:rPr lang="en-US" sz="1800" b="1" spc="65" dirty="0">
                <a:solidFill>
                  <a:srgbClr val="000000"/>
                </a:solidFill>
                <a:effectLst/>
                <a:latin typeface="Arial MT"/>
                <a:ea typeface="Arial MT"/>
                <a:cs typeface="Arial MT"/>
              </a:rPr>
              <a:t> </a:t>
            </a:r>
            <a:r>
              <a:rPr lang="en-US" sz="1800" b="1" spc="75" dirty="0">
                <a:solidFill>
                  <a:srgbClr val="000000"/>
                </a:solidFill>
                <a:effectLst/>
                <a:latin typeface="Arial MT"/>
                <a:ea typeface="Arial MT"/>
                <a:cs typeface="Arial MT"/>
              </a:rPr>
              <a:t>Modifiers</a:t>
            </a:r>
            <a:endParaRPr lang="en-IN" b="1" dirty="0"/>
          </a:p>
        </p:txBody>
      </p:sp>
      <p:sp>
        <p:nvSpPr>
          <p:cNvPr id="3" name="Content Placeholder 2">
            <a:extLst>
              <a:ext uri="{FF2B5EF4-FFF2-40B4-BE49-F238E27FC236}">
                <a16:creationId xmlns:a16="http://schemas.microsoft.com/office/drawing/2014/main" id="{CEDE09CD-9B7C-4C20-B99F-40E24BA47CE3}"/>
              </a:ext>
            </a:extLst>
          </p:cNvPr>
          <p:cNvSpPr>
            <a:spLocks noGrp="1"/>
          </p:cNvSpPr>
          <p:nvPr>
            <p:ph sz="half" idx="1"/>
          </p:nvPr>
        </p:nvSpPr>
        <p:spPr>
          <a:xfrm>
            <a:off x="749030" y="848703"/>
            <a:ext cx="11001983" cy="1515118"/>
          </a:xfrm>
        </p:spPr>
        <p:txBody>
          <a:bodyPr>
            <a:normAutofit/>
          </a:bodyPr>
          <a:lstStyle/>
          <a:p>
            <a:r>
              <a:rPr lang="en-US" sz="1900" b="0" i="0" dirty="0">
                <a:solidFill>
                  <a:schemeClr val="bg1"/>
                </a:solidFill>
                <a:effectLst/>
                <a:latin typeface="Udemy Sans"/>
              </a:rPr>
              <a:t>Access Modifier (a.k.a. "Access Specifier" or "Visibility Modifier) specifies the accessibility of fields, where the fields can be accessible; they provide security for the fields.</a:t>
            </a:r>
          </a:p>
          <a:p>
            <a:pPr lvl="0">
              <a:spcBef>
                <a:spcPts val="740"/>
              </a:spcBef>
              <a:tabLst>
                <a:tab pos="652145" algn="l"/>
              </a:tabLst>
            </a:pPr>
            <a:r>
              <a:rPr lang="en-US" sz="1900" spc="0" dirty="0">
                <a:solidFill>
                  <a:schemeClr val="bg1"/>
                </a:solidFill>
                <a:effectLst/>
                <a:latin typeface="Udemy Sans"/>
                <a:ea typeface="Symbol" panose="05050102010706020507" pitchFamily="18" charset="2"/>
                <a:cs typeface="Symbol" panose="05050102010706020507" pitchFamily="18" charset="2"/>
              </a:rPr>
              <a:t>Which</a:t>
            </a:r>
            <a:r>
              <a:rPr lang="en-US" sz="1900" spc="5" dirty="0">
                <a:solidFill>
                  <a:schemeClr val="bg1"/>
                </a:solidFill>
                <a:effectLst/>
                <a:latin typeface="Udemy Sans"/>
                <a:ea typeface="Symbol" panose="05050102010706020507" pitchFamily="18" charset="2"/>
                <a:cs typeface="Symbol" panose="05050102010706020507" pitchFamily="18" charset="2"/>
              </a:rPr>
              <a:t> </a:t>
            </a:r>
            <a:r>
              <a:rPr lang="en-US" sz="1900" spc="0" dirty="0">
                <a:solidFill>
                  <a:schemeClr val="bg1"/>
                </a:solidFill>
                <a:effectLst/>
                <a:latin typeface="Udemy Sans"/>
                <a:ea typeface="Symbol" panose="05050102010706020507" pitchFamily="18" charset="2"/>
                <a:cs typeface="Symbol" panose="05050102010706020507" pitchFamily="18" charset="2"/>
              </a:rPr>
              <a:t>are</a:t>
            </a:r>
            <a:r>
              <a:rPr lang="en-US" sz="1900" spc="10" dirty="0">
                <a:solidFill>
                  <a:schemeClr val="bg1"/>
                </a:solidFill>
                <a:effectLst/>
                <a:latin typeface="Udemy Sans"/>
                <a:ea typeface="Symbol" panose="05050102010706020507" pitchFamily="18" charset="2"/>
                <a:cs typeface="Symbol" panose="05050102010706020507" pitchFamily="18" charset="2"/>
              </a:rPr>
              <a:t> </a:t>
            </a:r>
            <a:r>
              <a:rPr lang="en-US" sz="1900" spc="0" dirty="0">
                <a:solidFill>
                  <a:schemeClr val="bg1"/>
                </a:solidFill>
                <a:effectLst/>
                <a:latin typeface="Udemy Sans"/>
                <a:ea typeface="Symbol" panose="05050102010706020507" pitchFamily="18" charset="2"/>
                <a:cs typeface="Symbol" panose="05050102010706020507" pitchFamily="18" charset="2"/>
              </a:rPr>
              <a:t>used</a:t>
            </a:r>
            <a:r>
              <a:rPr lang="en-US" sz="1900" spc="10" dirty="0">
                <a:solidFill>
                  <a:schemeClr val="bg1"/>
                </a:solidFill>
                <a:effectLst/>
                <a:latin typeface="Udemy Sans"/>
                <a:ea typeface="Symbol" panose="05050102010706020507" pitchFamily="18" charset="2"/>
                <a:cs typeface="Symbol" panose="05050102010706020507" pitchFamily="18" charset="2"/>
              </a:rPr>
              <a:t> </a:t>
            </a:r>
            <a:r>
              <a:rPr lang="en-US" sz="1900" spc="0" dirty="0">
                <a:solidFill>
                  <a:schemeClr val="bg1"/>
                </a:solidFill>
                <a:effectLst/>
                <a:latin typeface="Udemy Sans"/>
                <a:ea typeface="Symbol" panose="05050102010706020507" pitchFamily="18" charset="2"/>
                <a:cs typeface="Symbol" panose="05050102010706020507" pitchFamily="18" charset="2"/>
              </a:rPr>
              <a:t>to</a:t>
            </a:r>
            <a:r>
              <a:rPr lang="en-US" sz="1900" spc="10" dirty="0">
                <a:solidFill>
                  <a:schemeClr val="bg1"/>
                </a:solidFill>
                <a:effectLst/>
                <a:latin typeface="Udemy Sans"/>
                <a:ea typeface="Symbol" panose="05050102010706020507" pitchFamily="18" charset="2"/>
                <a:cs typeface="Symbol" panose="05050102010706020507" pitchFamily="18" charset="2"/>
              </a:rPr>
              <a:t> </a:t>
            </a:r>
            <a:r>
              <a:rPr lang="en-US" sz="1900" spc="0" dirty="0">
                <a:solidFill>
                  <a:schemeClr val="bg1"/>
                </a:solidFill>
                <a:effectLst/>
                <a:latin typeface="Udemy Sans"/>
                <a:ea typeface="Symbol" panose="05050102010706020507" pitchFamily="18" charset="2"/>
                <a:cs typeface="Symbol" panose="05050102010706020507" pitchFamily="18" charset="2"/>
              </a:rPr>
              <a:t>specify</a:t>
            </a:r>
            <a:r>
              <a:rPr lang="en-US" sz="1900" spc="5" dirty="0">
                <a:solidFill>
                  <a:schemeClr val="bg1"/>
                </a:solidFill>
                <a:effectLst/>
                <a:latin typeface="Udemy Sans"/>
                <a:ea typeface="Symbol" panose="05050102010706020507" pitchFamily="18" charset="2"/>
                <a:cs typeface="Symbol" panose="05050102010706020507" pitchFamily="18" charset="2"/>
              </a:rPr>
              <a:t> </a:t>
            </a:r>
            <a:r>
              <a:rPr lang="en-US" sz="1900" spc="0" dirty="0">
                <a:solidFill>
                  <a:schemeClr val="bg1"/>
                </a:solidFill>
                <a:effectLst/>
                <a:latin typeface="Udemy Sans"/>
                <a:ea typeface="Symbol" panose="05050102010706020507" pitchFamily="18" charset="2"/>
                <a:cs typeface="Symbol" panose="05050102010706020507" pitchFamily="18" charset="2"/>
              </a:rPr>
              <a:t>the</a:t>
            </a:r>
            <a:r>
              <a:rPr lang="en-US" sz="1900" spc="10" dirty="0">
                <a:solidFill>
                  <a:schemeClr val="bg1"/>
                </a:solidFill>
                <a:effectLst/>
                <a:latin typeface="Udemy Sans"/>
                <a:ea typeface="Symbol" panose="05050102010706020507" pitchFamily="18" charset="2"/>
                <a:cs typeface="Symbol" panose="05050102010706020507" pitchFamily="18" charset="2"/>
              </a:rPr>
              <a:t> </a:t>
            </a:r>
            <a:r>
              <a:rPr lang="en-US" sz="1900" spc="-10" dirty="0">
                <a:solidFill>
                  <a:schemeClr val="bg1"/>
                </a:solidFill>
                <a:effectLst/>
                <a:latin typeface="Udemy Sans"/>
                <a:ea typeface="Symbol" panose="05050102010706020507" pitchFamily="18" charset="2"/>
                <a:cs typeface="Symbol" panose="05050102010706020507" pitchFamily="18" charset="2"/>
              </a:rPr>
              <a:t>access  </a:t>
            </a:r>
            <a:r>
              <a:rPr lang="en-US" sz="1900" spc="-40" dirty="0">
                <a:solidFill>
                  <a:schemeClr val="bg1"/>
                </a:solidFill>
                <a:effectLst/>
                <a:latin typeface="Udemy Sans"/>
                <a:ea typeface="Arial MT"/>
                <a:cs typeface="Arial MT"/>
              </a:rPr>
              <a:t>privileges</a:t>
            </a:r>
            <a:r>
              <a:rPr lang="en-US" sz="1900" spc="-35" dirty="0">
                <a:solidFill>
                  <a:schemeClr val="bg1"/>
                </a:solidFill>
                <a:effectLst/>
                <a:latin typeface="Udemy Sans"/>
                <a:ea typeface="Arial MT"/>
                <a:cs typeface="Arial MT"/>
              </a:rPr>
              <a:t> </a:t>
            </a:r>
            <a:r>
              <a:rPr lang="en-US" sz="1900" spc="-40" dirty="0">
                <a:solidFill>
                  <a:schemeClr val="bg1"/>
                </a:solidFill>
                <a:effectLst/>
                <a:latin typeface="Udemy Sans"/>
                <a:ea typeface="Arial MT"/>
                <a:cs typeface="Arial MT"/>
              </a:rPr>
              <a:t>of</a:t>
            </a:r>
            <a:r>
              <a:rPr lang="en-US" sz="1900" spc="-30" dirty="0">
                <a:solidFill>
                  <a:schemeClr val="bg1"/>
                </a:solidFill>
                <a:effectLst/>
                <a:latin typeface="Udemy Sans"/>
                <a:ea typeface="Arial MT"/>
                <a:cs typeface="Arial MT"/>
              </a:rPr>
              <a:t> </a:t>
            </a:r>
            <a:r>
              <a:rPr lang="en-US" sz="1900" spc="-40" dirty="0">
                <a:solidFill>
                  <a:schemeClr val="bg1"/>
                </a:solidFill>
                <a:effectLst/>
                <a:latin typeface="Udemy Sans"/>
                <a:ea typeface="Arial MT"/>
                <a:cs typeface="Arial MT"/>
              </a:rPr>
              <a:t>a</a:t>
            </a:r>
            <a:r>
              <a:rPr lang="en-US" sz="1900" spc="-25" dirty="0">
                <a:solidFill>
                  <a:schemeClr val="bg1"/>
                </a:solidFill>
                <a:effectLst/>
                <a:latin typeface="Udemy Sans"/>
                <a:ea typeface="Arial MT"/>
                <a:cs typeface="Arial MT"/>
              </a:rPr>
              <a:t> </a:t>
            </a:r>
            <a:r>
              <a:rPr lang="en-US" sz="1900" spc="-40" dirty="0">
                <a:solidFill>
                  <a:schemeClr val="bg1"/>
                </a:solidFill>
                <a:effectLst/>
                <a:latin typeface="Udemy Sans"/>
                <a:ea typeface="Arial MT"/>
                <a:cs typeface="Arial MT"/>
              </a:rPr>
              <a:t>member</a:t>
            </a:r>
            <a:r>
              <a:rPr lang="en-US" sz="1900" spc="-25" dirty="0">
                <a:solidFill>
                  <a:schemeClr val="bg1"/>
                </a:solidFill>
                <a:effectLst/>
                <a:latin typeface="Udemy Sans"/>
                <a:ea typeface="Arial MT"/>
                <a:cs typeface="Arial MT"/>
              </a:rPr>
              <a:t> </a:t>
            </a:r>
            <a:r>
              <a:rPr lang="en-US" sz="1900" spc="-40" dirty="0">
                <a:solidFill>
                  <a:schemeClr val="bg1"/>
                </a:solidFill>
                <a:effectLst/>
                <a:latin typeface="Udemy Sans"/>
                <a:ea typeface="Arial MT"/>
                <a:cs typeface="Arial MT"/>
              </a:rPr>
              <a:t>of</a:t>
            </a:r>
            <a:r>
              <a:rPr lang="en-US" sz="1900" spc="-35" dirty="0">
                <a:solidFill>
                  <a:schemeClr val="bg1"/>
                </a:solidFill>
                <a:effectLst/>
                <a:latin typeface="Udemy Sans"/>
                <a:ea typeface="Arial MT"/>
                <a:cs typeface="Arial MT"/>
              </a:rPr>
              <a:t> </a:t>
            </a:r>
            <a:r>
              <a:rPr lang="en-US" sz="1900" spc="-40" dirty="0">
                <a:solidFill>
                  <a:schemeClr val="bg1"/>
                </a:solidFill>
                <a:effectLst/>
                <a:latin typeface="Udemy Sans"/>
                <a:ea typeface="Arial MT"/>
                <a:cs typeface="Arial MT"/>
              </a:rPr>
              <a:t>a</a:t>
            </a:r>
            <a:r>
              <a:rPr lang="en-US" sz="1900" spc="-25" dirty="0">
                <a:solidFill>
                  <a:schemeClr val="bg1"/>
                </a:solidFill>
                <a:effectLst/>
                <a:latin typeface="Udemy Sans"/>
                <a:ea typeface="Arial MT"/>
                <a:cs typeface="Arial MT"/>
              </a:rPr>
              <a:t> </a:t>
            </a:r>
            <a:r>
              <a:rPr lang="en-US" sz="1900" spc="-40" dirty="0">
                <a:solidFill>
                  <a:schemeClr val="bg1"/>
                </a:solidFill>
                <a:effectLst/>
                <a:latin typeface="Udemy Sans"/>
                <a:ea typeface="Arial MT"/>
                <a:cs typeface="Arial MT"/>
              </a:rPr>
              <a:t>class</a:t>
            </a:r>
            <a:r>
              <a:rPr lang="en-US" sz="1800" spc="-40" dirty="0">
                <a:solidFill>
                  <a:schemeClr val="bg1"/>
                </a:solidFill>
                <a:effectLst/>
                <a:latin typeface="Arial MT"/>
                <a:ea typeface="Arial MT"/>
                <a:cs typeface="Arial MT"/>
              </a:rPr>
              <a:t>.</a:t>
            </a:r>
            <a:endParaRPr lang="en-IN" sz="1800" dirty="0">
              <a:solidFill>
                <a:schemeClr val="bg1"/>
              </a:solidFill>
              <a:effectLst/>
              <a:latin typeface="Arial MT"/>
              <a:ea typeface="Arial MT"/>
              <a:cs typeface="Arial MT"/>
            </a:endParaRPr>
          </a:p>
          <a:p>
            <a:pPr marL="0" indent="0">
              <a:spcBef>
                <a:spcPts val="130"/>
              </a:spcBef>
              <a:buNone/>
            </a:pPr>
            <a:endParaRPr lang="en-IN" sz="1800" dirty="0">
              <a:effectLst/>
              <a:latin typeface="Arial MT"/>
              <a:ea typeface="Arial MT"/>
              <a:cs typeface="Arial MT"/>
            </a:endParaRPr>
          </a:p>
          <a:p>
            <a:endParaRPr lang="en-IN" dirty="0"/>
          </a:p>
        </p:txBody>
      </p:sp>
      <p:pic>
        <p:nvPicPr>
          <p:cNvPr id="11266" name="Picture 2">
            <a:extLst>
              <a:ext uri="{FF2B5EF4-FFF2-40B4-BE49-F238E27FC236}">
                <a16:creationId xmlns:a16="http://schemas.microsoft.com/office/drawing/2014/main" id="{63CB80AF-3F92-40D8-8339-31A7F5C13B6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702341" y="2454938"/>
            <a:ext cx="7928042" cy="3554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2586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BF5BD-84A6-4365-AC4B-D35D69905F57}"/>
              </a:ext>
            </a:extLst>
          </p:cNvPr>
          <p:cNvSpPr>
            <a:spLocks noGrp="1"/>
          </p:cNvSpPr>
          <p:nvPr>
            <p:ph type="title"/>
          </p:nvPr>
        </p:nvSpPr>
        <p:spPr>
          <a:xfrm>
            <a:off x="1274417" y="394377"/>
            <a:ext cx="9905998" cy="448282"/>
          </a:xfrm>
        </p:spPr>
        <p:txBody>
          <a:bodyPr>
            <a:normAutofit/>
          </a:bodyPr>
          <a:lstStyle/>
          <a:p>
            <a:r>
              <a:rPr lang="en-US" sz="2400" b="1" spc="80" dirty="0">
                <a:solidFill>
                  <a:srgbClr val="000000"/>
                </a:solidFill>
                <a:effectLst/>
                <a:latin typeface="Udemy Sans"/>
                <a:ea typeface="Arial MT"/>
                <a:cs typeface="Arial MT"/>
              </a:rPr>
              <a:t>Access</a:t>
            </a:r>
            <a:r>
              <a:rPr lang="en-US" sz="2400" b="1" spc="65" dirty="0">
                <a:solidFill>
                  <a:srgbClr val="000000"/>
                </a:solidFill>
                <a:effectLst/>
                <a:latin typeface="Udemy Sans"/>
                <a:ea typeface="Arial MT"/>
                <a:cs typeface="Arial MT"/>
              </a:rPr>
              <a:t> </a:t>
            </a:r>
            <a:r>
              <a:rPr lang="en-US" sz="2400" b="1" spc="75" dirty="0">
                <a:solidFill>
                  <a:srgbClr val="000000"/>
                </a:solidFill>
                <a:effectLst/>
                <a:latin typeface="Udemy Sans"/>
                <a:ea typeface="Arial MT"/>
                <a:cs typeface="Arial MT"/>
              </a:rPr>
              <a:t>Modifiers</a:t>
            </a:r>
            <a:endParaRPr lang="en-IN" sz="2400" dirty="0">
              <a:latin typeface="Udemy Sans"/>
            </a:endParaRPr>
          </a:p>
        </p:txBody>
      </p:sp>
      <p:pic>
        <p:nvPicPr>
          <p:cNvPr id="5" name="Image 600">
            <a:extLst>
              <a:ext uri="{FF2B5EF4-FFF2-40B4-BE49-F238E27FC236}">
                <a16:creationId xmlns:a16="http://schemas.microsoft.com/office/drawing/2014/main" id="{DC688CF2-56F5-4DAE-9EA0-2CFE17CCFED7}"/>
              </a:ext>
            </a:extLst>
          </p:cNvPr>
          <p:cNvPicPr>
            <a:picLocks noGrp="1"/>
          </p:cNvPicPr>
          <p:nvPr>
            <p:ph sz="half" idx="1"/>
          </p:nvPr>
        </p:nvPicPr>
        <p:blipFill>
          <a:blip r:embed="rId2" cstate="print"/>
          <a:stretch>
            <a:fillRect/>
          </a:stretch>
        </p:blipFill>
        <p:spPr>
          <a:xfrm>
            <a:off x="1429789" y="1073889"/>
            <a:ext cx="9659969" cy="5165594"/>
          </a:xfrm>
          <a:prstGeom prst="rect">
            <a:avLst/>
          </a:prstGeom>
        </p:spPr>
      </p:pic>
    </p:spTree>
    <p:extLst>
      <p:ext uri="{BB962C8B-B14F-4D97-AF65-F5344CB8AC3E}">
        <p14:creationId xmlns:p14="http://schemas.microsoft.com/office/powerpoint/2010/main" val="556031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0E498-DD34-4421-B14A-2D0D52B269E0}"/>
              </a:ext>
            </a:extLst>
          </p:cNvPr>
          <p:cNvSpPr>
            <a:spLocks noGrp="1"/>
          </p:cNvSpPr>
          <p:nvPr>
            <p:ph type="title"/>
          </p:nvPr>
        </p:nvSpPr>
        <p:spPr>
          <a:xfrm>
            <a:off x="833069" y="97523"/>
            <a:ext cx="9905998" cy="657389"/>
          </a:xfrm>
        </p:spPr>
        <p:txBody>
          <a:bodyPr>
            <a:normAutofit/>
          </a:bodyPr>
          <a:lstStyle/>
          <a:p>
            <a:r>
              <a:rPr lang="en-US" sz="2400" b="1" spc="80" dirty="0">
                <a:solidFill>
                  <a:srgbClr val="000000"/>
                </a:solidFill>
                <a:latin typeface="Udemy Sans"/>
              </a:rPr>
              <a:t>Static Fields</a:t>
            </a:r>
            <a:endParaRPr lang="en-IN" sz="2400" b="1" spc="80" dirty="0">
              <a:solidFill>
                <a:srgbClr val="000000"/>
              </a:solidFill>
              <a:latin typeface="Udemy Sans"/>
            </a:endParaRPr>
          </a:p>
        </p:txBody>
      </p:sp>
      <p:sp>
        <p:nvSpPr>
          <p:cNvPr id="3" name="Content Placeholder 2">
            <a:extLst>
              <a:ext uri="{FF2B5EF4-FFF2-40B4-BE49-F238E27FC236}">
                <a16:creationId xmlns:a16="http://schemas.microsoft.com/office/drawing/2014/main" id="{F629F602-57F7-4E4F-A41C-719A4DE46B46}"/>
              </a:ext>
            </a:extLst>
          </p:cNvPr>
          <p:cNvSpPr>
            <a:spLocks noGrp="1"/>
          </p:cNvSpPr>
          <p:nvPr>
            <p:ph sz="half" idx="1"/>
          </p:nvPr>
        </p:nvSpPr>
        <p:spPr>
          <a:xfrm>
            <a:off x="297713" y="1196863"/>
            <a:ext cx="3179134" cy="2928570"/>
          </a:xfrm>
        </p:spPr>
        <p:txBody>
          <a:bodyPr>
            <a:normAutofit fontScale="25000" lnSpcReduction="20000"/>
          </a:bodyPr>
          <a:lstStyle/>
          <a:p>
            <a:pPr algn="just"/>
            <a:r>
              <a:rPr lang="en-US" sz="6400" dirty="0">
                <a:solidFill>
                  <a:schemeClr val="bg1"/>
                </a:solidFill>
                <a:latin typeface="Udemy Sans"/>
              </a:rPr>
              <a:t>Static Fields are used to common data that belongs to all the objects. Non-Static Fields are stored in the objects; Static Fields are stored outside the objects. Static members are not accessible with reference variable, but accessible with “class name”.</a:t>
            </a:r>
          </a:p>
          <a:p>
            <a:r>
              <a:rPr lang="en-US" sz="6400" dirty="0">
                <a:solidFill>
                  <a:schemeClr val="bg1"/>
                </a:solidFill>
                <a:latin typeface="Udemy Sans"/>
              </a:rPr>
              <a:t>Fields are two types:</a:t>
            </a:r>
          </a:p>
          <a:p>
            <a:pPr marL="0" indent="0">
              <a:buNone/>
            </a:pPr>
            <a:r>
              <a:rPr lang="en-US" sz="6400" dirty="0">
                <a:solidFill>
                  <a:schemeClr val="bg1"/>
                </a:solidFill>
                <a:latin typeface="Udemy Sans"/>
              </a:rPr>
              <a:t>    1.Non-static Fields (or) Instance Fields</a:t>
            </a:r>
          </a:p>
          <a:p>
            <a:pPr marL="0" indent="0">
              <a:buNone/>
            </a:pPr>
            <a:r>
              <a:rPr lang="en-US" sz="6400" dirty="0">
                <a:solidFill>
                  <a:schemeClr val="bg1"/>
                </a:solidFill>
                <a:latin typeface="Udemy Sans"/>
              </a:rPr>
              <a:t>    2.Static Fields (or) Shared Fields</a:t>
            </a:r>
          </a:p>
          <a:p>
            <a:endParaRPr lang="en-IN" dirty="0"/>
          </a:p>
        </p:txBody>
      </p:sp>
      <p:graphicFrame>
        <p:nvGraphicFramePr>
          <p:cNvPr id="5" name="Content Placeholder 4">
            <a:extLst>
              <a:ext uri="{FF2B5EF4-FFF2-40B4-BE49-F238E27FC236}">
                <a16:creationId xmlns:a16="http://schemas.microsoft.com/office/drawing/2014/main" id="{3300DB6A-4A71-4AD6-A976-056D81A8D376}"/>
              </a:ext>
            </a:extLst>
          </p:cNvPr>
          <p:cNvGraphicFramePr>
            <a:graphicFrameLocks noGrp="1"/>
          </p:cNvGraphicFramePr>
          <p:nvPr>
            <p:ph sz="half" idx="2"/>
            <p:extLst>
              <p:ext uri="{D42A27DB-BD31-4B8C-83A1-F6EECF244321}">
                <p14:modId xmlns:p14="http://schemas.microsoft.com/office/powerpoint/2010/main" val="3066200397"/>
              </p:ext>
            </p:extLst>
          </p:nvPr>
        </p:nvGraphicFramePr>
        <p:xfrm>
          <a:off x="3902149" y="1196863"/>
          <a:ext cx="7736958" cy="5102262"/>
        </p:xfrm>
        <a:graphic>
          <a:graphicData uri="http://schemas.openxmlformats.org/drawingml/2006/table">
            <a:tbl>
              <a:tblPr firstRow="1" firstCol="1" lastRow="1" lastCol="1" bandRow="1" bandCol="1"/>
              <a:tblGrid>
                <a:gridCol w="682668">
                  <a:extLst>
                    <a:ext uri="{9D8B030D-6E8A-4147-A177-3AD203B41FA5}">
                      <a16:colId xmlns:a16="http://schemas.microsoft.com/office/drawing/2014/main" val="4082544903"/>
                    </a:ext>
                  </a:extLst>
                </a:gridCol>
                <a:gridCol w="3205557">
                  <a:extLst>
                    <a:ext uri="{9D8B030D-6E8A-4147-A177-3AD203B41FA5}">
                      <a16:colId xmlns:a16="http://schemas.microsoft.com/office/drawing/2014/main" val="1504971290"/>
                    </a:ext>
                  </a:extLst>
                </a:gridCol>
                <a:gridCol w="3848733">
                  <a:extLst>
                    <a:ext uri="{9D8B030D-6E8A-4147-A177-3AD203B41FA5}">
                      <a16:colId xmlns:a16="http://schemas.microsoft.com/office/drawing/2014/main" val="1046348553"/>
                    </a:ext>
                  </a:extLst>
                </a:gridCol>
              </a:tblGrid>
              <a:tr h="292316">
                <a:tc>
                  <a:txBody>
                    <a:bodyPr/>
                    <a:lstStyle/>
                    <a:p>
                      <a:pPr marL="67945" marR="57785">
                        <a:spcBef>
                          <a:spcPts val="30"/>
                        </a:spcBef>
                        <a:spcAft>
                          <a:spcPts val="0"/>
                        </a:spcAft>
                      </a:pPr>
                      <a:r>
                        <a:rPr lang="en-US" sz="1400" b="1" spc="-20" dirty="0">
                          <a:solidFill>
                            <a:schemeClr val="bg1"/>
                          </a:solidFill>
                          <a:effectLst/>
                          <a:latin typeface="Udemy Sans"/>
                          <a:ea typeface="Arial MT"/>
                          <a:cs typeface="Arial MT"/>
                        </a:rPr>
                        <a:t>Sl. </a:t>
                      </a:r>
                      <a:r>
                        <a:rPr lang="en-US" sz="1400" b="1" spc="-30" dirty="0">
                          <a:solidFill>
                            <a:srgbClr val="000000"/>
                          </a:solidFill>
                          <a:effectLst/>
                          <a:latin typeface="Udemy Sans"/>
                          <a:ea typeface="Arial MT"/>
                          <a:cs typeface="Arial MT"/>
                        </a:rPr>
                        <a:t>No</a:t>
                      </a:r>
                      <a:endParaRPr lang="en-IN" sz="1400" dirty="0">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E1DFCC"/>
                    </a:solidFill>
                  </a:tcPr>
                </a:tc>
                <a:tc>
                  <a:txBody>
                    <a:bodyPr/>
                    <a:lstStyle/>
                    <a:p>
                      <a:pPr marL="918210">
                        <a:spcBef>
                          <a:spcPts val="225"/>
                        </a:spcBef>
                        <a:spcAft>
                          <a:spcPts val="0"/>
                        </a:spcAft>
                      </a:pPr>
                      <a:r>
                        <a:rPr lang="en-US" sz="1400" spc="-20">
                          <a:solidFill>
                            <a:srgbClr val="000000"/>
                          </a:solidFill>
                          <a:effectLst/>
                          <a:latin typeface="Udemy Sans"/>
                          <a:ea typeface="Arial MT"/>
                          <a:cs typeface="Arial MT"/>
                        </a:rPr>
                        <a:t>Non-Static</a:t>
                      </a:r>
                      <a:r>
                        <a:rPr lang="en-US" sz="1400" spc="5">
                          <a:solidFill>
                            <a:srgbClr val="000000"/>
                          </a:solidFill>
                          <a:effectLst/>
                          <a:latin typeface="Udemy Sans"/>
                          <a:ea typeface="Arial MT"/>
                          <a:cs typeface="Arial MT"/>
                        </a:rPr>
                        <a:t> </a:t>
                      </a:r>
                      <a:r>
                        <a:rPr lang="en-US" sz="1400" spc="-20">
                          <a:solidFill>
                            <a:srgbClr val="000000"/>
                          </a:solidFill>
                          <a:effectLst/>
                          <a:latin typeface="Udemy Sans"/>
                          <a:ea typeface="Arial MT"/>
                          <a:cs typeface="Arial MT"/>
                        </a:rPr>
                        <a:t>Fields</a:t>
                      </a:r>
                      <a:endParaRPr lang="en-IN" sz="1400">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E1DFCC"/>
                    </a:solidFill>
                  </a:tcPr>
                </a:tc>
                <a:tc>
                  <a:txBody>
                    <a:bodyPr/>
                    <a:lstStyle/>
                    <a:p>
                      <a:pPr marL="5715" algn="ctr">
                        <a:spcBef>
                          <a:spcPts val="225"/>
                        </a:spcBef>
                        <a:spcAft>
                          <a:spcPts val="0"/>
                        </a:spcAft>
                      </a:pPr>
                      <a:r>
                        <a:rPr lang="en-US" sz="1400" spc="-20">
                          <a:solidFill>
                            <a:srgbClr val="000000"/>
                          </a:solidFill>
                          <a:effectLst/>
                          <a:latin typeface="Udemy Sans"/>
                          <a:ea typeface="Arial MT"/>
                          <a:cs typeface="Arial MT"/>
                        </a:rPr>
                        <a:t>Static</a:t>
                      </a:r>
                      <a:r>
                        <a:rPr lang="en-US" sz="1400" spc="-15">
                          <a:solidFill>
                            <a:srgbClr val="000000"/>
                          </a:solidFill>
                          <a:effectLst/>
                          <a:latin typeface="Udemy Sans"/>
                          <a:ea typeface="Arial MT"/>
                          <a:cs typeface="Arial MT"/>
                        </a:rPr>
                        <a:t> </a:t>
                      </a:r>
                      <a:r>
                        <a:rPr lang="en-US" sz="1400" spc="-10">
                          <a:solidFill>
                            <a:srgbClr val="000000"/>
                          </a:solidFill>
                          <a:effectLst/>
                          <a:latin typeface="Udemy Sans"/>
                          <a:ea typeface="Arial MT"/>
                          <a:cs typeface="Arial MT"/>
                        </a:rPr>
                        <a:t>Fields</a:t>
                      </a:r>
                      <a:endParaRPr lang="en-IN" sz="1400">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E1DFCC"/>
                    </a:solidFill>
                  </a:tcPr>
                </a:tc>
                <a:extLst>
                  <a:ext uri="{0D108BD9-81ED-4DB2-BD59-A6C34878D82A}">
                    <a16:rowId xmlns:a16="http://schemas.microsoft.com/office/drawing/2014/main" val="2211977300"/>
                  </a:ext>
                </a:extLst>
              </a:tr>
              <a:tr h="676051">
                <a:tc>
                  <a:txBody>
                    <a:bodyPr/>
                    <a:lstStyle/>
                    <a:p>
                      <a:pPr marL="67945">
                        <a:spcBef>
                          <a:spcPts val="215"/>
                        </a:spcBef>
                      </a:pPr>
                      <a:r>
                        <a:rPr lang="en-US" sz="1400" spc="-50" dirty="0">
                          <a:solidFill>
                            <a:schemeClr val="bg1"/>
                          </a:solidFill>
                          <a:effectLst/>
                          <a:latin typeface="Udemy Sans"/>
                          <a:ea typeface="Arial MT"/>
                          <a:cs typeface="Arial MT"/>
                        </a:rPr>
                        <a:t>1</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lnSpc>
                          <a:spcPct val="146000"/>
                        </a:lnSpc>
                        <a:spcBef>
                          <a:spcPts val="215"/>
                        </a:spcBef>
                      </a:pPr>
                      <a:r>
                        <a:rPr lang="en-US" sz="1400" spc="-30">
                          <a:solidFill>
                            <a:schemeClr val="bg1"/>
                          </a:solidFill>
                          <a:effectLst/>
                          <a:latin typeface="Udemy Sans"/>
                          <a:ea typeface="Arial MT"/>
                          <a:cs typeface="Arial MT"/>
                        </a:rPr>
                        <a:t>By</a:t>
                      </a:r>
                      <a:r>
                        <a:rPr lang="en-US" sz="1400" spc="-7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default,</a:t>
                      </a:r>
                      <a:r>
                        <a:rPr lang="en-US" sz="1400" spc="-5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all</a:t>
                      </a:r>
                      <a:r>
                        <a:rPr lang="en-US" sz="1400" spc="-5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the</a:t>
                      </a:r>
                      <a:r>
                        <a:rPr lang="en-US" sz="1400" spc="-5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Fields</a:t>
                      </a:r>
                      <a:r>
                        <a:rPr lang="en-US" sz="1400" spc="-6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are</a:t>
                      </a:r>
                      <a:r>
                        <a:rPr lang="en-US" sz="1400" spc="-5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non-static</a:t>
                      </a:r>
                      <a:r>
                        <a:rPr lang="en-US" sz="1400" spc="-5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Fields. </a:t>
                      </a:r>
                      <a:r>
                        <a:rPr lang="en-US" sz="1400" spc="-20">
                          <a:solidFill>
                            <a:schemeClr val="bg1"/>
                          </a:solidFill>
                          <a:effectLst/>
                          <a:latin typeface="Udemy Sans"/>
                          <a:ea typeface="Arial MT"/>
                          <a:cs typeface="Arial MT"/>
                        </a:rPr>
                        <a:t>These</a:t>
                      </a:r>
                      <a:r>
                        <a:rPr lang="en-US" sz="1400" spc="-40">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are</a:t>
                      </a:r>
                      <a:r>
                        <a:rPr lang="en-US" sz="1400" spc="-35">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not</a:t>
                      </a:r>
                      <a:r>
                        <a:rPr lang="en-US" sz="1400" spc="-50">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created</a:t>
                      </a:r>
                      <a:r>
                        <a:rPr lang="en-US" sz="1400" spc="-40">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with</a:t>
                      </a:r>
                      <a:r>
                        <a:rPr lang="en-US" sz="1400" spc="-55">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a</a:t>
                      </a:r>
                      <a:r>
                        <a:rPr lang="en-US" sz="1400" spc="-40">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keyword</a:t>
                      </a:r>
                      <a:r>
                        <a:rPr lang="en-US" sz="1400" spc="-45">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called </a:t>
                      </a:r>
                      <a:r>
                        <a:rPr lang="en-US" sz="1400" spc="-10">
                          <a:solidFill>
                            <a:schemeClr val="bg1"/>
                          </a:solidFill>
                          <a:effectLst/>
                          <a:latin typeface="Udemy Sans"/>
                          <a:ea typeface="Arial MT"/>
                          <a:cs typeface="Arial MT"/>
                        </a:rPr>
                        <a:t>“static”.</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spcBef>
                          <a:spcPts val="215"/>
                        </a:spcBef>
                      </a:pPr>
                      <a:r>
                        <a:rPr lang="en-US" sz="1400" spc="-30">
                          <a:solidFill>
                            <a:schemeClr val="bg1"/>
                          </a:solidFill>
                          <a:effectLst/>
                          <a:latin typeface="Udemy Sans"/>
                          <a:ea typeface="Arial MT"/>
                          <a:cs typeface="Arial MT"/>
                        </a:rPr>
                        <a:t>Static Fields</a:t>
                      </a:r>
                      <a:r>
                        <a:rPr lang="en-US" sz="1400" spc="-3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are created using</a:t>
                      </a:r>
                      <a:r>
                        <a:rPr lang="en-US" sz="1400" spc="-3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“static” keyword.</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3068063664"/>
                  </a:ext>
                </a:extLst>
              </a:tr>
              <a:tr h="1022613">
                <a:tc>
                  <a:txBody>
                    <a:bodyPr/>
                    <a:lstStyle/>
                    <a:p>
                      <a:pPr marL="67945">
                        <a:spcBef>
                          <a:spcPts val="215"/>
                        </a:spcBef>
                      </a:pPr>
                      <a:r>
                        <a:rPr lang="en-US" sz="1400" spc="-50" dirty="0">
                          <a:solidFill>
                            <a:schemeClr val="bg1"/>
                          </a:solidFill>
                          <a:effectLst/>
                          <a:latin typeface="Udemy Sans"/>
                          <a:ea typeface="Arial MT"/>
                          <a:cs typeface="Arial MT"/>
                        </a:rPr>
                        <a:t>2</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lnSpc>
                          <a:spcPct val="146000"/>
                        </a:lnSpc>
                        <a:spcBef>
                          <a:spcPts val="215"/>
                        </a:spcBef>
                      </a:pPr>
                      <a:r>
                        <a:rPr lang="en-US" sz="1400" spc="-30">
                          <a:solidFill>
                            <a:schemeClr val="bg1"/>
                          </a:solidFill>
                          <a:effectLst/>
                          <a:latin typeface="Udemy Sans"/>
                          <a:ea typeface="Arial MT"/>
                          <a:cs typeface="Arial MT"/>
                        </a:rPr>
                        <a:t>Non static Fields</a:t>
                      </a:r>
                      <a:r>
                        <a:rPr lang="en-US" sz="1400" spc="-4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are stored</a:t>
                      </a:r>
                      <a:r>
                        <a:rPr lang="en-US" sz="1400" spc="-4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in the object.</a:t>
                      </a:r>
                      <a:r>
                        <a:rPr lang="en-US" sz="1400" spc="-4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That </a:t>
                      </a:r>
                      <a:r>
                        <a:rPr lang="en-US" sz="1400">
                          <a:solidFill>
                            <a:schemeClr val="bg1"/>
                          </a:solidFill>
                          <a:effectLst/>
                          <a:latin typeface="Udemy Sans"/>
                          <a:ea typeface="Arial MT"/>
                          <a:cs typeface="Arial MT"/>
                        </a:rPr>
                        <a:t>means when you create an object for the class, the</a:t>
                      </a:r>
                      <a:r>
                        <a:rPr lang="en-US" sz="1400" spc="-3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memory</a:t>
                      </a:r>
                      <a:r>
                        <a:rPr lang="en-US" sz="1400" spc="-5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will</a:t>
                      </a:r>
                      <a:r>
                        <a:rPr lang="en-US" sz="1400" spc="-6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be</a:t>
                      </a:r>
                      <a:r>
                        <a:rPr lang="en-US" sz="1400" spc="-3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allocated</a:t>
                      </a:r>
                      <a:r>
                        <a:rPr lang="en-US" sz="1400" spc="-4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for</a:t>
                      </a:r>
                      <a:r>
                        <a:rPr lang="en-US" sz="1400" spc="-4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all</a:t>
                      </a:r>
                      <a:r>
                        <a:rPr lang="en-US" sz="1400" spc="-4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the</a:t>
                      </a:r>
                      <a:r>
                        <a:rPr lang="en-US" sz="1400" spc="-3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non- static Fields in the object.</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marR="76200">
                        <a:lnSpc>
                          <a:spcPct val="146000"/>
                        </a:lnSpc>
                        <a:spcBef>
                          <a:spcPts val="215"/>
                        </a:spcBef>
                      </a:pPr>
                      <a:r>
                        <a:rPr lang="en-US" sz="1400" spc="-30" dirty="0">
                          <a:solidFill>
                            <a:schemeClr val="bg1"/>
                          </a:solidFill>
                          <a:effectLst/>
                          <a:latin typeface="Udemy Sans"/>
                          <a:ea typeface="Arial MT"/>
                          <a:cs typeface="Arial MT"/>
                        </a:rPr>
                        <a:t>For</a:t>
                      </a:r>
                      <a:r>
                        <a:rPr lang="en-US" sz="1400" spc="-5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static</a:t>
                      </a:r>
                      <a:r>
                        <a:rPr lang="en-US" sz="1400" spc="-4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Fields,</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memory</a:t>
                      </a:r>
                      <a:r>
                        <a:rPr lang="en-US" sz="1400" spc="-7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will</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not</a:t>
                      </a:r>
                      <a:r>
                        <a:rPr lang="en-US" sz="1400" spc="-6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be</a:t>
                      </a:r>
                      <a:r>
                        <a:rPr lang="en-US" sz="1400" spc="-4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allocated</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in the</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object.</a:t>
                      </a:r>
                      <a:r>
                        <a:rPr lang="en-US" sz="1400" spc="-5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When</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you</a:t>
                      </a:r>
                      <a:r>
                        <a:rPr lang="en-US" sz="1400" spc="-6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access</a:t>
                      </a:r>
                      <a:r>
                        <a:rPr lang="en-US" sz="1400" spc="-6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the</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class</a:t>
                      </a:r>
                      <a:r>
                        <a:rPr lang="en-US" sz="1400" spc="-6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name</a:t>
                      </a:r>
                      <a:r>
                        <a:rPr lang="en-US" sz="1400" spc="-5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for </a:t>
                      </a:r>
                      <a:r>
                        <a:rPr lang="en-US" sz="1400" spc="-10" dirty="0">
                          <a:solidFill>
                            <a:schemeClr val="bg1"/>
                          </a:solidFill>
                          <a:effectLst/>
                          <a:latin typeface="Udemy Sans"/>
                          <a:ea typeface="Arial MT"/>
                          <a:cs typeface="Arial MT"/>
                        </a:rPr>
                        <a:t>the</a:t>
                      </a:r>
                      <a:r>
                        <a:rPr lang="en-US" sz="1400" spc="-70"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first</a:t>
                      </a:r>
                      <a:r>
                        <a:rPr lang="en-US" sz="1400" spc="-65"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time</a:t>
                      </a:r>
                      <a:r>
                        <a:rPr lang="en-US" sz="1400" spc="-65"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in</a:t>
                      </a:r>
                      <a:r>
                        <a:rPr lang="en-US" sz="1400" spc="-70"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the</a:t>
                      </a:r>
                      <a:r>
                        <a:rPr lang="en-US" sz="1400" spc="-65"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main</a:t>
                      </a:r>
                      <a:r>
                        <a:rPr lang="en-US" sz="1400" spc="-65"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method,</a:t>
                      </a:r>
                      <a:r>
                        <a:rPr lang="en-US" sz="1400" spc="-65"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then</a:t>
                      </a:r>
                      <a:r>
                        <a:rPr lang="en-US" sz="1400" spc="-70"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memory </a:t>
                      </a:r>
                      <a:r>
                        <a:rPr lang="en-US" sz="1400" dirty="0">
                          <a:solidFill>
                            <a:schemeClr val="bg1"/>
                          </a:solidFill>
                          <a:effectLst/>
                          <a:latin typeface="Udemy Sans"/>
                          <a:ea typeface="Arial MT"/>
                          <a:cs typeface="Arial MT"/>
                        </a:rPr>
                        <a:t>will</a:t>
                      </a:r>
                      <a:r>
                        <a:rPr lang="en-US" sz="1400" spc="-4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be</a:t>
                      </a:r>
                      <a:r>
                        <a:rPr lang="en-US" sz="1400" spc="-4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allocated</a:t>
                      </a:r>
                      <a:r>
                        <a:rPr lang="en-US" sz="1400" spc="-5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for</a:t>
                      </a:r>
                      <a:r>
                        <a:rPr lang="en-US" sz="1400" spc="-4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the</a:t>
                      </a:r>
                      <a:r>
                        <a:rPr lang="en-US" sz="1400" spc="-4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static</a:t>
                      </a:r>
                      <a:r>
                        <a:rPr lang="en-US" sz="1400" spc="-4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Fields.</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3296817123"/>
                  </a:ext>
                </a:extLst>
              </a:tr>
              <a:tr h="520314">
                <a:tc>
                  <a:txBody>
                    <a:bodyPr/>
                    <a:lstStyle/>
                    <a:p>
                      <a:pPr marL="67945">
                        <a:spcBef>
                          <a:spcPts val="215"/>
                        </a:spcBef>
                      </a:pPr>
                      <a:r>
                        <a:rPr lang="en-US" sz="1400" spc="-50" dirty="0">
                          <a:solidFill>
                            <a:schemeClr val="bg1"/>
                          </a:solidFill>
                          <a:effectLst/>
                          <a:latin typeface="Udemy Sans"/>
                          <a:ea typeface="Arial MT"/>
                          <a:cs typeface="Arial MT"/>
                        </a:rPr>
                        <a:t>3</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spcBef>
                          <a:spcPts val="215"/>
                        </a:spcBef>
                      </a:pPr>
                      <a:r>
                        <a:rPr lang="en-US" sz="1400" spc="-30">
                          <a:solidFill>
                            <a:schemeClr val="bg1"/>
                          </a:solidFill>
                          <a:effectLst/>
                          <a:latin typeface="Udemy Sans"/>
                          <a:ea typeface="Arial MT"/>
                          <a:cs typeface="Arial MT"/>
                        </a:rPr>
                        <a:t>Non-static</a:t>
                      </a:r>
                      <a:r>
                        <a:rPr lang="en-US" sz="1400" spc="-3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Field’s</a:t>
                      </a:r>
                      <a:r>
                        <a:rPr lang="en-US" sz="1400" spc="-4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memory</a:t>
                      </a:r>
                      <a:r>
                        <a:rPr lang="en-US" sz="1400" spc="-6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will</a:t>
                      </a:r>
                      <a:r>
                        <a:rPr lang="en-US" sz="1400" spc="-3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be allocated</a:t>
                      </a:r>
                      <a:endParaRPr lang="en-IN" sz="1400">
                        <a:solidFill>
                          <a:schemeClr val="bg1"/>
                        </a:solidFill>
                        <a:effectLst/>
                        <a:latin typeface="Udemy Sans"/>
                        <a:ea typeface="Arial MT"/>
                        <a:cs typeface="Arial MT"/>
                      </a:endParaRPr>
                    </a:p>
                    <a:p>
                      <a:pPr marL="67945">
                        <a:spcBef>
                          <a:spcPts val="595"/>
                        </a:spcBef>
                      </a:pPr>
                      <a:r>
                        <a:rPr lang="en-US" sz="1400" spc="-30">
                          <a:solidFill>
                            <a:schemeClr val="bg1"/>
                          </a:solidFill>
                          <a:effectLst/>
                          <a:latin typeface="Udemy Sans"/>
                          <a:ea typeface="Arial MT"/>
                          <a:cs typeface="Arial MT"/>
                        </a:rPr>
                        <a:t>separately</a:t>
                      </a:r>
                      <a:r>
                        <a:rPr lang="en-US" sz="1400" spc="-2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for</a:t>
                      </a:r>
                      <a:r>
                        <a:rPr lang="en-US" sz="1400" spc="-2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every</a:t>
                      </a:r>
                      <a:r>
                        <a:rPr lang="en-US" sz="1400" spc="-2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object</a:t>
                      </a:r>
                      <a:r>
                        <a:rPr lang="en-US" sz="1400" spc="-3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of</a:t>
                      </a:r>
                      <a:r>
                        <a:rPr lang="en-US" sz="1400" spc="-2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the</a:t>
                      </a:r>
                      <a:r>
                        <a:rPr lang="en-US" sz="1400" spc="-2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class.</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spcBef>
                          <a:spcPts val="215"/>
                        </a:spcBef>
                      </a:pPr>
                      <a:r>
                        <a:rPr lang="en-US" sz="1400">
                          <a:solidFill>
                            <a:schemeClr val="bg1"/>
                          </a:solidFill>
                          <a:effectLst/>
                          <a:latin typeface="Udemy Sans"/>
                          <a:ea typeface="Arial MT"/>
                          <a:cs typeface="Arial MT"/>
                        </a:rPr>
                        <a:t>Static</a:t>
                      </a:r>
                      <a:r>
                        <a:rPr lang="en-US" sz="1400" spc="5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Field’s</a:t>
                      </a:r>
                      <a:r>
                        <a:rPr lang="en-US" sz="1400" spc="4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memory</a:t>
                      </a:r>
                      <a:r>
                        <a:rPr lang="en-US" sz="1400" spc="4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will</a:t>
                      </a:r>
                      <a:r>
                        <a:rPr lang="en-US" sz="1400" spc="3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be</a:t>
                      </a:r>
                      <a:r>
                        <a:rPr lang="en-US" sz="1400" spc="6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allocated</a:t>
                      </a:r>
                      <a:r>
                        <a:rPr lang="en-US" sz="1400" spc="4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only</a:t>
                      </a:r>
                      <a:r>
                        <a:rPr lang="en-US" sz="1400" spc="45">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once</a:t>
                      </a:r>
                      <a:endParaRPr lang="en-IN" sz="1400">
                        <a:solidFill>
                          <a:schemeClr val="bg1"/>
                        </a:solidFill>
                        <a:effectLst/>
                        <a:latin typeface="Udemy Sans"/>
                        <a:ea typeface="Arial MT"/>
                        <a:cs typeface="Arial MT"/>
                      </a:endParaRPr>
                    </a:p>
                    <a:p>
                      <a:pPr marL="67945">
                        <a:spcBef>
                          <a:spcPts val="595"/>
                        </a:spcBef>
                      </a:pPr>
                      <a:r>
                        <a:rPr lang="en-US" sz="1400">
                          <a:solidFill>
                            <a:schemeClr val="bg1"/>
                          </a:solidFill>
                          <a:effectLst/>
                          <a:latin typeface="Udemy Sans"/>
                          <a:ea typeface="Arial MT"/>
                          <a:cs typeface="Arial MT"/>
                        </a:rPr>
                        <a:t>for</a:t>
                      </a:r>
                      <a:r>
                        <a:rPr lang="en-US" sz="1400" spc="-5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entire</a:t>
                      </a:r>
                      <a:r>
                        <a:rPr lang="en-US" sz="1400" spc="-60">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project.</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629086946"/>
                  </a:ext>
                </a:extLst>
              </a:tr>
              <a:tr h="472414">
                <a:tc>
                  <a:txBody>
                    <a:bodyPr/>
                    <a:lstStyle/>
                    <a:p>
                      <a:pPr marL="67945">
                        <a:spcBef>
                          <a:spcPts val="225"/>
                        </a:spcBef>
                      </a:pPr>
                      <a:r>
                        <a:rPr lang="en-US" sz="1400" spc="-50" dirty="0">
                          <a:solidFill>
                            <a:schemeClr val="bg1"/>
                          </a:solidFill>
                          <a:effectLst/>
                          <a:latin typeface="Udemy Sans"/>
                          <a:ea typeface="Arial MT"/>
                          <a:cs typeface="Arial MT"/>
                        </a:rPr>
                        <a:t>4</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lnSpc>
                          <a:spcPct val="146000"/>
                        </a:lnSpc>
                        <a:spcBef>
                          <a:spcPts val="215"/>
                        </a:spcBef>
                      </a:pPr>
                      <a:r>
                        <a:rPr lang="en-US" sz="1400" spc="-40">
                          <a:solidFill>
                            <a:schemeClr val="bg1"/>
                          </a:solidFill>
                          <a:effectLst/>
                          <a:latin typeface="Udemy Sans"/>
                          <a:ea typeface="Arial MT"/>
                          <a:cs typeface="Arial MT"/>
                        </a:rPr>
                        <a:t>Non-static Fields accessible with reference </a:t>
                      </a:r>
                      <a:r>
                        <a:rPr lang="en-US" sz="1400" spc="-10">
                          <a:solidFill>
                            <a:schemeClr val="bg1"/>
                          </a:solidFill>
                          <a:effectLst/>
                          <a:latin typeface="Udemy Sans"/>
                          <a:ea typeface="Arial MT"/>
                          <a:cs typeface="Arial MT"/>
                        </a:rPr>
                        <a:t>variable.</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spcBef>
                          <a:spcPts val="225"/>
                        </a:spcBef>
                      </a:pPr>
                      <a:r>
                        <a:rPr lang="en-US" sz="1400">
                          <a:solidFill>
                            <a:schemeClr val="bg1"/>
                          </a:solidFill>
                          <a:effectLst/>
                          <a:latin typeface="Udemy Sans"/>
                          <a:ea typeface="Arial MT"/>
                          <a:cs typeface="Arial MT"/>
                        </a:rPr>
                        <a:t>Static</a:t>
                      </a:r>
                      <a:r>
                        <a:rPr lang="en-US" sz="1400" spc="2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Fields</a:t>
                      </a:r>
                      <a:r>
                        <a:rPr lang="en-US" sz="1400" spc="1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are</a:t>
                      </a:r>
                      <a:r>
                        <a:rPr lang="en-US" sz="1400" spc="2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accessible</a:t>
                      </a:r>
                      <a:r>
                        <a:rPr lang="en-US" sz="1400" spc="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with</a:t>
                      </a:r>
                      <a:r>
                        <a:rPr lang="en-US" sz="1400" spc="1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class.</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734205255"/>
                  </a:ext>
                </a:extLst>
              </a:tr>
              <a:tr h="674956">
                <a:tc>
                  <a:txBody>
                    <a:bodyPr/>
                    <a:lstStyle/>
                    <a:p>
                      <a:pPr marL="67945">
                        <a:spcBef>
                          <a:spcPts val="215"/>
                        </a:spcBef>
                      </a:pPr>
                      <a:r>
                        <a:rPr lang="en-US" sz="1400" spc="-50" dirty="0">
                          <a:solidFill>
                            <a:schemeClr val="bg1"/>
                          </a:solidFill>
                          <a:effectLst/>
                          <a:latin typeface="Udemy Sans"/>
                          <a:ea typeface="Arial MT"/>
                          <a:cs typeface="Arial MT"/>
                        </a:rPr>
                        <a:t>5</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spcBef>
                          <a:spcPts val="215"/>
                        </a:spcBef>
                      </a:pPr>
                      <a:r>
                        <a:rPr lang="en-US" sz="1400" spc="-30">
                          <a:solidFill>
                            <a:schemeClr val="bg1"/>
                          </a:solidFill>
                          <a:effectLst/>
                          <a:latin typeface="Udemy Sans"/>
                          <a:ea typeface="Arial MT"/>
                          <a:cs typeface="Arial MT"/>
                        </a:rPr>
                        <a:t>If</a:t>
                      </a:r>
                      <a:r>
                        <a:rPr lang="en-US" sz="1400" spc="-5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you</a:t>
                      </a:r>
                      <a:r>
                        <a:rPr lang="en-US" sz="1400" spc="-5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don’t</a:t>
                      </a:r>
                      <a:r>
                        <a:rPr lang="en-US" sz="1400" spc="-4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create</a:t>
                      </a:r>
                      <a:r>
                        <a:rPr lang="en-US" sz="1400" spc="-4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an</a:t>
                      </a:r>
                      <a:r>
                        <a:rPr lang="en-US" sz="1400" spc="-4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object</a:t>
                      </a:r>
                      <a:r>
                        <a:rPr lang="en-US" sz="1400" spc="-4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for</a:t>
                      </a:r>
                      <a:r>
                        <a:rPr lang="en-US" sz="1400" spc="-4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the</a:t>
                      </a:r>
                      <a:r>
                        <a:rPr lang="en-US" sz="1400" spc="-4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class,</a:t>
                      </a:r>
                      <a:r>
                        <a:rPr lang="en-US" sz="1400" spc="-4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no</a:t>
                      </a:r>
                      <a:endParaRPr lang="en-IN" sz="1400">
                        <a:solidFill>
                          <a:schemeClr val="bg1"/>
                        </a:solidFill>
                        <a:effectLst/>
                        <a:latin typeface="Udemy Sans"/>
                        <a:ea typeface="Arial MT"/>
                        <a:cs typeface="Arial MT"/>
                      </a:endParaRPr>
                    </a:p>
                    <a:p>
                      <a:pPr marL="67945">
                        <a:spcBef>
                          <a:spcPts val="595"/>
                        </a:spcBef>
                      </a:pPr>
                      <a:r>
                        <a:rPr lang="en-US" sz="1400" spc="-30">
                          <a:solidFill>
                            <a:schemeClr val="bg1"/>
                          </a:solidFill>
                          <a:effectLst/>
                          <a:latin typeface="Udemy Sans"/>
                          <a:ea typeface="Arial MT"/>
                          <a:cs typeface="Arial MT"/>
                        </a:rPr>
                        <a:t>memory</a:t>
                      </a:r>
                      <a:r>
                        <a:rPr lang="en-US" sz="1400" spc="-1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will</a:t>
                      </a:r>
                      <a:r>
                        <a:rPr lang="en-US" sz="140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be</a:t>
                      </a:r>
                      <a:r>
                        <a:rPr lang="en-US" sz="140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allocated</a:t>
                      </a:r>
                      <a:r>
                        <a:rPr lang="en-US" sz="1400" spc="-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for</a:t>
                      </a:r>
                      <a:r>
                        <a:rPr lang="en-US" sz="1400" spc="-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non-static</a:t>
                      </a:r>
                      <a:r>
                        <a:rPr lang="en-US" sz="1400" spc="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Field.</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marR="76200">
                        <a:lnSpc>
                          <a:spcPct val="146000"/>
                        </a:lnSpc>
                        <a:spcBef>
                          <a:spcPts val="215"/>
                        </a:spcBef>
                      </a:pPr>
                      <a:r>
                        <a:rPr lang="en-US" sz="1400" dirty="0">
                          <a:solidFill>
                            <a:schemeClr val="bg1"/>
                          </a:solidFill>
                          <a:effectLst/>
                          <a:latin typeface="Udemy Sans"/>
                          <a:ea typeface="Arial MT"/>
                          <a:cs typeface="Arial MT"/>
                        </a:rPr>
                        <a:t>If</a:t>
                      </a:r>
                      <a:r>
                        <a:rPr lang="en-US" sz="1400" spc="-8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you</a:t>
                      </a:r>
                      <a:r>
                        <a:rPr lang="en-US" sz="1400" spc="-7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don’t</a:t>
                      </a:r>
                      <a:r>
                        <a:rPr lang="en-US" sz="1400" spc="-7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access</a:t>
                      </a:r>
                      <a:r>
                        <a:rPr lang="en-US" sz="1400" spc="-8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the</a:t>
                      </a:r>
                      <a:r>
                        <a:rPr lang="en-US" sz="1400" spc="-7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class</a:t>
                      </a:r>
                      <a:r>
                        <a:rPr lang="en-US" sz="1400" spc="-7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in</a:t>
                      </a:r>
                      <a:r>
                        <a:rPr lang="en-US" sz="1400" spc="-7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the</a:t>
                      </a:r>
                      <a:r>
                        <a:rPr lang="en-US" sz="1400" spc="-8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entire </a:t>
                      </a:r>
                      <a:r>
                        <a:rPr lang="en-US" sz="1400" spc="-30" dirty="0">
                          <a:solidFill>
                            <a:schemeClr val="bg1"/>
                          </a:solidFill>
                          <a:effectLst/>
                          <a:latin typeface="Udemy Sans"/>
                          <a:ea typeface="Arial MT"/>
                          <a:cs typeface="Arial MT"/>
                        </a:rPr>
                        <a:t>program,</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no</a:t>
                      </a:r>
                      <a:r>
                        <a:rPr lang="en-US" sz="1400" spc="-3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memory</a:t>
                      </a:r>
                      <a:r>
                        <a:rPr lang="en-US" sz="1400" spc="-4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will</a:t>
                      </a:r>
                      <a:r>
                        <a:rPr lang="en-US" sz="1400" spc="-3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be allocated</a:t>
                      </a:r>
                      <a:r>
                        <a:rPr lang="en-US" sz="1400" spc="-3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for</a:t>
                      </a:r>
                      <a:r>
                        <a:rPr lang="en-US" sz="1400" spc="-3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static </a:t>
                      </a:r>
                      <a:r>
                        <a:rPr lang="en-US" sz="1400" spc="-10" dirty="0">
                          <a:solidFill>
                            <a:schemeClr val="bg1"/>
                          </a:solidFill>
                          <a:effectLst/>
                          <a:latin typeface="Udemy Sans"/>
                          <a:ea typeface="Arial MT"/>
                          <a:cs typeface="Arial MT"/>
                        </a:rPr>
                        <a:t>Fields.</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2915036961"/>
                  </a:ext>
                </a:extLst>
              </a:tr>
              <a:tr h="813066">
                <a:tc>
                  <a:txBody>
                    <a:bodyPr/>
                    <a:lstStyle/>
                    <a:p>
                      <a:pPr marL="67945">
                        <a:spcBef>
                          <a:spcPts val="225"/>
                        </a:spcBef>
                      </a:pPr>
                      <a:r>
                        <a:rPr lang="en-US" sz="1400" spc="-50" dirty="0">
                          <a:solidFill>
                            <a:schemeClr val="bg1"/>
                          </a:solidFill>
                          <a:effectLst/>
                          <a:latin typeface="Udemy Sans"/>
                          <a:ea typeface="Arial MT"/>
                          <a:cs typeface="Arial MT"/>
                        </a:rPr>
                        <a:t>6</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marR="356235" algn="just">
                        <a:lnSpc>
                          <a:spcPct val="146000"/>
                        </a:lnSpc>
                        <a:spcBef>
                          <a:spcPts val="215"/>
                        </a:spcBef>
                      </a:pPr>
                      <a:r>
                        <a:rPr lang="en-US" sz="1400" spc="-10">
                          <a:solidFill>
                            <a:schemeClr val="bg1"/>
                          </a:solidFill>
                          <a:effectLst/>
                          <a:latin typeface="Udemy Sans"/>
                          <a:ea typeface="Arial MT"/>
                          <a:cs typeface="Arial MT"/>
                        </a:rPr>
                        <a:t>Use</a:t>
                      </a:r>
                      <a:r>
                        <a:rPr lang="en-US" sz="1400" spc="-70">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non-static</a:t>
                      </a:r>
                      <a:r>
                        <a:rPr lang="en-US" sz="1400" spc="-6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Fields</a:t>
                      </a:r>
                      <a:r>
                        <a:rPr lang="en-US" sz="1400" spc="-6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if</a:t>
                      </a:r>
                      <a:r>
                        <a:rPr lang="en-US" sz="1400" spc="-70">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you</a:t>
                      </a:r>
                      <a:r>
                        <a:rPr lang="en-US" sz="1400" spc="-6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want</a:t>
                      </a:r>
                      <a:r>
                        <a:rPr lang="en-US" sz="1400" spc="-6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to</a:t>
                      </a:r>
                      <a:r>
                        <a:rPr lang="en-US" sz="1400" spc="-6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store </a:t>
                      </a:r>
                      <a:r>
                        <a:rPr lang="en-US" sz="1400" spc="-20">
                          <a:solidFill>
                            <a:schemeClr val="bg1"/>
                          </a:solidFill>
                          <a:effectLst/>
                          <a:latin typeface="Udemy Sans"/>
                          <a:ea typeface="Arial MT"/>
                          <a:cs typeface="Arial MT"/>
                        </a:rPr>
                        <a:t>object-specific</a:t>
                      </a:r>
                      <a:r>
                        <a:rPr lang="en-US" sz="1400" spc="-35">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data</a:t>
                      </a:r>
                      <a:r>
                        <a:rPr lang="en-US" sz="1400" spc="-40">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(which</a:t>
                      </a:r>
                      <a:r>
                        <a:rPr lang="en-US" sz="1400" spc="-45">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is</a:t>
                      </a:r>
                      <a:r>
                        <a:rPr lang="en-US" sz="1400" spc="-45">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different</a:t>
                      </a:r>
                      <a:r>
                        <a:rPr lang="en-US" sz="1400" spc="-40">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for </a:t>
                      </a:r>
                      <a:r>
                        <a:rPr lang="en-US" sz="1400">
                          <a:solidFill>
                            <a:schemeClr val="bg1"/>
                          </a:solidFill>
                          <a:effectLst/>
                          <a:latin typeface="Udemy Sans"/>
                          <a:ea typeface="Arial MT"/>
                          <a:cs typeface="Arial MT"/>
                        </a:rPr>
                        <a:t>each</a:t>
                      </a:r>
                      <a:r>
                        <a:rPr lang="en-US" sz="1400" spc="-2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object).</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marR="76200">
                        <a:lnSpc>
                          <a:spcPct val="146000"/>
                        </a:lnSpc>
                        <a:spcBef>
                          <a:spcPts val="215"/>
                        </a:spcBef>
                      </a:pPr>
                      <a:r>
                        <a:rPr lang="en-US" sz="1400" spc="-30" dirty="0">
                          <a:solidFill>
                            <a:schemeClr val="bg1"/>
                          </a:solidFill>
                          <a:effectLst/>
                          <a:latin typeface="Udemy Sans"/>
                          <a:ea typeface="Arial MT"/>
                          <a:cs typeface="Arial MT"/>
                        </a:rPr>
                        <a:t>Use</a:t>
                      </a:r>
                      <a:r>
                        <a:rPr lang="en-US" sz="1400" spc="-4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static</a:t>
                      </a:r>
                      <a:r>
                        <a:rPr lang="en-US" sz="1400" spc="-4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Fields</a:t>
                      </a:r>
                      <a:r>
                        <a:rPr lang="en-US" sz="1400" spc="-5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if</a:t>
                      </a:r>
                      <a:r>
                        <a:rPr lang="en-US" sz="1400" spc="-5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you</a:t>
                      </a:r>
                      <a:r>
                        <a:rPr lang="en-US" sz="1400" spc="-5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want</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to</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store</a:t>
                      </a:r>
                      <a:r>
                        <a:rPr lang="en-US" sz="1400" spc="-4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common </a:t>
                      </a:r>
                      <a:r>
                        <a:rPr lang="en-US" sz="1400" dirty="0">
                          <a:solidFill>
                            <a:schemeClr val="bg1"/>
                          </a:solidFill>
                          <a:effectLst/>
                          <a:latin typeface="Udemy Sans"/>
                          <a:ea typeface="Arial MT"/>
                          <a:cs typeface="Arial MT"/>
                        </a:rPr>
                        <a:t>data</a:t>
                      </a:r>
                      <a:r>
                        <a:rPr lang="en-US" sz="1400" spc="-3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that</a:t>
                      </a:r>
                      <a:r>
                        <a:rPr lang="en-US" sz="1400" spc="-2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belongs</a:t>
                      </a:r>
                      <a:r>
                        <a:rPr lang="en-US" sz="1400" spc="-3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to</a:t>
                      </a:r>
                      <a:r>
                        <a:rPr lang="en-US" sz="1400" spc="-3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all</a:t>
                      </a:r>
                      <a:r>
                        <a:rPr lang="en-US" sz="1400" spc="-3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the</a:t>
                      </a:r>
                      <a:r>
                        <a:rPr lang="en-US" sz="1400" spc="-2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objects.</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866542430"/>
                  </a:ext>
                </a:extLst>
              </a:tr>
            </a:tbl>
          </a:graphicData>
        </a:graphic>
      </p:graphicFrame>
    </p:spTree>
    <p:extLst>
      <p:ext uri="{BB962C8B-B14F-4D97-AF65-F5344CB8AC3E}">
        <p14:creationId xmlns:p14="http://schemas.microsoft.com/office/powerpoint/2010/main" val="2332674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74F2C-5EB7-46EA-AAF4-859D2A13FF9F}"/>
              </a:ext>
            </a:extLst>
          </p:cNvPr>
          <p:cNvSpPr>
            <a:spLocks noGrp="1"/>
          </p:cNvSpPr>
          <p:nvPr>
            <p:ph type="title"/>
          </p:nvPr>
        </p:nvSpPr>
        <p:spPr>
          <a:xfrm>
            <a:off x="1216023" y="404036"/>
            <a:ext cx="9905998" cy="435937"/>
          </a:xfrm>
        </p:spPr>
        <p:txBody>
          <a:bodyPr>
            <a:normAutofit fontScale="90000"/>
          </a:bodyPr>
          <a:lstStyle/>
          <a:p>
            <a:r>
              <a:rPr lang="en-IN" dirty="0">
                <a:solidFill>
                  <a:schemeClr val="bg1"/>
                </a:solidFill>
              </a:rPr>
              <a:t>Methods</a:t>
            </a:r>
          </a:p>
        </p:txBody>
      </p:sp>
      <p:sp>
        <p:nvSpPr>
          <p:cNvPr id="3" name="Content Placeholder 2">
            <a:extLst>
              <a:ext uri="{FF2B5EF4-FFF2-40B4-BE49-F238E27FC236}">
                <a16:creationId xmlns:a16="http://schemas.microsoft.com/office/drawing/2014/main" id="{DB09A40C-BA9A-469F-9202-85BD57F9EBAD}"/>
              </a:ext>
            </a:extLst>
          </p:cNvPr>
          <p:cNvSpPr>
            <a:spLocks noGrp="1"/>
          </p:cNvSpPr>
          <p:nvPr>
            <p:ph sz="half" idx="1"/>
          </p:nvPr>
        </p:nvSpPr>
        <p:spPr>
          <a:xfrm>
            <a:off x="1216023" y="1611531"/>
            <a:ext cx="10286817" cy="4544719"/>
          </a:xfrm>
          <a:solidFill>
            <a:schemeClr val="tx1"/>
          </a:solidFill>
        </p:spPr>
        <p:txBody>
          <a:bodyPr>
            <a:normAutofit/>
          </a:bodyPr>
          <a:lstStyle/>
          <a:p>
            <a:r>
              <a:rPr lang="en-US" sz="2000" dirty="0">
                <a:solidFill>
                  <a:schemeClr val="bg1"/>
                </a:solidFill>
                <a:latin typeface="Udemy Sans"/>
              </a:rPr>
              <a:t>“</a:t>
            </a:r>
            <a:r>
              <a:rPr lang="en-US" sz="2000" dirty="0">
                <a:solidFill>
                  <a:srgbClr val="0070C0"/>
                </a:solidFill>
                <a:latin typeface="Udemy Sans"/>
              </a:rPr>
              <a:t>this</a:t>
            </a:r>
            <a:r>
              <a:rPr lang="en-US" sz="2000" dirty="0">
                <a:solidFill>
                  <a:schemeClr val="bg1"/>
                </a:solidFill>
                <a:latin typeface="Udemy Sans"/>
              </a:rPr>
              <a:t>” is a keyword, which represents “current object”, based on which, the method or constructor was called.</a:t>
            </a:r>
          </a:p>
          <a:p>
            <a:r>
              <a:rPr lang="en-US" sz="2000" dirty="0">
                <a:solidFill>
                  <a:schemeClr val="bg1"/>
                </a:solidFill>
                <a:latin typeface="Udemy Sans"/>
              </a:rPr>
              <a:t>“</a:t>
            </a:r>
            <a:r>
              <a:rPr lang="en-US" sz="2000" dirty="0">
                <a:solidFill>
                  <a:srgbClr val="0070C0"/>
                </a:solidFill>
                <a:latin typeface="Udemy Sans"/>
              </a:rPr>
              <a:t>this</a:t>
            </a:r>
            <a:r>
              <a:rPr lang="en-US" sz="2000" dirty="0">
                <a:solidFill>
                  <a:schemeClr val="bg1"/>
                </a:solidFill>
                <a:latin typeface="Udemy Sans"/>
              </a:rPr>
              <a:t>” keyword can be used in non-static methods and non-static constructors only. “this” keyword can’t be used in static methods or static constructors.</a:t>
            </a:r>
          </a:p>
          <a:p>
            <a:r>
              <a:rPr lang="en-US" sz="2000" dirty="0">
                <a:solidFill>
                  <a:schemeClr val="bg1"/>
                </a:solidFill>
                <a:latin typeface="Udemy Sans"/>
              </a:rPr>
              <a:t>It is used to access the members of current object.</a:t>
            </a:r>
          </a:p>
          <a:p>
            <a:r>
              <a:rPr lang="en-US" sz="2000" dirty="0">
                <a:solidFill>
                  <a:schemeClr val="bg1"/>
                </a:solidFill>
                <a:latin typeface="Udemy Sans"/>
              </a:rPr>
              <a:t>By default, the usage of </a:t>
            </a:r>
            <a:r>
              <a:rPr lang="en-US" sz="2000" dirty="0">
                <a:solidFill>
                  <a:srgbClr val="0070C0"/>
                </a:solidFill>
                <a:latin typeface="Udemy Sans"/>
              </a:rPr>
              <a:t>“this” </a:t>
            </a:r>
            <a:r>
              <a:rPr lang="en-US" sz="2000" dirty="0">
                <a:solidFill>
                  <a:schemeClr val="bg1"/>
                </a:solidFill>
                <a:latin typeface="Udemy Sans"/>
              </a:rPr>
              <a:t>keyword is optional. By default system referrers to “current object”. But when a local variable name and Field name are same, then by default the system refers to local variable. Then if you want to access Field name, you must use </a:t>
            </a:r>
            <a:r>
              <a:rPr lang="en-US" sz="2000" dirty="0">
                <a:solidFill>
                  <a:srgbClr val="0070C0"/>
                </a:solidFill>
                <a:latin typeface="Udemy Sans"/>
              </a:rPr>
              <a:t>“</a:t>
            </a:r>
            <a:r>
              <a:rPr lang="en-US" sz="2000" dirty="0" err="1">
                <a:solidFill>
                  <a:srgbClr val="0070C0"/>
                </a:solidFill>
                <a:latin typeface="Udemy Sans"/>
              </a:rPr>
              <a:t>this.Field</a:t>
            </a:r>
            <a:r>
              <a:rPr lang="en-US" sz="2000" dirty="0">
                <a:solidFill>
                  <a:srgbClr val="0070C0"/>
                </a:solidFill>
                <a:latin typeface="Udemy Sans"/>
              </a:rPr>
              <a:t>”. </a:t>
            </a:r>
            <a:r>
              <a:rPr lang="en-US" sz="2000" dirty="0">
                <a:solidFill>
                  <a:schemeClr val="bg1"/>
                </a:solidFill>
                <a:latin typeface="Udemy Sans"/>
              </a:rPr>
              <a:t>So in that way </a:t>
            </a:r>
            <a:r>
              <a:rPr lang="en-US" sz="2000" dirty="0">
                <a:solidFill>
                  <a:srgbClr val="0070C0"/>
                </a:solidFill>
                <a:latin typeface="Udemy Sans"/>
              </a:rPr>
              <a:t>“this” </a:t>
            </a:r>
            <a:r>
              <a:rPr lang="en-US" sz="2000" dirty="0">
                <a:solidFill>
                  <a:schemeClr val="bg1"/>
                </a:solidFill>
                <a:latin typeface="Udemy Sans"/>
              </a:rPr>
              <a:t>keyword is must to use</a:t>
            </a:r>
            <a:endParaRPr lang="en-IN" sz="2000" dirty="0">
              <a:solidFill>
                <a:schemeClr val="bg1"/>
              </a:solidFill>
              <a:latin typeface="Udemy Sans"/>
            </a:endParaRPr>
          </a:p>
        </p:txBody>
      </p:sp>
    </p:spTree>
    <p:extLst>
      <p:ext uri="{BB962C8B-B14F-4D97-AF65-F5344CB8AC3E}">
        <p14:creationId xmlns:p14="http://schemas.microsoft.com/office/powerpoint/2010/main" val="2612778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74F2C-5EB7-46EA-AAF4-859D2A13FF9F}"/>
              </a:ext>
            </a:extLst>
          </p:cNvPr>
          <p:cNvSpPr>
            <a:spLocks noGrp="1"/>
          </p:cNvSpPr>
          <p:nvPr>
            <p:ph type="title"/>
          </p:nvPr>
        </p:nvSpPr>
        <p:spPr>
          <a:xfrm>
            <a:off x="556622" y="180694"/>
            <a:ext cx="9905998" cy="440524"/>
          </a:xfrm>
        </p:spPr>
        <p:txBody>
          <a:bodyPr>
            <a:normAutofit fontScale="90000"/>
          </a:bodyPr>
          <a:lstStyle/>
          <a:p>
            <a:r>
              <a:rPr lang="en-IN" sz="2800" dirty="0">
                <a:solidFill>
                  <a:schemeClr val="bg1"/>
                </a:solidFill>
                <a:latin typeface="Udemy Sans"/>
              </a:rPr>
              <a:t>Static</a:t>
            </a:r>
            <a:r>
              <a:rPr lang="en-IN" dirty="0">
                <a:solidFill>
                  <a:schemeClr val="bg1"/>
                </a:solidFill>
              </a:rPr>
              <a:t> </a:t>
            </a:r>
            <a:r>
              <a:rPr lang="en-IN" sz="2800" dirty="0">
                <a:solidFill>
                  <a:schemeClr val="bg1"/>
                </a:solidFill>
                <a:latin typeface="Udemy Sans"/>
              </a:rPr>
              <a:t>Method</a:t>
            </a:r>
          </a:p>
        </p:txBody>
      </p:sp>
      <p:graphicFrame>
        <p:nvGraphicFramePr>
          <p:cNvPr id="4" name="Content Placeholder 3">
            <a:extLst>
              <a:ext uri="{FF2B5EF4-FFF2-40B4-BE49-F238E27FC236}">
                <a16:creationId xmlns:a16="http://schemas.microsoft.com/office/drawing/2014/main" id="{DB3B40A3-D5C4-4475-92ED-9C2EDBF9484A}"/>
              </a:ext>
            </a:extLst>
          </p:cNvPr>
          <p:cNvGraphicFramePr>
            <a:graphicFrameLocks noGrp="1"/>
          </p:cNvGraphicFramePr>
          <p:nvPr>
            <p:ph sz="half" idx="1"/>
            <p:extLst>
              <p:ext uri="{D42A27DB-BD31-4B8C-83A1-F6EECF244321}">
                <p14:modId xmlns:p14="http://schemas.microsoft.com/office/powerpoint/2010/main" val="2750139614"/>
              </p:ext>
            </p:extLst>
          </p:nvPr>
        </p:nvGraphicFramePr>
        <p:xfrm>
          <a:off x="3891516" y="712380"/>
          <a:ext cx="8135679" cy="5744664"/>
        </p:xfrm>
        <a:graphic>
          <a:graphicData uri="http://schemas.openxmlformats.org/drawingml/2006/table">
            <a:tbl>
              <a:tblPr firstRow="1" firstCol="1" lastRow="1" lastCol="1" bandRow="1" bandCol="1"/>
              <a:tblGrid>
                <a:gridCol w="478464">
                  <a:extLst>
                    <a:ext uri="{9D8B030D-6E8A-4147-A177-3AD203B41FA5}">
                      <a16:colId xmlns:a16="http://schemas.microsoft.com/office/drawing/2014/main" val="3042600734"/>
                    </a:ext>
                  </a:extLst>
                </a:gridCol>
                <a:gridCol w="3430771">
                  <a:extLst>
                    <a:ext uri="{9D8B030D-6E8A-4147-A177-3AD203B41FA5}">
                      <a16:colId xmlns:a16="http://schemas.microsoft.com/office/drawing/2014/main" val="92297020"/>
                    </a:ext>
                  </a:extLst>
                </a:gridCol>
                <a:gridCol w="4226444">
                  <a:extLst>
                    <a:ext uri="{9D8B030D-6E8A-4147-A177-3AD203B41FA5}">
                      <a16:colId xmlns:a16="http://schemas.microsoft.com/office/drawing/2014/main" val="3074190593"/>
                    </a:ext>
                  </a:extLst>
                </a:gridCol>
              </a:tblGrid>
              <a:tr h="425304">
                <a:tc>
                  <a:txBody>
                    <a:bodyPr/>
                    <a:lstStyle/>
                    <a:p>
                      <a:pPr marL="67945" marR="93980">
                        <a:spcBef>
                          <a:spcPts val="20"/>
                        </a:spcBef>
                        <a:spcAft>
                          <a:spcPts val="0"/>
                        </a:spcAft>
                      </a:pPr>
                      <a:r>
                        <a:rPr lang="en-US" sz="1400" b="1" spc="-20" dirty="0">
                          <a:solidFill>
                            <a:schemeClr val="bg1"/>
                          </a:solidFill>
                          <a:effectLst/>
                          <a:latin typeface="Udemy Sans"/>
                          <a:ea typeface="Arial MT"/>
                          <a:cs typeface="Arial MT"/>
                        </a:rPr>
                        <a:t>Sl. </a:t>
                      </a:r>
                      <a:r>
                        <a:rPr lang="en-US" sz="1400" b="1" spc="-30" dirty="0">
                          <a:solidFill>
                            <a:schemeClr val="bg1"/>
                          </a:solidFill>
                          <a:effectLst/>
                          <a:latin typeface="Udemy Sans"/>
                          <a:ea typeface="Arial MT"/>
                          <a:cs typeface="Arial MT"/>
                        </a:rPr>
                        <a:t>No</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E1DFCC"/>
                    </a:solidFill>
                  </a:tcPr>
                </a:tc>
                <a:tc>
                  <a:txBody>
                    <a:bodyPr/>
                    <a:lstStyle/>
                    <a:p>
                      <a:pPr marL="633730">
                        <a:spcBef>
                          <a:spcPts val="215"/>
                        </a:spcBef>
                      </a:pPr>
                      <a:r>
                        <a:rPr lang="en-US" sz="1400" spc="-20" dirty="0">
                          <a:solidFill>
                            <a:schemeClr val="bg1"/>
                          </a:solidFill>
                          <a:effectLst/>
                          <a:latin typeface="Udemy Sans"/>
                          <a:ea typeface="Arial MT"/>
                          <a:cs typeface="Arial MT"/>
                        </a:rPr>
                        <a:t>Non-Static</a:t>
                      </a:r>
                      <a:r>
                        <a:rPr lang="en-US" sz="1400" spc="5" dirty="0">
                          <a:solidFill>
                            <a:schemeClr val="bg1"/>
                          </a:solidFill>
                          <a:effectLst/>
                          <a:latin typeface="Udemy Sans"/>
                          <a:ea typeface="Arial MT"/>
                          <a:cs typeface="Arial MT"/>
                        </a:rPr>
                        <a:t> </a:t>
                      </a:r>
                      <a:r>
                        <a:rPr lang="en-US" sz="1400" spc="-20" dirty="0">
                          <a:solidFill>
                            <a:schemeClr val="bg1"/>
                          </a:solidFill>
                          <a:effectLst/>
                          <a:latin typeface="Udemy Sans"/>
                          <a:ea typeface="Arial MT"/>
                          <a:cs typeface="Arial MT"/>
                        </a:rPr>
                        <a:t>Methods</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E1DFCC"/>
                    </a:solidFill>
                  </a:tcPr>
                </a:tc>
                <a:tc>
                  <a:txBody>
                    <a:bodyPr/>
                    <a:lstStyle/>
                    <a:p>
                      <a:pPr marL="5715" algn="ctr">
                        <a:spcBef>
                          <a:spcPts val="215"/>
                        </a:spcBef>
                      </a:pPr>
                      <a:r>
                        <a:rPr lang="en-US" sz="1400" spc="-20">
                          <a:solidFill>
                            <a:schemeClr val="bg1"/>
                          </a:solidFill>
                          <a:effectLst/>
                          <a:latin typeface="Udemy Sans"/>
                          <a:ea typeface="Arial MT"/>
                          <a:cs typeface="Arial MT"/>
                        </a:rPr>
                        <a:t>Static</a:t>
                      </a:r>
                      <a:r>
                        <a:rPr lang="en-US" sz="1400" spc="-1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Methods</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E1DFCC"/>
                    </a:solidFill>
                  </a:tcPr>
                </a:tc>
                <a:extLst>
                  <a:ext uri="{0D108BD9-81ED-4DB2-BD59-A6C34878D82A}">
                    <a16:rowId xmlns:a16="http://schemas.microsoft.com/office/drawing/2014/main" val="2882286043"/>
                  </a:ext>
                </a:extLst>
              </a:tr>
              <a:tr h="803282">
                <a:tc>
                  <a:txBody>
                    <a:bodyPr/>
                    <a:lstStyle/>
                    <a:p>
                      <a:pPr marL="67945">
                        <a:spcBef>
                          <a:spcPts val="210"/>
                        </a:spcBef>
                      </a:pPr>
                      <a:r>
                        <a:rPr lang="en-US" sz="1400" spc="-50">
                          <a:solidFill>
                            <a:schemeClr val="bg1"/>
                          </a:solidFill>
                          <a:effectLst/>
                          <a:latin typeface="Udemy Sans"/>
                          <a:ea typeface="Arial MT"/>
                          <a:cs typeface="Arial MT"/>
                        </a:rPr>
                        <a:t>1</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lnSpc>
                          <a:spcPct val="146000"/>
                        </a:lnSpc>
                        <a:spcBef>
                          <a:spcPts val="210"/>
                        </a:spcBef>
                      </a:pPr>
                      <a:r>
                        <a:rPr lang="en-US" sz="1400" dirty="0">
                          <a:solidFill>
                            <a:schemeClr val="bg1"/>
                          </a:solidFill>
                          <a:effectLst/>
                          <a:latin typeface="Udemy Sans"/>
                          <a:ea typeface="Arial MT"/>
                          <a:cs typeface="Arial MT"/>
                        </a:rPr>
                        <a:t>By</a:t>
                      </a:r>
                      <a:r>
                        <a:rPr lang="en-US" sz="1400" spc="-6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default,</a:t>
                      </a:r>
                      <a:r>
                        <a:rPr lang="en-US" sz="1400" spc="-6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all</a:t>
                      </a:r>
                      <a:r>
                        <a:rPr lang="en-US" sz="1400" spc="-6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the</a:t>
                      </a:r>
                      <a:r>
                        <a:rPr lang="en-US" sz="1400" spc="-5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methods</a:t>
                      </a:r>
                      <a:r>
                        <a:rPr lang="en-US" sz="1400" spc="-6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are</a:t>
                      </a:r>
                      <a:r>
                        <a:rPr lang="en-US" sz="1400" spc="-5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non- </a:t>
                      </a:r>
                      <a:r>
                        <a:rPr lang="en-US" sz="1400" spc="-40" dirty="0">
                          <a:solidFill>
                            <a:schemeClr val="bg1"/>
                          </a:solidFill>
                          <a:effectLst/>
                          <a:latin typeface="Udemy Sans"/>
                          <a:ea typeface="Arial MT"/>
                          <a:cs typeface="Arial MT"/>
                        </a:rPr>
                        <a:t>static methods. These are</a:t>
                      </a:r>
                      <a:r>
                        <a:rPr lang="en-US" sz="1400" spc="-45" dirty="0">
                          <a:solidFill>
                            <a:schemeClr val="bg1"/>
                          </a:solidFill>
                          <a:effectLst/>
                          <a:latin typeface="Udemy Sans"/>
                          <a:ea typeface="Arial MT"/>
                          <a:cs typeface="Arial MT"/>
                        </a:rPr>
                        <a:t> </a:t>
                      </a:r>
                      <a:r>
                        <a:rPr lang="en-US" sz="1400" spc="-40" dirty="0">
                          <a:solidFill>
                            <a:schemeClr val="bg1"/>
                          </a:solidFill>
                          <a:effectLst/>
                          <a:latin typeface="Udemy Sans"/>
                          <a:ea typeface="Arial MT"/>
                          <a:cs typeface="Arial MT"/>
                        </a:rPr>
                        <a:t>not</a:t>
                      </a:r>
                      <a:r>
                        <a:rPr lang="en-US" sz="1400" spc="-45" dirty="0">
                          <a:solidFill>
                            <a:schemeClr val="bg1"/>
                          </a:solidFill>
                          <a:effectLst/>
                          <a:latin typeface="Udemy Sans"/>
                          <a:ea typeface="Arial MT"/>
                          <a:cs typeface="Arial MT"/>
                        </a:rPr>
                        <a:t> </a:t>
                      </a:r>
                      <a:r>
                        <a:rPr lang="en-US" sz="1400" spc="-40" dirty="0">
                          <a:solidFill>
                            <a:schemeClr val="bg1"/>
                          </a:solidFill>
                          <a:effectLst/>
                          <a:latin typeface="Udemy Sans"/>
                          <a:ea typeface="Arial MT"/>
                          <a:cs typeface="Arial MT"/>
                        </a:rPr>
                        <a:t>created </a:t>
                      </a:r>
                      <a:r>
                        <a:rPr lang="en-US" sz="1400" dirty="0">
                          <a:solidFill>
                            <a:schemeClr val="bg1"/>
                          </a:solidFill>
                          <a:effectLst/>
                          <a:latin typeface="Udemy Sans"/>
                          <a:ea typeface="Arial MT"/>
                          <a:cs typeface="Arial MT"/>
                        </a:rPr>
                        <a:t>with a keyword</a:t>
                      </a:r>
                      <a:r>
                        <a:rPr lang="en-US" sz="1400" spc="-1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called</a:t>
                      </a:r>
                      <a:r>
                        <a:rPr lang="en-US" sz="1400" spc="-1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“static”.</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spcBef>
                          <a:spcPts val="210"/>
                        </a:spcBef>
                      </a:pPr>
                      <a:r>
                        <a:rPr lang="en-US" sz="1400" dirty="0">
                          <a:solidFill>
                            <a:schemeClr val="bg1"/>
                          </a:solidFill>
                          <a:effectLst/>
                          <a:latin typeface="Udemy Sans"/>
                          <a:ea typeface="Arial MT"/>
                          <a:cs typeface="Arial MT"/>
                        </a:rPr>
                        <a:t>Static</a:t>
                      </a:r>
                      <a:r>
                        <a:rPr lang="en-US" sz="1400" spc="6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methods</a:t>
                      </a:r>
                      <a:r>
                        <a:rPr lang="en-US" sz="1400" spc="4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are</a:t>
                      </a:r>
                      <a:r>
                        <a:rPr lang="en-US" sz="1400" spc="6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created</a:t>
                      </a:r>
                      <a:r>
                        <a:rPr lang="en-US" sz="1400" spc="4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using</a:t>
                      </a:r>
                      <a:r>
                        <a:rPr lang="en-US" sz="1400" spc="55"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“static”</a:t>
                      </a:r>
                      <a:endParaRPr lang="en-IN" sz="1400" dirty="0">
                        <a:solidFill>
                          <a:schemeClr val="bg1"/>
                        </a:solidFill>
                        <a:effectLst/>
                        <a:latin typeface="Udemy Sans"/>
                        <a:ea typeface="Arial MT"/>
                        <a:cs typeface="Arial MT"/>
                      </a:endParaRPr>
                    </a:p>
                    <a:p>
                      <a:pPr marL="67945">
                        <a:spcBef>
                          <a:spcPts val="595"/>
                        </a:spcBef>
                      </a:pPr>
                      <a:r>
                        <a:rPr lang="en-US" sz="1400" spc="-10" dirty="0">
                          <a:solidFill>
                            <a:schemeClr val="bg1"/>
                          </a:solidFill>
                          <a:effectLst/>
                          <a:latin typeface="Udemy Sans"/>
                          <a:ea typeface="Arial MT"/>
                          <a:cs typeface="Arial MT"/>
                        </a:rPr>
                        <a:t>keyword.</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9050" cap="flat" cmpd="sng" algn="ctr">
                      <a:solidFill>
                        <a:srgbClr val="666666"/>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697176688"/>
                  </a:ext>
                </a:extLst>
              </a:tr>
              <a:tr h="1357130">
                <a:tc>
                  <a:txBody>
                    <a:bodyPr/>
                    <a:lstStyle/>
                    <a:p>
                      <a:pPr marL="67945">
                        <a:spcBef>
                          <a:spcPts val="215"/>
                        </a:spcBef>
                      </a:pPr>
                      <a:r>
                        <a:rPr lang="en-US" sz="1400" spc="-50">
                          <a:solidFill>
                            <a:schemeClr val="bg1"/>
                          </a:solidFill>
                          <a:effectLst/>
                          <a:latin typeface="Udemy Sans"/>
                          <a:ea typeface="Arial MT"/>
                          <a:cs typeface="Arial MT"/>
                        </a:rPr>
                        <a:t>2</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marR="278765">
                        <a:lnSpc>
                          <a:spcPct val="146000"/>
                        </a:lnSpc>
                        <a:spcBef>
                          <a:spcPts val="215"/>
                        </a:spcBef>
                      </a:pPr>
                      <a:r>
                        <a:rPr lang="en-US" sz="1400" spc="-40" dirty="0">
                          <a:solidFill>
                            <a:schemeClr val="bg1"/>
                          </a:solidFill>
                          <a:effectLst/>
                          <a:latin typeface="Udemy Sans"/>
                          <a:ea typeface="Arial MT"/>
                          <a:cs typeface="Arial MT"/>
                        </a:rPr>
                        <a:t>Non-static methods</a:t>
                      </a:r>
                      <a:r>
                        <a:rPr lang="en-US" sz="1400" spc="-45" dirty="0">
                          <a:solidFill>
                            <a:schemeClr val="bg1"/>
                          </a:solidFill>
                          <a:effectLst/>
                          <a:latin typeface="Udemy Sans"/>
                          <a:ea typeface="Arial MT"/>
                          <a:cs typeface="Arial MT"/>
                        </a:rPr>
                        <a:t> </a:t>
                      </a:r>
                      <a:r>
                        <a:rPr lang="en-US" sz="1400" spc="-40" dirty="0">
                          <a:solidFill>
                            <a:schemeClr val="bg1"/>
                          </a:solidFill>
                          <a:effectLst/>
                          <a:latin typeface="Udemy Sans"/>
                          <a:ea typeface="Arial MT"/>
                          <a:cs typeface="Arial MT"/>
                        </a:rPr>
                        <a:t>can access</a:t>
                      </a:r>
                      <a:r>
                        <a:rPr lang="en-US" sz="1400" spc="-50" dirty="0">
                          <a:solidFill>
                            <a:schemeClr val="bg1"/>
                          </a:solidFill>
                          <a:effectLst/>
                          <a:latin typeface="Udemy Sans"/>
                          <a:ea typeface="Arial MT"/>
                          <a:cs typeface="Arial MT"/>
                        </a:rPr>
                        <a:t> </a:t>
                      </a:r>
                      <a:r>
                        <a:rPr lang="en-US" sz="1400" spc="-40" dirty="0">
                          <a:solidFill>
                            <a:schemeClr val="bg1"/>
                          </a:solidFill>
                          <a:effectLst/>
                          <a:latin typeface="Udemy Sans"/>
                          <a:ea typeface="Arial MT"/>
                          <a:cs typeface="Arial MT"/>
                        </a:rPr>
                        <a:t>both </a:t>
                      </a:r>
                      <a:r>
                        <a:rPr lang="en-US" sz="1400" spc="-10" dirty="0">
                          <a:solidFill>
                            <a:schemeClr val="bg1"/>
                          </a:solidFill>
                          <a:effectLst/>
                          <a:latin typeface="Udemy Sans"/>
                          <a:ea typeface="Arial MT"/>
                          <a:cs typeface="Arial MT"/>
                        </a:rPr>
                        <a:t>non-static</a:t>
                      </a:r>
                      <a:r>
                        <a:rPr lang="en-US" sz="1400" spc="-65"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members</a:t>
                      </a:r>
                      <a:r>
                        <a:rPr lang="en-US" sz="1400" spc="-65"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and</a:t>
                      </a:r>
                      <a:r>
                        <a:rPr lang="en-US" sz="1400" spc="-70" dirty="0">
                          <a:solidFill>
                            <a:schemeClr val="bg1"/>
                          </a:solidFill>
                          <a:effectLst/>
                          <a:latin typeface="Udemy Sans"/>
                          <a:ea typeface="Arial MT"/>
                          <a:cs typeface="Arial MT"/>
                        </a:rPr>
                        <a:t> </a:t>
                      </a:r>
                      <a:r>
                        <a:rPr lang="en-US" sz="1400" spc="-10" dirty="0">
                          <a:solidFill>
                            <a:schemeClr val="bg1"/>
                          </a:solidFill>
                          <a:effectLst/>
                          <a:latin typeface="Udemy Sans"/>
                          <a:ea typeface="Arial MT"/>
                          <a:cs typeface="Arial MT"/>
                        </a:rPr>
                        <a:t>non-static members.</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lnSpc>
                          <a:spcPct val="146000"/>
                        </a:lnSpc>
                        <a:spcBef>
                          <a:spcPts val="215"/>
                        </a:spcBef>
                      </a:pPr>
                      <a:r>
                        <a:rPr lang="en-US" sz="1400" spc="-30">
                          <a:solidFill>
                            <a:schemeClr val="bg1"/>
                          </a:solidFill>
                          <a:effectLst/>
                          <a:latin typeface="Udemy Sans"/>
                          <a:ea typeface="Arial MT"/>
                          <a:cs typeface="Arial MT"/>
                        </a:rPr>
                        <a:t>Static methods can access</a:t>
                      </a:r>
                      <a:r>
                        <a:rPr lang="en-US" sz="1400" spc="-3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only static members. </a:t>
                      </a:r>
                      <a:r>
                        <a:rPr lang="en-US" sz="1400" spc="-40">
                          <a:solidFill>
                            <a:schemeClr val="bg1"/>
                          </a:solidFill>
                          <a:effectLst/>
                          <a:latin typeface="Udemy Sans"/>
                          <a:ea typeface="Arial MT"/>
                          <a:cs typeface="Arial MT"/>
                        </a:rPr>
                        <a:t>Static methods can’t access non-static members. </a:t>
                      </a:r>
                      <a:r>
                        <a:rPr lang="en-US" sz="1400" spc="-10">
                          <a:solidFill>
                            <a:schemeClr val="bg1"/>
                          </a:solidFill>
                          <a:effectLst/>
                          <a:latin typeface="Udemy Sans"/>
                          <a:ea typeface="Arial MT"/>
                          <a:cs typeface="Arial MT"/>
                        </a:rPr>
                        <a:t>However,</a:t>
                      </a:r>
                      <a:r>
                        <a:rPr lang="en-US" sz="1400" spc="-70">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if</a:t>
                      </a:r>
                      <a:r>
                        <a:rPr lang="en-US" sz="1400" spc="-60">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you</a:t>
                      </a:r>
                      <a:r>
                        <a:rPr lang="en-US" sz="1400" spc="-70">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create</a:t>
                      </a:r>
                      <a:r>
                        <a:rPr lang="en-US" sz="1400" spc="-5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an</a:t>
                      </a:r>
                      <a:r>
                        <a:rPr lang="en-US" sz="1400" spc="-70">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object</a:t>
                      </a:r>
                      <a:r>
                        <a:rPr lang="en-US" sz="1400" spc="-60">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for</a:t>
                      </a:r>
                      <a:r>
                        <a:rPr lang="en-US" sz="1400" spc="-65">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the</a:t>
                      </a:r>
                      <a:r>
                        <a:rPr lang="en-US" sz="1400" spc="-60">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class</a:t>
                      </a:r>
                      <a:r>
                        <a:rPr lang="en-US" sz="1400" spc="-70">
                          <a:solidFill>
                            <a:schemeClr val="bg1"/>
                          </a:solidFill>
                          <a:effectLst/>
                          <a:latin typeface="Udemy Sans"/>
                          <a:ea typeface="Arial MT"/>
                          <a:cs typeface="Arial MT"/>
                        </a:rPr>
                        <a:t> </a:t>
                      </a:r>
                      <a:r>
                        <a:rPr lang="en-US" sz="1400" spc="-10">
                          <a:solidFill>
                            <a:schemeClr val="bg1"/>
                          </a:solidFill>
                          <a:effectLst/>
                          <a:latin typeface="Udemy Sans"/>
                          <a:ea typeface="Arial MT"/>
                          <a:cs typeface="Arial MT"/>
                        </a:rPr>
                        <a:t>in </a:t>
                      </a:r>
                      <a:r>
                        <a:rPr lang="en-US" sz="1400">
                          <a:solidFill>
                            <a:schemeClr val="bg1"/>
                          </a:solidFill>
                          <a:effectLst/>
                          <a:latin typeface="Udemy Sans"/>
                          <a:ea typeface="Arial MT"/>
                          <a:cs typeface="Arial MT"/>
                        </a:rPr>
                        <a:t>the static methods, then you can access any non- static</a:t>
                      </a:r>
                      <a:r>
                        <a:rPr lang="en-US" sz="1400" spc="-5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members</a:t>
                      </a:r>
                      <a:r>
                        <a:rPr lang="en-US" sz="1400" spc="-6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though</a:t>
                      </a:r>
                      <a:r>
                        <a:rPr lang="en-US" sz="1400" spc="-7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the</a:t>
                      </a:r>
                      <a:r>
                        <a:rPr lang="en-US" sz="1400" spc="-5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object,</a:t>
                      </a:r>
                      <a:r>
                        <a:rPr lang="en-US" sz="1400" spc="-6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in</a:t>
                      </a:r>
                      <a:r>
                        <a:rPr lang="en-US" sz="1400" spc="-5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the</a:t>
                      </a:r>
                      <a:r>
                        <a:rPr lang="en-US" sz="1400" spc="-4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static </a:t>
                      </a:r>
                      <a:r>
                        <a:rPr lang="en-US" sz="1400" spc="-10">
                          <a:solidFill>
                            <a:schemeClr val="bg1"/>
                          </a:solidFill>
                          <a:effectLst/>
                          <a:latin typeface="Udemy Sans"/>
                          <a:ea typeface="Arial MT"/>
                          <a:cs typeface="Arial MT"/>
                        </a:rPr>
                        <a:t>method.</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2362554112"/>
                  </a:ext>
                </a:extLst>
              </a:tr>
              <a:tr h="1080206">
                <a:tc>
                  <a:txBody>
                    <a:bodyPr/>
                    <a:lstStyle/>
                    <a:p>
                      <a:pPr marL="67945">
                        <a:spcBef>
                          <a:spcPts val="215"/>
                        </a:spcBef>
                      </a:pPr>
                      <a:r>
                        <a:rPr lang="en-US" sz="1400" spc="-50">
                          <a:solidFill>
                            <a:schemeClr val="bg1"/>
                          </a:solidFill>
                          <a:effectLst/>
                          <a:latin typeface="Udemy Sans"/>
                          <a:ea typeface="Arial MT"/>
                          <a:cs typeface="Arial MT"/>
                        </a:rPr>
                        <a:t>3</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lnSpc>
                          <a:spcPct val="146000"/>
                        </a:lnSpc>
                        <a:spcBef>
                          <a:spcPts val="215"/>
                        </a:spcBef>
                      </a:pPr>
                      <a:r>
                        <a:rPr lang="en-US" sz="1400" spc="-30">
                          <a:solidFill>
                            <a:schemeClr val="bg1"/>
                          </a:solidFill>
                          <a:effectLst/>
                          <a:latin typeface="Udemy Sans"/>
                          <a:ea typeface="Arial MT"/>
                          <a:cs typeface="Arial MT"/>
                        </a:rPr>
                        <a:t>Non-static methods</a:t>
                      </a:r>
                      <a:r>
                        <a:rPr lang="en-US" sz="1400" spc="-4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are accessible with object only. Non-static methods are not </a:t>
                      </a:r>
                      <a:r>
                        <a:rPr lang="en-US" sz="1400">
                          <a:solidFill>
                            <a:schemeClr val="bg1"/>
                          </a:solidFill>
                          <a:effectLst/>
                          <a:latin typeface="Udemy Sans"/>
                          <a:ea typeface="Arial MT"/>
                          <a:cs typeface="Arial MT"/>
                        </a:rPr>
                        <a:t>accessible</a:t>
                      </a:r>
                      <a:r>
                        <a:rPr lang="en-US" sz="1400" spc="-8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without</a:t>
                      </a:r>
                      <a:r>
                        <a:rPr lang="en-US" sz="1400" spc="-7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creating</a:t>
                      </a:r>
                      <a:r>
                        <a:rPr lang="en-US" sz="1400" spc="-7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an</a:t>
                      </a:r>
                      <a:r>
                        <a:rPr lang="en-US" sz="1400" spc="-8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object for the class.</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lnSpc>
                          <a:spcPct val="146000"/>
                        </a:lnSpc>
                        <a:spcBef>
                          <a:spcPts val="215"/>
                        </a:spcBef>
                      </a:pPr>
                      <a:r>
                        <a:rPr lang="en-US" sz="1400" spc="-20" dirty="0">
                          <a:solidFill>
                            <a:schemeClr val="bg1"/>
                          </a:solidFill>
                          <a:effectLst/>
                          <a:latin typeface="Udemy Sans"/>
                          <a:ea typeface="Arial MT"/>
                          <a:cs typeface="Arial MT"/>
                        </a:rPr>
                        <a:t>Static</a:t>
                      </a:r>
                      <a:r>
                        <a:rPr lang="en-US" sz="1400" spc="-30" dirty="0">
                          <a:solidFill>
                            <a:schemeClr val="bg1"/>
                          </a:solidFill>
                          <a:effectLst/>
                          <a:latin typeface="Udemy Sans"/>
                          <a:ea typeface="Arial MT"/>
                          <a:cs typeface="Arial MT"/>
                        </a:rPr>
                        <a:t> </a:t>
                      </a:r>
                      <a:r>
                        <a:rPr lang="en-US" sz="1400" spc="-20" dirty="0">
                          <a:solidFill>
                            <a:schemeClr val="bg1"/>
                          </a:solidFill>
                          <a:effectLst/>
                          <a:latin typeface="Udemy Sans"/>
                          <a:ea typeface="Arial MT"/>
                          <a:cs typeface="Arial MT"/>
                        </a:rPr>
                        <a:t>methods</a:t>
                      </a:r>
                      <a:r>
                        <a:rPr lang="en-US" sz="1400" spc="-40" dirty="0">
                          <a:solidFill>
                            <a:schemeClr val="bg1"/>
                          </a:solidFill>
                          <a:effectLst/>
                          <a:latin typeface="Udemy Sans"/>
                          <a:ea typeface="Arial MT"/>
                          <a:cs typeface="Arial MT"/>
                        </a:rPr>
                        <a:t> </a:t>
                      </a:r>
                      <a:r>
                        <a:rPr lang="en-US" sz="1400" spc="-20" dirty="0">
                          <a:solidFill>
                            <a:schemeClr val="bg1"/>
                          </a:solidFill>
                          <a:effectLst/>
                          <a:latin typeface="Udemy Sans"/>
                          <a:ea typeface="Arial MT"/>
                          <a:cs typeface="Arial MT"/>
                        </a:rPr>
                        <a:t>are</a:t>
                      </a:r>
                      <a:r>
                        <a:rPr lang="en-US" sz="1400" spc="-30" dirty="0">
                          <a:solidFill>
                            <a:schemeClr val="bg1"/>
                          </a:solidFill>
                          <a:effectLst/>
                          <a:latin typeface="Udemy Sans"/>
                          <a:ea typeface="Arial MT"/>
                          <a:cs typeface="Arial MT"/>
                        </a:rPr>
                        <a:t> </a:t>
                      </a:r>
                      <a:r>
                        <a:rPr lang="en-US" sz="1400" spc="-20" dirty="0">
                          <a:solidFill>
                            <a:schemeClr val="bg1"/>
                          </a:solidFill>
                          <a:effectLst/>
                          <a:latin typeface="Udemy Sans"/>
                          <a:ea typeface="Arial MT"/>
                          <a:cs typeface="Arial MT"/>
                        </a:rPr>
                        <a:t>accessible</a:t>
                      </a:r>
                      <a:r>
                        <a:rPr lang="en-US" sz="1400" spc="-30" dirty="0">
                          <a:solidFill>
                            <a:schemeClr val="bg1"/>
                          </a:solidFill>
                          <a:effectLst/>
                          <a:latin typeface="Udemy Sans"/>
                          <a:ea typeface="Arial MT"/>
                          <a:cs typeface="Arial MT"/>
                        </a:rPr>
                        <a:t> </a:t>
                      </a:r>
                      <a:r>
                        <a:rPr lang="en-US" sz="1400" spc="-20" dirty="0">
                          <a:solidFill>
                            <a:schemeClr val="bg1"/>
                          </a:solidFill>
                          <a:effectLst/>
                          <a:latin typeface="Udemy Sans"/>
                          <a:ea typeface="Arial MT"/>
                          <a:cs typeface="Arial MT"/>
                        </a:rPr>
                        <a:t>with</a:t>
                      </a:r>
                      <a:r>
                        <a:rPr lang="en-US" sz="1400" spc="-40" dirty="0">
                          <a:solidFill>
                            <a:schemeClr val="bg1"/>
                          </a:solidFill>
                          <a:effectLst/>
                          <a:latin typeface="Udemy Sans"/>
                          <a:ea typeface="Arial MT"/>
                          <a:cs typeface="Arial MT"/>
                        </a:rPr>
                        <a:t> </a:t>
                      </a:r>
                      <a:r>
                        <a:rPr lang="en-US" sz="1400" spc="-20" dirty="0">
                          <a:solidFill>
                            <a:schemeClr val="bg1"/>
                          </a:solidFill>
                          <a:effectLst/>
                          <a:latin typeface="Udemy Sans"/>
                          <a:ea typeface="Arial MT"/>
                          <a:cs typeface="Arial MT"/>
                        </a:rPr>
                        <a:t>class</a:t>
                      </a:r>
                      <a:r>
                        <a:rPr lang="en-US" sz="1400" spc="-40" dirty="0">
                          <a:solidFill>
                            <a:schemeClr val="bg1"/>
                          </a:solidFill>
                          <a:effectLst/>
                          <a:latin typeface="Udemy Sans"/>
                          <a:ea typeface="Arial MT"/>
                          <a:cs typeface="Arial MT"/>
                        </a:rPr>
                        <a:t> </a:t>
                      </a:r>
                      <a:r>
                        <a:rPr lang="en-US" sz="1400" spc="-20" dirty="0">
                          <a:solidFill>
                            <a:schemeClr val="bg1"/>
                          </a:solidFill>
                          <a:effectLst/>
                          <a:latin typeface="Udemy Sans"/>
                          <a:ea typeface="Arial MT"/>
                          <a:cs typeface="Arial MT"/>
                        </a:rPr>
                        <a:t>only. </a:t>
                      </a:r>
                      <a:r>
                        <a:rPr lang="en-US" sz="1400" spc="-30" dirty="0">
                          <a:solidFill>
                            <a:schemeClr val="bg1"/>
                          </a:solidFill>
                          <a:effectLst/>
                          <a:latin typeface="Udemy Sans"/>
                          <a:ea typeface="Arial MT"/>
                          <a:cs typeface="Arial MT"/>
                        </a:rPr>
                        <a:t>Static</a:t>
                      </a:r>
                      <a:r>
                        <a:rPr lang="en-US" sz="1400" spc="-6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methods</a:t>
                      </a:r>
                      <a:r>
                        <a:rPr lang="en-US" sz="1400" spc="-6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are</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accessible</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without</a:t>
                      </a:r>
                      <a:r>
                        <a:rPr lang="en-US" sz="1400" spc="-5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creating</a:t>
                      </a:r>
                      <a:r>
                        <a:rPr lang="en-US" sz="1400" spc="-5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an </a:t>
                      </a:r>
                      <a:r>
                        <a:rPr lang="en-US" sz="1400" dirty="0">
                          <a:solidFill>
                            <a:schemeClr val="bg1"/>
                          </a:solidFill>
                          <a:effectLst/>
                          <a:latin typeface="Udemy Sans"/>
                          <a:ea typeface="Arial MT"/>
                          <a:cs typeface="Arial MT"/>
                        </a:rPr>
                        <a:t>object</a:t>
                      </a:r>
                      <a:r>
                        <a:rPr lang="en-US" sz="1400" spc="-7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for</a:t>
                      </a:r>
                      <a:r>
                        <a:rPr lang="en-US" sz="1400" spc="-7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the</a:t>
                      </a:r>
                      <a:r>
                        <a:rPr lang="en-US" sz="1400" spc="-6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class.</a:t>
                      </a:r>
                      <a:r>
                        <a:rPr lang="en-US" sz="1400" spc="-7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Static</a:t>
                      </a:r>
                      <a:r>
                        <a:rPr lang="en-US" sz="1400" spc="-8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methods</a:t>
                      </a:r>
                      <a:r>
                        <a:rPr lang="en-US" sz="1400" spc="-7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are</a:t>
                      </a:r>
                      <a:r>
                        <a:rPr lang="en-US" sz="1400" spc="-6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not accessible</a:t>
                      </a:r>
                      <a:r>
                        <a:rPr lang="en-US" sz="1400" spc="-8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with</a:t>
                      </a:r>
                      <a:r>
                        <a:rPr lang="en-US" sz="1400" spc="-7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an</a:t>
                      </a:r>
                      <a:r>
                        <a:rPr lang="en-US" sz="1400" spc="-7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object.</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893322462"/>
                  </a:ext>
                </a:extLst>
              </a:tr>
              <a:tr h="803282">
                <a:tc>
                  <a:txBody>
                    <a:bodyPr/>
                    <a:lstStyle/>
                    <a:p>
                      <a:pPr marL="67945">
                        <a:spcBef>
                          <a:spcPts val="225"/>
                        </a:spcBef>
                      </a:pPr>
                      <a:r>
                        <a:rPr lang="en-US" sz="1400" spc="-50">
                          <a:solidFill>
                            <a:schemeClr val="bg1"/>
                          </a:solidFill>
                          <a:effectLst/>
                          <a:latin typeface="Udemy Sans"/>
                          <a:ea typeface="Arial MT"/>
                          <a:cs typeface="Arial MT"/>
                        </a:rPr>
                        <a:t>4</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lnSpc>
                          <a:spcPct val="146000"/>
                        </a:lnSpc>
                        <a:spcBef>
                          <a:spcPts val="215"/>
                        </a:spcBef>
                      </a:pPr>
                      <a:r>
                        <a:rPr lang="en-US" sz="1400" spc="-30">
                          <a:solidFill>
                            <a:schemeClr val="bg1"/>
                          </a:solidFill>
                          <a:effectLst/>
                          <a:latin typeface="Udemy Sans"/>
                          <a:ea typeface="Arial MT"/>
                          <a:cs typeface="Arial MT"/>
                        </a:rPr>
                        <a:t>We</a:t>
                      </a:r>
                      <a:r>
                        <a:rPr lang="en-US" sz="1400" spc="-6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can</a:t>
                      </a:r>
                      <a:r>
                        <a:rPr lang="en-US" sz="1400" spc="-5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use</a:t>
                      </a:r>
                      <a:r>
                        <a:rPr lang="en-US" sz="1400" spc="-5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“this”</a:t>
                      </a:r>
                      <a:r>
                        <a:rPr lang="en-US" sz="1400" spc="-55">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keyword</a:t>
                      </a:r>
                      <a:r>
                        <a:rPr lang="en-US" sz="1400" spc="-7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in</a:t>
                      </a:r>
                      <a:r>
                        <a:rPr lang="en-US" sz="1400" spc="-5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the</a:t>
                      </a:r>
                      <a:r>
                        <a:rPr lang="en-US" sz="1400" spc="-50">
                          <a:solidFill>
                            <a:schemeClr val="bg1"/>
                          </a:solidFill>
                          <a:effectLst/>
                          <a:latin typeface="Udemy Sans"/>
                          <a:ea typeface="Arial MT"/>
                          <a:cs typeface="Arial MT"/>
                        </a:rPr>
                        <a:t> </a:t>
                      </a:r>
                      <a:r>
                        <a:rPr lang="en-US" sz="1400" spc="-30">
                          <a:solidFill>
                            <a:schemeClr val="bg1"/>
                          </a:solidFill>
                          <a:effectLst/>
                          <a:latin typeface="Udemy Sans"/>
                          <a:ea typeface="Arial MT"/>
                          <a:cs typeface="Arial MT"/>
                        </a:rPr>
                        <a:t>non- </a:t>
                      </a:r>
                      <a:r>
                        <a:rPr lang="en-US" sz="1400">
                          <a:solidFill>
                            <a:schemeClr val="bg1"/>
                          </a:solidFill>
                          <a:effectLst/>
                          <a:latin typeface="Udemy Sans"/>
                          <a:ea typeface="Arial MT"/>
                          <a:cs typeface="Arial MT"/>
                        </a:rPr>
                        <a:t>static</a:t>
                      </a:r>
                      <a:r>
                        <a:rPr lang="en-US" sz="1400" spc="-8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methods,</a:t>
                      </a:r>
                      <a:r>
                        <a:rPr lang="en-US" sz="1400" spc="-7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because</a:t>
                      </a:r>
                      <a:r>
                        <a:rPr lang="en-US" sz="1400" spc="-7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non-static methods</a:t>
                      </a:r>
                      <a:r>
                        <a:rPr lang="en-US" sz="1400" spc="-8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are</a:t>
                      </a:r>
                      <a:r>
                        <a:rPr lang="en-US" sz="1400" spc="-7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called</a:t>
                      </a:r>
                      <a:r>
                        <a:rPr lang="en-US" sz="1400" spc="-7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with</a:t>
                      </a:r>
                      <a:r>
                        <a:rPr lang="en-US" sz="1400" spc="-75">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an</a:t>
                      </a:r>
                      <a:r>
                        <a:rPr lang="en-US" sz="1400" spc="-80">
                          <a:solidFill>
                            <a:schemeClr val="bg1"/>
                          </a:solidFill>
                          <a:effectLst/>
                          <a:latin typeface="Udemy Sans"/>
                          <a:ea typeface="Arial MT"/>
                          <a:cs typeface="Arial MT"/>
                        </a:rPr>
                        <a:t> </a:t>
                      </a:r>
                      <a:r>
                        <a:rPr lang="en-US" sz="1400">
                          <a:solidFill>
                            <a:schemeClr val="bg1"/>
                          </a:solidFill>
                          <a:effectLst/>
                          <a:latin typeface="Udemy Sans"/>
                          <a:ea typeface="Arial MT"/>
                          <a:cs typeface="Arial MT"/>
                        </a:rPr>
                        <a:t>object.</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marR="76200">
                        <a:lnSpc>
                          <a:spcPct val="146000"/>
                        </a:lnSpc>
                        <a:spcBef>
                          <a:spcPts val="215"/>
                        </a:spcBef>
                      </a:pPr>
                      <a:r>
                        <a:rPr lang="en-US" sz="1400" dirty="0">
                          <a:solidFill>
                            <a:schemeClr val="bg1"/>
                          </a:solidFill>
                          <a:effectLst/>
                          <a:latin typeface="Udemy Sans"/>
                          <a:ea typeface="Arial MT"/>
                          <a:cs typeface="Arial MT"/>
                        </a:rPr>
                        <a:t>We</a:t>
                      </a:r>
                      <a:r>
                        <a:rPr lang="en-US" sz="1400" spc="-4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can’t</a:t>
                      </a:r>
                      <a:r>
                        <a:rPr lang="en-US" sz="1400" spc="-4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use</a:t>
                      </a:r>
                      <a:r>
                        <a:rPr lang="en-US" sz="1400" spc="-4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“this”</a:t>
                      </a:r>
                      <a:r>
                        <a:rPr lang="en-US" sz="1400" spc="-4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keyword</a:t>
                      </a:r>
                      <a:r>
                        <a:rPr lang="en-US" sz="1400" spc="-5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in</a:t>
                      </a:r>
                      <a:r>
                        <a:rPr lang="en-US" sz="1400" spc="-4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the</a:t>
                      </a:r>
                      <a:r>
                        <a:rPr lang="en-US" sz="1400" spc="-4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static methods, because static methods are called with class</a:t>
                      </a:r>
                      <a:r>
                        <a:rPr lang="en-US" sz="1400" spc="-5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only,</a:t>
                      </a:r>
                      <a:r>
                        <a:rPr lang="en-US" sz="1400" spc="-5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without</a:t>
                      </a:r>
                      <a:r>
                        <a:rPr lang="en-US" sz="1400" spc="-5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an</a:t>
                      </a:r>
                      <a:r>
                        <a:rPr lang="en-US" sz="1400" spc="-4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object.</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3921537556"/>
                  </a:ext>
                </a:extLst>
              </a:tr>
              <a:tr h="803282">
                <a:tc>
                  <a:txBody>
                    <a:bodyPr/>
                    <a:lstStyle/>
                    <a:p>
                      <a:pPr marL="67945">
                        <a:spcBef>
                          <a:spcPts val="215"/>
                        </a:spcBef>
                      </a:pPr>
                      <a:r>
                        <a:rPr lang="en-US" sz="1400" spc="-50">
                          <a:solidFill>
                            <a:schemeClr val="bg1"/>
                          </a:solidFill>
                          <a:effectLst/>
                          <a:latin typeface="Udemy Sans"/>
                          <a:ea typeface="Arial MT"/>
                          <a:cs typeface="Arial MT"/>
                        </a:rPr>
                        <a:t>5</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marR="114300" algn="just">
                        <a:lnSpc>
                          <a:spcPct val="146000"/>
                        </a:lnSpc>
                        <a:spcBef>
                          <a:spcPts val="215"/>
                        </a:spcBef>
                      </a:pPr>
                      <a:r>
                        <a:rPr lang="en-US" sz="1400" spc="-20">
                          <a:solidFill>
                            <a:schemeClr val="bg1"/>
                          </a:solidFill>
                          <a:effectLst/>
                          <a:latin typeface="Udemy Sans"/>
                          <a:ea typeface="Arial MT"/>
                          <a:cs typeface="Arial MT"/>
                        </a:rPr>
                        <a:t>Use</a:t>
                      </a:r>
                      <a:r>
                        <a:rPr lang="en-US" sz="1400" spc="-60">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non-static</a:t>
                      </a:r>
                      <a:r>
                        <a:rPr lang="en-US" sz="1400" spc="-50">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methods,</a:t>
                      </a:r>
                      <a:r>
                        <a:rPr lang="en-US" sz="1400" spc="-60">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if</a:t>
                      </a:r>
                      <a:r>
                        <a:rPr lang="en-US" sz="1400" spc="-55">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you</a:t>
                      </a:r>
                      <a:r>
                        <a:rPr lang="en-US" sz="1400" spc="-55">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want</a:t>
                      </a:r>
                      <a:r>
                        <a:rPr lang="en-US" sz="1400" spc="-55">
                          <a:solidFill>
                            <a:schemeClr val="bg1"/>
                          </a:solidFill>
                          <a:effectLst/>
                          <a:latin typeface="Udemy Sans"/>
                          <a:ea typeface="Arial MT"/>
                          <a:cs typeface="Arial MT"/>
                        </a:rPr>
                        <a:t> </a:t>
                      </a:r>
                      <a:r>
                        <a:rPr lang="en-US" sz="1400" spc="-20">
                          <a:solidFill>
                            <a:schemeClr val="bg1"/>
                          </a:solidFill>
                          <a:effectLst/>
                          <a:latin typeface="Udemy Sans"/>
                          <a:ea typeface="Arial MT"/>
                          <a:cs typeface="Arial MT"/>
                        </a:rPr>
                        <a:t>to </a:t>
                      </a:r>
                      <a:r>
                        <a:rPr lang="en-US" sz="1400" spc="-40">
                          <a:solidFill>
                            <a:schemeClr val="bg1"/>
                          </a:solidFill>
                          <a:effectLst/>
                          <a:latin typeface="Udemy Sans"/>
                          <a:ea typeface="Arial MT"/>
                          <a:cs typeface="Arial MT"/>
                        </a:rPr>
                        <a:t>perform</a:t>
                      </a:r>
                      <a:r>
                        <a:rPr lang="en-US" sz="1400" spc="-25">
                          <a:solidFill>
                            <a:schemeClr val="bg1"/>
                          </a:solidFill>
                          <a:effectLst/>
                          <a:latin typeface="Udemy Sans"/>
                          <a:ea typeface="Arial MT"/>
                          <a:cs typeface="Arial MT"/>
                        </a:rPr>
                        <a:t> </a:t>
                      </a:r>
                      <a:r>
                        <a:rPr lang="en-US" sz="1400" spc="-40">
                          <a:solidFill>
                            <a:schemeClr val="bg1"/>
                          </a:solidFill>
                          <a:effectLst/>
                          <a:latin typeface="Udemy Sans"/>
                          <a:ea typeface="Arial MT"/>
                          <a:cs typeface="Arial MT"/>
                        </a:rPr>
                        <a:t>some</a:t>
                      </a:r>
                      <a:r>
                        <a:rPr lang="en-US" sz="1400" spc="-20">
                          <a:solidFill>
                            <a:schemeClr val="bg1"/>
                          </a:solidFill>
                          <a:effectLst/>
                          <a:latin typeface="Udemy Sans"/>
                          <a:ea typeface="Arial MT"/>
                          <a:cs typeface="Arial MT"/>
                        </a:rPr>
                        <a:t> </a:t>
                      </a:r>
                      <a:r>
                        <a:rPr lang="en-US" sz="1400" spc="-40">
                          <a:solidFill>
                            <a:schemeClr val="bg1"/>
                          </a:solidFill>
                          <a:effectLst/>
                          <a:latin typeface="Udemy Sans"/>
                          <a:ea typeface="Arial MT"/>
                          <a:cs typeface="Arial MT"/>
                        </a:rPr>
                        <a:t>operation</a:t>
                      </a:r>
                      <a:r>
                        <a:rPr lang="en-US" sz="1400" spc="-20">
                          <a:solidFill>
                            <a:schemeClr val="bg1"/>
                          </a:solidFill>
                          <a:effectLst/>
                          <a:latin typeface="Udemy Sans"/>
                          <a:ea typeface="Arial MT"/>
                          <a:cs typeface="Arial MT"/>
                        </a:rPr>
                        <a:t> </a:t>
                      </a:r>
                      <a:r>
                        <a:rPr lang="en-US" sz="1400" spc="-40">
                          <a:solidFill>
                            <a:schemeClr val="bg1"/>
                          </a:solidFill>
                          <a:effectLst/>
                          <a:latin typeface="Udemy Sans"/>
                          <a:ea typeface="Arial MT"/>
                          <a:cs typeface="Arial MT"/>
                        </a:rPr>
                        <a:t>based</a:t>
                      </a:r>
                      <a:r>
                        <a:rPr lang="en-US" sz="1400" spc="-25">
                          <a:solidFill>
                            <a:schemeClr val="bg1"/>
                          </a:solidFill>
                          <a:effectLst/>
                          <a:latin typeface="Udemy Sans"/>
                          <a:ea typeface="Arial MT"/>
                          <a:cs typeface="Arial MT"/>
                        </a:rPr>
                        <a:t> </a:t>
                      </a:r>
                      <a:r>
                        <a:rPr lang="en-US" sz="1400" spc="-40">
                          <a:solidFill>
                            <a:schemeClr val="bg1"/>
                          </a:solidFill>
                          <a:effectLst/>
                          <a:latin typeface="Udemy Sans"/>
                          <a:ea typeface="Arial MT"/>
                          <a:cs typeface="Arial MT"/>
                        </a:rPr>
                        <a:t>on</a:t>
                      </a:r>
                      <a:r>
                        <a:rPr lang="en-US" sz="1400" spc="-20">
                          <a:solidFill>
                            <a:schemeClr val="bg1"/>
                          </a:solidFill>
                          <a:effectLst/>
                          <a:latin typeface="Udemy Sans"/>
                          <a:ea typeface="Arial MT"/>
                          <a:cs typeface="Arial MT"/>
                        </a:rPr>
                        <a:t> </a:t>
                      </a:r>
                      <a:r>
                        <a:rPr lang="en-US" sz="1400" spc="-40">
                          <a:solidFill>
                            <a:schemeClr val="bg1"/>
                          </a:solidFill>
                          <a:effectLst/>
                          <a:latin typeface="Udemy Sans"/>
                          <a:ea typeface="Arial MT"/>
                          <a:cs typeface="Arial MT"/>
                        </a:rPr>
                        <a:t>non- </a:t>
                      </a:r>
                      <a:r>
                        <a:rPr lang="en-US" sz="1400">
                          <a:solidFill>
                            <a:schemeClr val="bg1"/>
                          </a:solidFill>
                          <a:effectLst/>
                          <a:latin typeface="Udemy Sans"/>
                          <a:ea typeface="Arial MT"/>
                          <a:cs typeface="Arial MT"/>
                        </a:rPr>
                        <a:t>static Fields.</a:t>
                      </a:r>
                      <a:endParaRPr lang="en-IN" sz="140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tc>
                  <a:txBody>
                    <a:bodyPr/>
                    <a:lstStyle/>
                    <a:p>
                      <a:pPr marL="67945">
                        <a:lnSpc>
                          <a:spcPct val="146000"/>
                        </a:lnSpc>
                        <a:spcBef>
                          <a:spcPts val="215"/>
                        </a:spcBef>
                      </a:pPr>
                      <a:r>
                        <a:rPr lang="en-US" sz="1400" spc="-30" dirty="0">
                          <a:solidFill>
                            <a:schemeClr val="bg1"/>
                          </a:solidFill>
                          <a:effectLst/>
                          <a:latin typeface="Udemy Sans"/>
                          <a:ea typeface="Arial MT"/>
                          <a:cs typeface="Arial MT"/>
                        </a:rPr>
                        <a:t>Use</a:t>
                      </a:r>
                      <a:r>
                        <a:rPr lang="en-US" sz="1400" spc="-4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static</a:t>
                      </a:r>
                      <a:r>
                        <a:rPr lang="en-US" sz="1400" spc="-4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Fields</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if</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you</a:t>
                      </a:r>
                      <a:r>
                        <a:rPr lang="en-US" sz="1400" spc="-5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want</a:t>
                      </a:r>
                      <a:r>
                        <a:rPr lang="en-US" sz="1400" spc="-4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to</a:t>
                      </a:r>
                      <a:r>
                        <a:rPr lang="en-US" sz="1400" spc="-60"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perform</a:t>
                      </a:r>
                      <a:r>
                        <a:rPr lang="en-US" sz="1400" spc="-45" dirty="0">
                          <a:solidFill>
                            <a:schemeClr val="bg1"/>
                          </a:solidFill>
                          <a:effectLst/>
                          <a:latin typeface="Udemy Sans"/>
                          <a:ea typeface="Arial MT"/>
                          <a:cs typeface="Arial MT"/>
                        </a:rPr>
                        <a:t> </a:t>
                      </a:r>
                      <a:r>
                        <a:rPr lang="en-US" sz="1400" spc="-30" dirty="0">
                          <a:solidFill>
                            <a:schemeClr val="bg1"/>
                          </a:solidFill>
                          <a:effectLst/>
                          <a:latin typeface="Udemy Sans"/>
                          <a:ea typeface="Arial MT"/>
                          <a:cs typeface="Arial MT"/>
                        </a:rPr>
                        <a:t>some </a:t>
                      </a:r>
                      <a:r>
                        <a:rPr lang="en-US" sz="1400" dirty="0">
                          <a:solidFill>
                            <a:schemeClr val="bg1"/>
                          </a:solidFill>
                          <a:effectLst/>
                          <a:latin typeface="Udemy Sans"/>
                          <a:ea typeface="Arial MT"/>
                          <a:cs typeface="Arial MT"/>
                        </a:rPr>
                        <a:t>operation</a:t>
                      </a:r>
                      <a:r>
                        <a:rPr lang="en-US" sz="1400" spc="-8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based</a:t>
                      </a:r>
                      <a:r>
                        <a:rPr lang="en-US" sz="1400" spc="-7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on</a:t>
                      </a:r>
                      <a:r>
                        <a:rPr lang="en-US" sz="1400" spc="-75"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static</a:t>
                      </a:r>
                      <a:r>
                        <a:rPr lang="en-US" sz="1400" spc="-80" dirty="0">
                          <a:solidFill>
                            <a:schemeClr val="bg1"/>
                          </a:solidFill>
                          <a:effectLst/>
                          <a:latin typeface="Udemy Sans"/>
                          <a:ea typeface="Arial MT"/>
                          <a:cs typeface="Arial MT"/>
                        </a:rPr>
                        <a:t> </a:t>
                      </a:r>
                      <a:r>
                        <a:rPr lang="en-US" sz="1400" dirty="0">
                          <a:solidFill>
                            <a:schemeClr val="bg1"/>
                          </a:solidFill>
                          <a:effectLst/>
                          <a:latin typeface="Udemy Sans"/>
                          <a:ea typeface="Arial MT"/>
                          <a:cs typeface="Arial MT"/>
                        </a:rPr>
                        <a:t>Fields.</a:t>
                      </a:r>
                      <a:endParaRPr lang="en-IN" sz="1400" dirty="0">
                        <a:solidFill>
                          <a:schemeClr val="bg1"/>
                        </a:solidFill>
                        <a:effectLst/>
                        <a:latin typeface="Udemy Sans"/>
                        <a:ea typeface="Arial MT"/>
                        <a:cs typeface="Arial MT"/>
                      </a:endParaRPr>
                    </a:p>
                  </a:txBody>
                  <a:tcPr marL="0" marR="0" marT="0" marB="0">
                    <a:lnL w="12700" cap="flat" cmpd="sng" algn="ctr">
                      <a:solidFill>
                        <a:srgbClr val="999999"/>
                      </a:solidFill>
                      <a:prstDash val="solid"/>
                      <a:round/>
                      <a:headEnd type="none" w="med" len="med"/>
                      <a:tailEnd type="none" w="med" len="med"/>
                    </a:lnL>
                    <a:lnR w="12700" cap="flat" cmpd="sng" algn="ctr">
                      <a:solidFill>
                        <a:srgbClr val="999999"/>
                      </a:solidFill>
                      <a:prstDash val="solid"/>
                      <a:round/>
                      <a:headEnd type="none" w="med" len="med"/>
                      <a:tailEnd type="none" w="med" len="med"/>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400527996"/>
                  </a:ext>
                </a:extLst>
              </a:tr>
            </a:tbl>
          </a:graphicData>
        </a:graphic>
      </p:graphicFrame>
      <p:sp>
        <p:nvSpPr>
          <p:cNvPr id="8" name="Content Placeholder 7">
            <a:extLst>
              <a:ext uri="{FF2B5EF4-FFF2-40B4-BE49-F238E27FC236}">
                <a16:creationId xmlns:a16="http://schemas.microsoft.com/office/drawing/2014/main" id="{5AF5D617-25C6-4DC1-9569-135BDCC73AC9}"/>
              </a:ext>
            </a:extLst>
          </p:cNvPr>
          <p:cNvSpPr>
            <a:spLocks noGrp="1"/>
          </p:cNvSpPr>
          <p:nvPr>
            <p:ph sz="half" idx="2"/>
          </p:nvPr>
        </p:nvSpPr>
        <p:spPr>
          <a:xfrm>
            <a:off x="307461" y="973580"/>
            <a:ext cx="3382038" cy="3541714"/>
          </a:xfrm>
        </p:spPr>
        <p:txBody>
          <a:bodyPr>
            <a:normAutofit fontScale="70000" lnSpcReduction="20000"/>
          </a:bodyPr>
          <a:lstStyle/>
          <a:p>
            <a:pPr algn="just"/>
            <a:r>
              <a:rPr lang="en-US" dirty="0">
                <a:solidFill>
                  <a:schemeClr val="bg1"/>
                </a:solidFill>
                <a:latin typeface="Udemy Sans"/>
              </a:rPr>
              <a:t>Non-static methods are used to manipulate non-static Fields; Static methods are used to manipulate static Fields only. Static methods can be called with class name only.</a:t>
            </a:r>
          </a:p>
          <a:p>
            <a:r>
              <a:rPr lang="en-US" dirty="0">
                <a:solidFill>
                  <a:schemeClr val="bg1"/>
                </a:solidFill>
                <a:latin typeface="Udemy Sans"/>
              </a:rPr>
              <a:t>Methods are two types:</a:t>
            </a:r>
          </a:p>
          <a:p>
            <a:pPr marL="0" indent="0">
              <a:buNone/>
            </a:pPr>
            <a:r>
              <a:rPr lang="en-US" dirty="0">
                <a:solidFill>
                  <a:schemeClr val="bg1"/>
                </a:solidFill>
                <a:latin typeface="Udemy Sans"/>
              </a:rPr>
              <a:t>1.Non-static methods (or) instance methods</a:t>
            </a:r>
          </a:p>
          <a:p>
            <a:pPr marL="0" indent="0">
              <a:buNone/>
            </a:pPr>
            <a:r>
              <a:rPr lang="en-US" dirty="0">
                <a:solidFill>
                  <a:schemeClr val="bg1"/>
                </a:solidFill>
                <a:latin typeface="Udemy Sans"/>
              </a:rPr>
              <a:t>2.Static methods (or) shared methods</a:t>
            </a:r>
          </a:p>
          <a:p>
            <a:endParaRPr lang="en-IN" dirty="0"/>
          </a:p>
        </p:txBody>
      </p:sp>
    </p:spTree>
    <p:extLst>
      <p:ext uri="{BB962C8B-B14F-4D97-AF65-F5344CB8AC3E}">
        <p14:creationId xmlns:p14="http://schemas.microsoft.com/office/powerpoint/2010/main" val="1469058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809B2-D6FD-4496-93B2-3B44EB6A6BA1}"/>
              </a:ext>
            </a:extLst>
          </p:cNvPr>
          <p:cNvSpPr>
            <a:spLocks noGrp="1"/>
          </p:cNvSpPr>
          <p:nvPr>
            <p:ph type="title"/>
          </p:nvPr>
        </p:nvSpPr>
        <p:spPr>
          <a:xfrm>
            <a:off x="1063625" y="214481"/>
            <a:ext cx="9905998" cy="572328"/>
          </a:xfrm>
          <a:solidFill>
            <a:schemeClr val="tx1"/>
          </a:solidFill>
        </p:spPr>
        <p:txBody>
          <a:bodyPr>
            <a:normAutofit/>
          </a:bodyPr>
          <a:lstStyle/>
          <a:p>
            <a:r>
              <a:rPr lang="en-US" sz="2800" dirty="0">
                <a:solidFill>
                  <a:schemeClr val="bg1"/>
                </a:solidFill>
                <a:latin typeface="Udemy Sans"/>
              </a:rPr>
              <a:t>Method Overloading</a:t>
            </a:r>
            <a:endParaRPr lang="en-IN" sz="2800" dirty="0">
              <a:solidFill>
                <a:schemeClr val="bg1"/>
              </a:solidFill>
              <a:latin typeface="Udemy Sans"/>
            </a:endParaRPr>
          </a:p>
        </p:txBody>
      </p:sp>
      <p:sp>
        <p:nvSpPr>
          <p:cNvPr id="3" name="Content Placeholder 2">
            <a:extLst>
              <a:ext uri="{FF2B5EF4-FFF2-40B4-BE49-F238E27FC236}">
                <a16:creationId xmlns:a16="http://schemas.microsoft.com/office/drawing/2014/main" id="{54EA1CE4-15B4-4290-8137-39575101BB21}"/>
              </a:ext>
            </a:extLst>
          </p:cNvPr>
          <p:cNvSpPr>
            <a:spLocks noGrp="1"/>
          </p:cNvSpPr>
          <p:nvPr>
            <p:ph sz="half" idx="1"/>
          </p:nvPr>
        </p:nvSpPr>
        <p:spPr>
          <a:xfrm>
            <a:off x="840063" y="1058638"/>
            <a:ext cx="10600570" cy="5214571"/>
          </a:xfrm>
          <a:solidFill>
            <a:schemeClr val="tx1"/>
          </a:solidFill>
        </p:spPr>
        <p:txBody>
          <a:bodyPr>
            <a:normAutofit fontScale="32500" lnSpcReduction="20000"/>
          </a:bodyPr>
          <a:lstStyle/>
          <a:p>
            <a:r>
              <a:rPr lang="en-US" sz="6400" dirty="0">
                <a:solidFill>
                  <a:schemeClr val="bg1"/>
                </a:solidFill>
                <a:latin typeface="Udemy Sans"/>
              </a:rPr>
              <a:t>“Method Overloading” concept is “writing multiple methods with same name within the</a:t>
            </a:r>
          </a:p>
          <a:p>
            <a:pPr marL="0" indent="0">
              <a:buNone/>
            </a:pPr>
            <a:r>
              <a:rPr lang="en-US" sz="6400" dirty="0">
                <a:solidFill>
                  <a:schemeClr val="bg1"/>
                </a:solidFill>
                <a:latin typeface="Udemy Sans"/>
              </a:rPr>
              <a:t>     same class, with different types of arguments”.</a:t>
            </a:r>
          </a:p>
          <a:p>
            <a:r>
              <a:rPr lang="en-US" sz="6400" dirty="0">
                <a:solidFill>
                  <a:schemeClr val="bg1"/>
                </a:solidFill>
                <a:latin typeface="Udemy Sans"/>
              </a:rPr>
              <a:t>The difference can be in data types of arguments or in no. of arguments.</a:t>
            </a:r>
          </a:p>
          <a:p>
            <a:r>
              <a:rPr lang="en-US" sz="6400" dirty="0">
                <a:solidFill>
                  <a:schemeClr val="bg1"/>
                </a:solidFill>
                <a:latin typeface="Udemy Sans"/>
              </a:rPr>
              <a:t>When you call a method, it calls the method, which matches with the given arguments.</a:t>
            </a:r>
          </a:p>
          <a:p>
            <a:r>
              <a:rPr lang="en-US" sz="6400" dirty="0">
                <a:solidFill>
                  <a:schemeClr val="bg1"/>
                </a:solidFill>
                <a:latin typeface="Udemy Sans"/>
              </a:rPr>
              <a:t>Example:</a:t>
            </a:r>
          </a:p>
          <a:p>
            <a:pPr lvl="1"/>
            <a:r>
              <a:rPr lang="en-US" sz="6000" dirty="0">
                <a:solidFill>
                  <a:schemeClr val="bg1"/>
                </a:solidFill>
                <a:latin typeface="Udemy Sans"/>
              </a:rPr>
              <a:t>Method1()</a:t>
            </a:r>
          </a:p>
          <a:p>
            <a:pPr lvl="1"/>
            <a:r>
              <a:rPr lang="en-US" sz="6000" dirty="0">
                <a:solidFill>
                  <a:schemeClr val="bg1"/>
                </a:solidFill>
                <a:latin typeface="Udemy Sans"/>
              </a:rPr>
              <a:t>Method1(int a)</a:t>
            </a:r>
          </a:p>
          <a:p>
            <a:pPr lvl="1"/>
            <a:r>
              <a:rPr lang="en-US" sz="6000" dirty="0">
                <a:solidFill>
                  <a:schemeClr val="bg1"/>
                </a:solidFill>
                <a:latin typeface="Udemy Sans"/>
              </a:rPr>
              <a:t>Method1(double d)</a:t>
            </a:r>
          </a:p>
          <a:p>
            <a:pPr lvl="1"/>
            <a:r>
              <a:rPr lang="en-US" sz="6000" dirty="0">
                <a:solidFill>
                  <a:schemeClr val="bg1"/>
                </a:solidFill>
                <a:latin typeface="Udemy Sans"/>
              </a:rPr>
              <a:t>Method1(int a, double d)</a:t>
            </a:r>
          </a:p>
          <a:p>
            <a:pPr lvl="1"/>
            <a:r>
              <a:rPr lang="en-US" sz="6000" dirty="0">
                <a:solidFill>
                  <a:schemeClr val="bg1"/>
                </a:solidFill>
                <a:latin typeface="Udemy Sans"/>
              </a:rPr>
              <a:t>Method1(double d, int a)</a:t>
            </a:r>
          </a:p>
          <a:p>
            <a:pPr lvl="1"/>
            <a:r>
              <a:rPr lang="en-US" sz="6000" dirty="0">
                <a:solidFill>
                  <a:schemeClr val="bg1"/>
                </a:solidFill>
                <a:latin typeface="Udemy Sans"/>
              </a:rPr>
              <a:t>Method1(string s) etc.</a:t>
            </a:r>
          </a:p>
          <a:p>
            <a:endParaRPr lang="en-IN" dirty="0"/>
          </a:p>
        </p:txBody>
      </p:sp>
    </p:spTree>
    <p:extLst>
      <p:ext uri="{BB962C8B-B14F-4D97-AF65-F5344CB8AC3E}">
        <p14:creationId xmlns:p14="http://schemas.microsoft.com/office/powerpoint/2010/main" val="3065926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50D8-62FB-4BAE-8139-98DE3DEC4359}"/>
              </a:ext>
            </a:extLst>
          </p:cNvPr>
          <p:cNvSpPr>
            <a:spLocks noGrp="1"/>
          </p:cNvSpPr>
          <p:nvPr>
            <p:ph type="title"/>
          </p:nvPr>
        </p:nvSpPr>
        <p:spPr>
          <a:xfrm>
            <a:off x="907496" y="129420"/>
            <a:ext cx="9905998" cy="448282"/>
          </a:xfrm>
        </p:spPr>
        <p:txBody>
          <a:bodyPr>
            <a:normAutofit fontScale="90000"/>
          </a:bodyPr>
          <a:lstStyle/>
          <a:p>
            <a:br>
              <a:rPr lang="en-US" sz="1800" b="1" spc="75" dirty="0">
                <a:solidFill>
                  <a:srgbClr val="000000"/>
                </a:solidFill>
                <a:effectLst/>
                <a:latin typeface="Arial" panose="020B0604020202020204" pitchFamily="34" charset="0"/>
                <a:ea typeface="Arial MT"/>
                <a:cs typeface="Arial MT"/>
              </a:rPr>
            </a:br>
            <a:r>
              <a:rPr lang="en-US" sz="1800" b="1" spc="75" dirty="0">
                <a:solidFill>
                  <a:srgbClr val="000000"/>
                </a:solidFill>
                <a:effectLst/>
                <a:latin typeface="Arial" panose="020B0604020202020204" pitchFamily="34" charset="0"/>
                <a:ea typeface="Arial MT"/>
                <a:cs typeface="Arial MT"/>
              </a:rPr>
              <a:t>Types</a:t>
            </a:r>
            <a:r>
              <a:rPr lang="en-US" sz="1800" b="1" spc="5" dirty="0">
                <a:solidFill>
                  <a:srgbClr val="000000"/>
                </a:solidFill>
                <a:effectLst/>
                <a:latin typeface="Arial" panose="020B0604020202020204" pitchFamily="34" charset="0"/>
                <a:ea typeface="Arial MT"/>
                <a:cs typeface="Arial MT"/>
              </a:rPr>
              <a:t> </a:t>
            </a:r>
            <a:r>
              <a:rPr lang="en-US" sz="1800" b="1" spc="55" dirty="0">
                <a:solidFill>
                  <a:srgbClr val="000000"/>
                </a:solidFill>
                <a:effectLst/>
                <a:latin typeface="Arial" panose="020B0604020202020204" pitchFamily="34" charset="0"/>
                <a:ea typeface="Arial MT"/>
                <a:cs typeface="Arial MT"/>
              </a:rPr>
              <a:t>of</a:t>
            </a:r>
            <a:r>
              <a:rPr lang="en-US" sz="1800" b="1" spc="20" dirty="0">
                <a:solidFill>
                  <a:srgbClr val="000000"/>
                </a:solidFill>
                <a:effectLst/>
                <a:latin typeface="Arial" panose="020B0604020202020204" pitchFamily="34" charset="0"/>
                <a:ea typeface="Arial MT"/>
                <a:cs typeface="Arial MT"/>
              </a:rPr>
              <a:t> </a:t>
            </a:r>
            <a:r>
              <a:rPr lang="en-US" sz="1800" b="1" spc="70" dirty="0">
                <a:solidFill>
                  <a:srgbClr val="000000"/>
                </a:solidFill>
                <a:effectLst/>
                <a:latin typeface="Arial" panose="020B0604020202020204" pitchFamily="34" charset="0"/>
                <a:ea typeface="Arial MT"/>
                <a:cs typeface="Arial MT"/>
              </a:rPr>
              <a:t>Parameters</a:t>
            </a:r>
            <a:br>
              <a:rPr lang="en-IN" sz="1800" dirty="0">
                <a:effectLst/>
                <a:latin typeface="Arial MT"/>
                <a:ea typeface="Arial MT"/>
                <a:cs typeface="Arial MT"/>
              </a:rPr>
            </a:br>
            <a:endParaRPr lang="en-IN" dirty="0"/>
          </a:p>
        </p:txBody>
      </p:sp>
      <p:sp>
        <p:nvSpPr>
          <p:cNvPr id="3" name="Content Placeholder 2">
            <a:extLst>
              <a:ext uri="{FF2B5EF4-FFF2-40B4-BE49-F238E27FC236}">
                <a16:creationId xmlns:a16="http://schemas.microsoft.com/office/drawing/2014/main" id="{BB8FECFD-6E0D-45C0-92DB-784A27D608E3}"/>
              </a:ext>
            </a:extLst>
          </p:cNvPr>
          <p:cNvSpPr>
            <a:spLocks noGrp="1"/>
          </p:cNvSpPr>
          <p:nvPr>
            <p:ph sz="half" idx="1"/>
          </p:nvPr>
        </p:nvSpPr>
        <p:spPr>
          <a:xfrm>
            <a:off x="361507" y="467833"/>
            <a:ext cx="11217349" cy="6260747"/>
          </a:xfrm>
          <a:solidFill>
            <a:schemeClr val="tx1"/>
          </a:solidFill>
        </p:spPr>
        <p:txBody>
          <a:bodyPr>
            <a:noAutofit/>
          </a:bodyPr>
          <a:lstStyle/>
          <a:p>
            <a:pPr algn="just"/>
            <a:r>
              <a:rPr lang="en-US" sz="1800" b="1" dirty="0">
                <a:solidFill>
                  <a:schemeClr val="bg1"/>
                </a:solidFill>
                <a:latin typeface="Udemy Sans"/>
              </a:rPr>
              <a:t>Call by Value</a:t>
            </a:r>
          </a:p>
          <a:p>
            <a:pPr lvl="1" algn="just"/>
            <a:r>
              <a:rPr lang="en-US" sz="1800" dirty="0">
                <a:solidFill>
                  <a:schemeClr val="bg1"/>
                </a:solidFill>
                <a:latin typeface="Udemy Sans"/>
              </a:rPr>
              <a:t>The changes made to the “argument variable” will not be effected in “original variable”.</a:t>
            </a:r>
          </a:p>
          <a:p>
            <a:pPr lvl="1" algn="just"/>
            <a:r>
              <a:rPr lang="en-US" sz="1800" dirty="0">
                <a:solidFill>
                  <a:schemeClr val="bg1"/>
                </a:solidFill>
                <a:latin typeface="Udemy Sans"/>
              </a:rPr>
              <a:t>This is default in c#.net.</a:t>
            </a:r>
          </a:p>
          <a:p>
            <a:pPr algn="just"/>
            <a:r>
              <a:rPr lang="en-US" sz="1800" b="1" dirty="0">
                <a:solidFill>
                  <a:schemeClr val="bg1"/>
                </a:solidFill>
                <a:latin typeface="Udemy Sans"/>
              </a:rPr>
              <a:t>Call by Reference</a:t>
            </a:r>
          </a:p>
          <a:p>
            <a:pPr lvl="1" algn="just"/>
            <a:r>
              <a:rPr lang="en-US" sz="1800" dirty="0">
                <a:solidFill>
                  <a:schemeClr val="bg1"/>
                </a:solidFill>
                <a:latin typeface="Udemy Sans"/>
              </a:rPr>
              <a:t>The changes made to the “argument variable” will be effected automatically in the “original variable”.</a:t>
            </a:r>
          </a:p>
          <a:p>
            <a:pPr lvl="1" algn="just"/>
            <a:r>
              <a:rPr lang="en-US" sz="1800" dirty="0">
                <a:solidFill>
                  <a:schemeClr val="bg1"/>
                </a:solidFill>
                <a:latin typeface="Udemy Sans"/>
              </a:rPr>
              <a:t>This is implemented using “ref” keyword with “original variable” and “argument variable”.</a:t>
            </a:r>
          </a:p>
          <a:p>
            <a:pPr lvl="1" algn="just"/>
            <a:r>
              <a:rPr lang="en-US" sz="1800" dirty="0">
                <a:solidFill>
                  <a:schemeClr val="bg1"/>
                </a:solidFill>
                <a:latin typeface="Udemy Sans"/>
              </a:rPr>
              <a:t>The “original variable” should be a variable (can’t be a literal).</a:t>
            </a:r>
          </a:p>
          <a:p>
            <a:pPr algn="just"/>
            <a:r>
              <a:rPr lang="en-US" sz="1800" b="1" dirty="0">
                <a:solidFill>
                  <a:schemeClr val="bg1"/>
                </a:solidFill>
                <a:latin typeface="Udemy Sans"/>
              </a:rPr>
              <a:t>Call by Output</a:t>
            </a:r>
          </a:p>
          <a:p>
            <a:pPr lvl="1" algn="just"/>
            <a:r>
              <a:rPr lang="en-US" sz="1800" dirty="0">
                <a:solidFill>
                  <a:schemeClr val="bg1"/>
                </a:solidFill>
                <a:latin typeface="Udemy Sans"/>
              </a:rPr>
              <a:t>This is same as “call by reference”.</a:t>
            </a:r>
          </a:p>
          <a:p>
            <a:pPr lvl="1" algn="just"/>
            <a:r>
              <a:rPr lang="en-US" sz="1800" dirty="0">
                <a:solidFill>
                  <a:schemeClr val="bg1"/>
                </a:solidFill>
                <a:latin typeface="Udemy Sans"/>
              </a:rPr>
              <a:t>The difference between “call by reference” and “call by output” is: the value of “original variable” will not be transferred to the “argument variable”; but the value comes back from “argument variable” to “original variable”, at the end of method.</a:t>
            </a:r>
          </a:p>
          <a:p>
            <a:pPr lvl="1" algn="just"/>
            <a:r>
              <a:rPr lang="en-US" sz="1800" dirty="0">
                <a:solidFill>
                  <a:schemeClr val="bg1"/>
                </a:solidFill>
                <a:latin typeface="Udemy Sans"/>
              </a:rPr>
              <a:t>The “argument variable” will be “unassigned” by default.</a:t>
            </a:r>
          </a:p>
          <a:p>
            <a:pPr lvl="1" algn="just"/>
            <a:r>
              <a:rPr lang="en-US" sz="1800" dirty="0">
                <a:solidFill>
                  <a:schemeClr val="bg1"/>
                </a:solidFill>
                <a:latin typeface="Udemy Sans"/>
              </a:rPr>
              <a:t>The “argument variable” must be set to a value before the method definition ends.</a:t>
            </a:r>
          </a:p>
          <a:p>
            <a:pPr lvl="1" algn="just"/>
            <a:r>
              <a:rPr lang="en-US" sz="1800" dirty="0">
                <a:solidFill>
                  <a:schemeClr val="bg1"/>
                </a:solidFill>
                <a:latin typeface="Udemy Sans"/>
              </a:rPr>
              <a:t>This is implemented using “out” keyword in both calling portion and receiving portion.</a:t>
            </a:r>
          </a:p>
          <a:p>
            <a:pPr lvl="1" algn="just"/>
            <a:r>
              <a:rPr lang="en-US" sz="1800" dirty="0">
                <a:solidFill>
                  <a:schemeClr val="bg1"/>
                </a:solidFill>
                <a:latin typeface="Udemy Sans"/>
              </a:rPr>
              <a:t>The “original variable” should be a variable; can’t be a literal.</a:t>
            </a:r>
            <a:endParaRPr lang="en-IN" sz="1800" dirty="0">
              <a:solidFill>
                <a:schemeClr val="bg1"/>
              </a:solidFill>
              <a:latin typeface="Udemy Sans"/>
            </a:endParaRPr>
          </a:p>
        </p:txBody>
      </p:sp>
    </p:spTree>
    <p:extLst>
      <p:ext uri="{BB962C8B-B14F-4D97-AF65-F5344CB8AC3E}">
        <p14:creationId xmlns:p14="http://schemas.microsoft.com/office/powerpoint/2010/main" val="3568634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49A4B04-16A3-43AF-90D5-9F65693E51A2}"/>
              </a:ext>
            </a:extLst>
          </p:cNvPr>
          <p:cNvSpPr>
            <a:spLocks noGrp="1"/>
          </p:cNvSpPr>
          <p:nvPr>
            <p:ph type="title"/>
          </p:nvPr>
        </p:nvSpPr>
        <p:spPr>
          <a:xfrm>
            <a:off x="769274" y="287079"/>
            <a:ext cx="9905998" cy="470307"/>
          </a:xfrm>
        </p:spPr>
        <p:txBody>
          <a:bodyPr>
            <a:normAutofit fontScale="90000"/>
          </a:bodyPr>
          <a:lstStyle/>
          <a:p>
            <a:br>
              <a:rPr lang="en-IN" b="0" i="0" dirty="0">
                <a:solidFill>
                  <a:srgbClr val="2A2B3F"/>
                </a:solidFill>
                <a:effectLst/>
                <a:latin typeface="Udemy Sans"/>
              </a:rPr>
            </a:br>
            <a:r>
              <a:rPr lang="en-IN" b="0" i="0" dirty="0">
                <a:solidFill>
                  <a:srgbClr val="2A2B3F"/>
                </a:solidFill>
                <a:effectLst/>
                <a:latin typeface="Udemy Sans"/>
              </a:rPr>
              <a:t>Parameter Modifiers (default)</a:t>
            </a:r>
            <a:br>
              <a:rPr lang="en-IN" b="0" i="0" dirty="0">
                <a:solidFill>
                  <a:srgbClr val="2A2B3F"/>
                </a:solidFill>
                <a:effectLst/>
                <a:latin typeface="Udemy Sans"/>
              </a:rPr>
            </a:br>
            <a:endParaRPr lang="en-IN" dirty="0"/>
          </a:p>
        </p:txBody>
      </p:sp>
      <p:pic>
        <p:nvPicPr>
          <p:cNvPr id="1026" name="Picture 2">
            <a:extLst>
              <a:ext uri="{FF2B5EF4-FFF2-40B4-BE49-F238E27FC236}">
                <a16:creationId xmlns:a16="http://schemas.microsoft.com/office/drawing/2014/main" id="{87A326ED-E52F-464B-B7B0-CBFA9EC30F3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1141413" y="2094614"/>
            <a:ext cx="9533859" cy="4008473"/>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7">
            <a:extLst>
              <a:ext uri="{FF2B5EF4-FFF2-40B4-BE49-F238E27FC236}">
                <a16:creationId xmlns:a16="http://schemas.microsoft.com/office/drawing/2014/main" id="{4F51A321-A979-409A-B7A5-99336E2EB2AF}"/>
              </a:ext>
            </a:extLst>
          </p:cNvPr>
          <p:cNvSpPr>
            <a:spLocks noGrp="1"/>
          </p:cNvSpPr>
          <p:nvPr>
            <p:ph sz="half" idx="2"/>
          </p:nvPr>
        </p:nvSpPr>
        <p:spPr>
          <a:xfrm>
            <a:off x="1141413" y="1158948"/>
            <a:ext cx="10384280" cy="932123"/>
          </a:xfrm>
        </p:spPr>
        <p:txBody>
          <a:bodyPr/>
          <a:lstStyle/>
          <a:p>
            <a:r>
              <a:rPr lang="en-US" b="0" i="0" dirty="0">
                <a:solidFill>
                  <a:srgbClr val="2A2B3F"/>
                </a:solidFill>
                <a:effectLst/>
                <a:latin typeface="Udemy Sans"/>
              </a:rPr>
              <a:t>The "Argument" will be assigned into the "Parameter" but not reverse.</a:t>
            </a:r>
            <a:endParaRPr lang="en-IN" dirty="0"/>
          </a:p>
        </p:txBody>
      </p:sp>
    </p:spTree>
    <p:extLst>
      <p:ext uri="{BB962C8B-B14F-4D97-AF65-F5344CB8AC3E}">
        <p14:creationId xmlns:p14="http://schemas.microsoft.com/office/powerpoint/2010/main" val="3000781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49A4B04-16A3-43AF-90D5-9F65693E51A2}"/>
              </a:ext>
            </a:extLst>
          </p:cNvPr>
          <p:cNvSpPr>
            <a:spLocks noGrp="1"/>
          </p:cNvSpPr>
          <p:nvPr>
            <p:ph type="title"/>
          </p:nvPr>
        </p:nvSpPr>
        <p:spPr>
          <a:xfrm>
            <a:off x="769274" y="287079"/>
            <a:ext cx="9905998" cy="470307"/>
          </a:xfrm>
        </p:spPr>
        <p:txBody>
          <a:bodyPr>
            <a:normAutofit fontScale="90000"/>
          </a:bodyPr>
          <a:lstStyle/>
          <a:p>
            <a:br>
              <a:rPr lang="en-IN" b="0" i="0" dirty="0">
                <a:solidFill>
                  <a:srgbClr val="2A2B3F"/>
                </a:solidFill>
                <a:effectLst/>
                <a:latin typeface="Udemy Sans"/>
              </a:rPr>
            </a:br>
            <a:r>
              <a:rPr lang="en-IN" b="0" i="0" dirty="0">
                <a:solidFill>
                  <a:srgbClr val="2A2B3F"/>
                </a:solidFill>
                <a:effectLst/>
                <a:latin typeface="Udemy Sans"/>
              </a:rPr>
              <a:t>Parameter Modifiers (ref)</a:t>
            </a:r>
            <a:br>
              <a:rPr lang="en-IN" b="0" i="0" dirty="0">
                <a:solidFill>
                  <a:srgbClr val="2A2B3F"/>
                </a:solidFill>
                <a:effectLst/>
                <a:latin typeface="Udemy Sans"/>
              </a:rPr>
            </a:br>
            <a:endParaRPr lang="en-IN" dirty="0"/>
          </a:p>
        </p:txBody>
      </p:sp>
      <p:sp>
        <p:nvSpPr>
          <p:cNvPr id="8" name="Content Placeholder 7">
            <a:extLst>
              <a:ext uri="{FF2B5EF4-FFF2-40B4-BE49-F238E27FC236}">
                <a16:creationId xmlns:a16="http://schemas.microsoft.com/office/drawing/2014/main" id="{4F51A321-A979-409A-B7A5-99336E2EB2AF}"/>
              </a:ext>
            </a:extLst>
          </p:cNvPr>
          <p:cNvSpPr>
            <a:spLocks noGrp="1"/>
          </p:cNvSpPr>
          <p:nvPr>
            <p:ph sz="half" idx="2"/>
          </p:nvPr>
        </p:nvSpPr>
        <p:spPr>
          <a:xfrm>
            <a:off x="903860" y="861236"/>
            <a:ext cx="10384280" cy="932123"/>
          </a:xfrm>
        </p:spPr>
        <p:txBody>
          <a:bodyPr>
            <a:normAutofit fontScale="92500" lnSpcReduction="20000"/>
          </a:bodyPr>
          <a:lstStyle/>
          <a:p>
            <a:pPr algn="l"/>
            <a:r>
              <a:rPr lang="en-US" b="0" i="0" dirty="0">
                <a:solidFill>
                  <a:srgbClr val="2A2B3F"/>
                </a:solidFill>
                <a:effectLst/>
                <a:latin typeface="Udemy Sans"/>
              </a:rPr>
              <a:t>The "Argument" will be assigned into the "Parameter" and vice versa.</a:t>
            </a:r>
          </a:p>
          <a:p>
            <a:pPr algn="l"/>
            <a:r>
              <a:rPr lang="en-US" b="0" i="0" dirty="0">
                <a:solidFill>
                  <a:srgbClr val="2A2B3F"/>
                </a:solidFill>
                <a:effectLst/>
                <a:latin typeface="Udemy Sans"/>
              </a:rPr>
              <a:t>The Argument must be a variable and must be pre-initialized.</a:t>
            </a:r>
          </a:p>
        </p:txBody>
      </p:sp>
      <p:pic>
        <p:nvPicPr>
          <p:cNvPr id="2050" name="Picture 2">
            <a:extLst>
              <a:ext uri="{FF2B5EF4-FFF2-40B4-BE49-F238E27FC236}">
                <a16:creationId xmlns:a16="http://schemas.microsoft.com/office/drawing/2014/main" id="{22AE8F5B-07A3-4E15-9ED8-83EBF6582647}"/>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141413" y="2126512"/>
            <a:ext cx="8215238"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43690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49A4B04-16A3-43AF-90D5-9F65693E51A2}"/>
              </a:ext>
            </a:extLst>
          </p:cNvPr>
          <p:cNvSpPr>
            <a:spLocks noGrp="1"/>
          </p:cNvSpPr>
          <p:nvPr>
            <p:ph type="title"/>
          </p:nvPr>
        </p:nvSpPr>
        <p:spPr>
          <a:xfrm>
            <a:off x="769274" y="287079"/>
            <a:ext cx="9905998" cy="470307"/>
          </a:xfrm>
        </p:spPr>
        <p:txBody>
          <a:bodyPr>
            <a:normAutofit fontScale="90000"/>
          </a:bodyPr>
          <a:lstStyle/>
          <a:p>
            <a:br>
              <a:rPr lang="en-IN" b="0" i="0" dirty="0">
                <a:solidFill>
                  <a:srgbClr val="2A2B3F"/>
                </a:solidFill>
                <a:effectLst/>
                <a:latin typeface="Udemy Sans"/>
              </a:rPr>
            </a:br>
            <a:r>
              <a:rPr lang="en-IN" b="0" i="0" dirty="0">
                <a:solidFill>
                  <a:srgbClr val="2A2B3F"/>
                </a:solidFill>
                <a:effectLst/>
                <a:latin typeface="Udemy Sans"/>
              </a:rPr>
              <a:t>Parameter Modifiers (out)</a:t>
            </a:r>
            <a:br>
              <a:rPr lang="en-IN" b="0" i="0" dirty="0">
                <a:solidFill>
                  <a:srgbClr val="2A2B3F"/>
                </a:solidFill>
                <a:effectLst/>
                <a:latin typeface="Udemy Sans"/>
              </a:rPr>
            </a:br>
            <a:endParaRPr lang="en-IN" dirty="0"/>
          </a:p>
        </p:txBody>
      </p:sp>
      <p:sp>
        <p:nvSpPr>
          <p:cNvPr id="8" name="Content Placeholder 7">
            <a:extLst>
              <a:ext uri="{FF2B5EF4-FFF2-40B4-BE49-F238E27FC236}">
                <a16:creationId xmlns:a16="http://schemas.microsoft.com/office/drawing/2014/main" id="{4F51A321-A979-409A-B7A5-99336E2EB2AF}"/>
              </a:ext>
            </a:extLst>
          </p:cNvPr>
          <p:cNvSpPr>
            <a:spLocks noGrp="1"/>
          </p:cNvSpPr>
          <p:nvPr>
            <p:ph sz="half" idx="2"/>
          </p:nvPr>
        </p:nvSpPr>
        <p:spPr>
          <a:xfrm>
            <a:off x="903860" y="861236"/>
            <a:ext cx="10384280" cy="932123"/>
          </a:xfrm>
        </p:spPr>
        <p:txBody>
          <a:bodyPr>
            <a:normAutofit fontScale="92500" lnSpcReduction="20000"/>
          </a:bodyPr>
          <a:lstStyle/>
          <a:p>
            <a:pPr algn="l"/>
            <a:r>
              <a:rPr lang="en-US" b="0" i="0" dirty="0">
                <a:solidFill>
                  <a:srgbClr val="2A2B3F"/>
                </a:solidFill>
                <a:effectLst/>
                <a:latin typeface="Udemy Sans"/>
              </a:rPr>
              <a:t>The "Argument" will not be assigned into the "Parameter" but only reverse.</a:t>
            </a:r>
          </a:p>
          <a:p>
            <a:pPr algn="l"/>
            <a:r>
              <a:rPr lang="en-US" b="0" i="0" dirty="0">
                <a:solidFill>
                  <a:srgbClr val="2A2B3F"/>
                </a:solidFill>
                <a:effectLst/>
                <a:latin typeface="Udemy Sans"/>
              </a:rPr>
              <a:t>The Argument must be a variable; The Argument can be un-initialized.</a:t>
            </a:r>
          </a:p>
        </p:txBody>
      </p:sp>
      <p:pic>
        <p:nvPicPr>
          <p:cNvPr id="3074" name="Picture 2">
            <a:extLst>
              <a:ext uri="{FF2B5EF4-FFF2-40B4-BE49-F238E27FC236}">
                <a16:creationId xmlns:a16="http://schemas.microsoft.com/office/drawing/2014/main" id="{D57321C2-F3F0-4A06-A194-0A040FDE5E7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141413" y="2158409"/>
            <a:ext cx="8353461" cy="3838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393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49A4B04-16A3-43AF-90D5-9F65693E51A2}"/>
              </a:ext>
            </a:extLst>
          </p:cNvPr>
          <p:cNvSpPr>
            <a:spLocks noGrp="1"/>
          </p:cNvSpPr>
          <p:nvPr>
            <p:ph type="title"/>
          </p:nvPr>
        </p:nvSpPr>
        <p:spPr>
          <a:xfrm>
            <a:off x="769274" y="287079"/>
            <a:ext cx="9905998" cy="470307"/>
          </a:xfrm>
        </p:spPr>
        <p:txBody>
          <a:bodyPr>
            <a:normAutofit fontScale="90000"/>
          </a:bodyPr>
          <a:lstStyle/>
          <a:p>
            <a:br>
              <a:rPr lang="en-IN" b="0" i="0" dirty="0">
                <a:solidFill>
                  <a:srgbClr val="2A2B3F"/>
                </a:solidFill>
                <a:effectLst/>
                <a:latin typeface="Udemy Sans"/>
              </a:rPr>
            </a:br>
            <a:r>
              <a:rPr lang="en-IN" b="0" i="0" dirty="0">
                <a:solidFill>
                  <a:srgbClr val="2A2B3F"/>
                </a:solidFill>
                <a:effectLst/>
                <a:latin typeface="Udemy Sans"/>
              </a:rPr>
              <a:t>Parameter Modifiers (in)</a:t>
            </a:r>
            <a:br>
              <a:rPr lang="en-IN" b="0" i="0" dirty="0">
                <a:solidFill>
                  <a:srgbClr val="2A2B3F"/>
                </a:solidFill>
                <a:effectLst/>
                <a:latin typeface="Udemy Sans"/>
              </a:rPr>
            </a:br>
            <a:endParaRPr lang="en-IN" dirty="0"/>
          </a:p>
        </p:txBody>
      </p:sp>
      <p:sp>
        <p:nvSpPr>
          <p:cNvPr id="8" name="Content Placeholder 7">
            <a:extLst>
              <a:ext uri="{FF2B5EF4-FFF2-40B4-BE49-F238E27FC236}">
                <a16:creationId xmlns:a16="http://schemas.microsoft.com/office/drawing/2014/main" id="{4F51A321-A979-409A-B7A5-99336E2EB2AF}"/>
              </a:ext>
            </a:extLst>
          </p:cNvPr>
          <p:cNvSpPr>
            <a:spLocks noGrp="1"/>
          </p:cNvSpPr>
          <p:nvPr>
            <p:ph sz="half" idx="2"/>
          </p:nvPr>
        </p:nvSpPr>
        <p:spPr>
          <a:xfrm>
            <a:off x="903860" y="861236"/>
            <a:ext cx="10898280" cy="1594885"/>
          </a:xfrm>
        </p:spPr>
        <p:txBody>
          <a:bodyPr>
            <a:noAutofit/>
          </a:bodyPr>
          <a:lstStyle/>
          <a:p>
            <a:pPr algn="l"/>
            <a:r>
              <a:rPr lang="en-US" sz="1800" b="0" i="0" dirty="0">
                <a:solidFill>
                  <a:srgbClr val="2A2B3F"/>
                </a:solidFill>
                <a:effectLst/>
                <a:latin typeface="Udemy Sans"/>
              </a:rPr>
              <a:t>The "Argument" will be assigned into the "Parameter", but the parameter becomes read-only.</a:t>
            </a:r>
          </a:p>
          <a:p>
            <a:pPr algn="l"/>
            <a:r>
              <a:rPr lang="en-US" sz="1800" b="0" i="0" dirty="0">
                <a:solidFill>
                  <a:srgbClr val="2A2B3F"/>
                </a:solidFill>
                <a:effectLst/>
                <a:latin typeface="Udemy Sans"/>
              </a:rPr>
              <a:t>We can't modify the value of parameter in the method; if you try to change, compile-time error will be shown.</a:t>
            </a:r>
          </a:p>
          <a:p>
            <a:pPr algn="l"/>
            <a:r>
              <a:rPr lang="en-US" sz="1800" b="0" i="0" dirty="0">
                <a:solidFill>
                  <a:srgbClr val="2A2B3F"/>
                </a:solidFill>
                <a:effectLst/>
                <a:latin typeface="Udemy Sans"/>
              </a:rPr>
              <a:t>New feature of C# 7.2</a:t>
            </a:r>
            <a:r>
              <a:rPr lang="en-US" sz="2000" b="0" i="0" dirty="0">
                <a:solidFill>
                  <a:srgbClr val="2A2B3F"/>
                </a:solidFill>
                <a:effectLst/>
                <a:latin typeface="Udemy Sans"/>
              </a:rPr>
              <a:t>.</a:t>
            </a:r>
          </a:p>
        </p:txBody>
      </p:sp>
      <p:pic>
        <p:nvPicPr>
          <p:cNvPr id="4098" name="Picture 2">
            <a:extLst>
              <a:ext uri="{FF2B5EF4-FFF2-40B4-BE49-F238E27FC236}">
                <a16:creationId xmlns:a16="http://schemas.microsoft.com/office/drawing/2014/main" id="{B5F51898-C58A-442F-84D7-522EFA0CC0B6}"/>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066537" y="2456121"/>
            <a:ext cx="7311471" cy="36257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3181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49A4B04-16A3-43AF-90D5-9F65693E51A2}"/>
              </a:ext>
            </a:extLst>
          </p:cNvPr>
          <p:cNvSpPr>
            <a:spLocks noGrp="1"/>
          </p:cNvSpPr>
          <p:nvPr>
            <p:ph type="title"/>
          </p:nvPr>
        </p:nvSpPr>
        <p:spPr>
          <a:xfrm>
            <a:off x="769274" y="287079"/>
            <a:ext cx="9905998" cy="470307"/>
          </a:xfrm>
        </p:spPr>
        <p:txBody>
          <a:bodyPr>
            <a:normAutofit fontScale="90000"/>
          </a:bodyPr>
          <a:lstStyle/>
          <a:p>
            <a:br>
              <a:rPr lang="en-IN" b="0" i="0" dirty="0">
                <a:solidFill>
                  <a:srgbClr val="2A2B3F"/>
                </a:solidFill>
                <a:effectLst/>
                <a:latin typeface="Udemy Sans"/>
              </a:rPr>
            </a:br>
            <a:r>
              <a:rPr lang="en-IN" b="0" i="0" dirty="0">
                <a:solidFill>
                  <a:srgbClr val="2A2B3F"/>
                </a:solidFill>
                <a:effectLst/>
                <a:latin typeface="Udemy Sans"/>
              </a:rPr>
              <a:t>ref returns</a:t>
            </a:r>
            <a:br>
              <a:rPr lang="en-IN" b="0" i="0" dirty="0">
                <a:solidFill>
                  <a:srgbClr val="2A2B3F"/>
                </a:solidFill>
                <a:effectLst/>
                <a:latin typeface="Udemy Sans"/>
              </a:rPr>
            </a:br>
            <a:endParaRPr lang="en-IN" dirty="0"/>
          </a:p>
        </p:txBody>
      </p:sp>
      <p:sp>
        <p:nvSpPr>
          <p:cNvPr id="8" name="Content Placeholder 7">
            <a:extLst>
              <a:ext uri="{FF2B5EF4-FFF2-40B4-BE49-F238E27FC236}">
                <a16:creationId xmlns:a16="http://schemas.microsoft.com/office/drawing/2014/main" id="{4F51A321-A979-409A-B7A5-99336E2EB2AF}"/>
              </a:ext>
            </a:extLst>
          </p:cNvPr>
          <p:cNvSpPr>
            <a:spLocks noGrp="1"/>
          </p:cNvSpPr>
          <p:nvPr>
            <p:ph sz="half" idx="2"/>
          </p:nvPr>
        </p:nvSpPr>
        <p:spPr>
          <a:xfrm>
            <a:off x="903860" y="861236"/>
            <a:ext cx="10898280" cy="1020727"/>
          </a:xfrm>
        </p:spPr>
        <p:txBody>
          <a:bodyPr>
            <a:noAutofit/>
          </a:bodyPr>
          <a:lstStyle/>
          <a:p>
            <a:pPr algn="l"/>
            <a:r>
              <a:rPr lang="en-US" sz="2000" b="0" i="0" dirty="0">
                <a:solidFill>
                  <a:srgbClr val="2A2B3F"/>
                </a:solidFill>
                <a:effectLst/>
                <a:latin typeface="Udemy Sans"/>
              </a:rPr>
              <a:t>The reference of return variable will be assigned to receiving variable.</a:t>
            </a:r>
          </a:p>
          <a:p>
            <a:pPr algn="l"/>
            <a:r>
              <a:rPr lang="en-US" sz="2000" b="0" i="0" dirty="0">
                <a:solidFill>
                  <a:srgbClr val="2A2B3F"/>
                </a:solidFill>
                <a:effectLst/>
                <a:latin typeface="Udemy Sans"/>
              </a:rPr>
              <a:t>New feature in C# 7.3.</a:t>
            </a:r>
          </a:p>
        </p:txBody>
      </p:sp>
      <p:pic>
        <p:nvPicPr>
          <p:cNvPr id="5124" name="Picture 4">
            <a:extLst>
              <a:ext uri="{FF2B5EF4-FFF2-40B4-BE49-F238E27FC236}">
                <a16:creationId xmlns:a16="http://schemas.microsoft.com/office/drawing/2014/main" id="{445A48F1-6F9F-4A9D-89D3-D4FC854921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925" y="2249486"/>
            <a:ext cx="9908150" cy="4044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37160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49A4B04-16A3-43AF-90D5-9F65693E51A2}"/>
              </a:ext>
            </a:extLst>
          </p:cNvPr>
          <p:cNvSpPr>
            <a:spLocks noGrp="1"/>
          </p:cNvSpPr>
          <p:nvPr>
            <p:ph type="title"/>
          </p:nvPr>
        </p:nvSpPr>
        <p:spPr>
          <a:xfrm>
            <a:off x="769274" y="287079"/>
            <a:ext cx="9905998" cy="470307"/>
          </a:xfrm>
        </p:spPr>
        <p:txBody>
          <a:bodyPr>
            <a:normAutofit fontScale="90000"/>
          </a:bodyPr>
          <a:lstStyle/>
          <a:p>
            <a:br>
              <a:rPr lang="en-IN" b="0" i="0" dirty="0">
                <a:solidFill>
                  <a:srgbClr val="2A2B3F"/>
                </a:solidFill>
                <a:effectLst/>
                <a:latin typeface="Udemy Sans"/>
              </a:rPr>
            </a:br>
            <a:r>
              <a:rPr lang="en-IN" b="0" i="0" dirty="0">
                <a:solidFill>
                  <a:srgbClr val="2A2B3F"/>
                </a:solidFill>
                <a:effectLst/>
                <a:latin typeface="Udemy Sans"/>
              </a:rPr>
              <a:t>Parameter Modifiers (params)</a:t>
            </a:r>
            <a:br>
              <a:rPr lang="en-IN" b="0" i="0" dirty="0">
                <a:solidFill>
                  <a:srgbClr val="2A2B3F"/>
                </a:solidFill>
                <a:effectLst/>
                <a:latin typeface="Udemy Sans"/>
              </a:rPr>
            </a:br>
            <a:endParaRPr lang="en-IN" dirty="0"/>
          </a:p>
        </p:txBody>
      </p:sp>
      <p:sp>
        <p:nvSpPr>
          <p:cNvPr id="8" name="Content Placeholder 7">
            <a:extLst>
              <a:ext uri="{FF2B5EF4-FFF2-40B4-BE49-F238E27FC236}">
                <a16:creationId xmlns:a16="http://schemas.microsoft.com/office/drawing/2014/main" id="{4F51A321-A979-409A-B7A5-99336E2EB2AF}"/>
              </a:ext>
            </a:extLst>
          </p:cNvPr>
          <p:cNvSpPr>
            <a:spLocks noGrp="1"/>
          </p:cNvSpPr>
          <p:nvPr>
            <p:ph sz="half" idx="2"/>
          </p:nvPr>
        </p:nvSpPr>
        <p:spPr>
          <a:xfrm>
            <a:off x="903860" y="861236"/>
            <a:ext cx="10898280" cy="1020727"/>
          </a:xfrm>
        </p:spPr>
        <p:txBody>
          <a:bodyPr>
            <a:noAutofit/>
          </a:bodyPr>
          <a:lstStyle/>
          <a:p>
            <a:pPr algn="l"/>
            <a:r>
              <a:rPr lang="en-US" sz="1600" b="0" i="0" dirty="0">
                <a:solidFill>
                  <a:srgbClr val="2A2B3F"/>
                </a:solidFill>
                <a:effectLst/>
                <a:latin typeface="Udemy Sans"/>
              </a:rPr>
              <a:t>All the set of arguments will be at-a-time received as an array into the parameter.</a:t>
            </a:r>
          </a:p>
          <a:p>
            <a:pPr algn="l"/>
            <a:r>
              <a:rPr lang="en-US" sz="1600" b="0" i="0" dirty="0">
                <a:solidFill>
                  <a:srgbClr val="2A2B3F"/>
                </a:solidFill>
                <a:effectLst/>
                <a:latin typeface="Udemy Sans"/>
              </a:rPr>
              <a:t>The "params" parameter modifier can be used only for the last parameter of the method; and can be used only once for one method</a:t>
            </a:r>
          </a:p>
        </p:txBody>
      </p:sp>
      <p:pic>
        <p:nvPicPr>
          <p:cNvPr id="6146" name="Picture 2">
            <a:extLst>
              <a:ext uri="{FF2B5EF4-FFF2-40B4-BE49-F238E27FC236}">
                <a16:creationId xmlns:a16="http://schemas.microsoft.com/office/drawing/2014/main" id="{D5EDDA52-BDED-4077-8DAB-2749CE42D2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7023" y="2222205"/>
            <a:ext cx="8708249" cy="4390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8242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EBC9B-6A54-4AB2-940F-5C36F0CE79F2}"/>
              </a:ext>
            </a:extLst>
          </p:cNvPr>
          <p:cNvSpPr>
            <a:spLocks noGrp="1"/>
          </p:cNvSpPr>
          <p:nvPr>
            <p:ph type="title"/>
          </p:nvPr>
        </p:nvSpPr>
        <p:spPr>
          <a:xfrm>
            <a:off x="659220" y="190529"/>
            <a:ext cx="9905998" cy="448282"/>
          </a:xfrm>
        </p:spPr>
        <p:txBody>
          <a:bodyPr>
            <a:noAutofit/>
          </a:bodyPr>
          <a:lstStyle/>
          <a:p>
            <a:r>
              <a:rPr lang="en-IN" sz="2400" dirty="0">
                <a:solidFill>
                  <a:schemeClr val="bg1"/>
                </a:solidFill>
                <a:latin typeface="Calibri" panose="020F0502020204030204" pitchFamily="34" charset="0"/>
                <a:ea typeface="Calibri" panose="020F0502020204030204" pitchFamily="34" charset="0"/>
                <a:cs typeface="Calibri" panose="020F0502020204030204" pitchFamily="34" charset="0"/>
              </a:rPr>
              <a:t>Type Conversion</a:t>
            </a:r>
          </a:p>
        </p:txBody>
      </p:sp>
      <p:sp>
        <p:nvSpPr>
          <p:cNvPr id="3" name="Content Placeholder 2">
            <a:extLst>
              <a:ext uri="{FF2B5EF4-FFF2-40B4-BE49-F238E27FC236}">
                <a16:creationId xmlns:a16="http://schemas.microsoft.com/office/drawing/2014/main" id="{DD090B98-417B-4828-B062-E45B660C2C01}"/>
              </a:ext>
            </a:extLst>
          </p:cNvPr>
          <p:cNvSpPr>
            <a:spLocks noGrp="1"/>
          </p:cNvSpPr>
          <p:nvPr>
            <p:ph sz="half" idx="1"/>
          </p:nvPr>
        </p:nvSpPr>
        <p:spPr>
          <a:xfrm>
            <a:off x="659220" y="673396"/>
            <a:ext cx="11610752" cy="2569533"/>
          </a:xfrm>
        </p:spPr>
        <p:txBody>
          <a:bodyPr>
            <a:normAutofit/>
          </a:bodyPr>
          <a:lstStyle/>
          <a:p>
            <a:pPr algn="just"/>
            <a:r>
              <a:rPr lang="en-US" sz="1600" dirty="0">
                <a:solidFill>
                  <a:schemeClr val="bg1"/>
                </a:solidFill>
                <a:latin typeface="Udemy Sans"/>
              </a:rPr>
              <a:t>The process of converting a value from “one data type” to “another data type” is called as “type conversion”.</a:t>
            </a:r>
          </a:p>
          <a:p>
            <a:pPr algn="just"/>
            <a:r>
              <a:rPr lang="en-US" sz="1600" dirty="0">
                <a:solidFill>
                  <a:schemeClr val="bg1"/>
                </a:solidFill>
                <a:latin typeface="Udemy Sans"/>
              </a:rPr>
              <a:t>C# supports 4 types of type conversion:</a:t>
            </a:r>
          </a:p>
          <a:p>
            <a:pPr marL="457200" lvl="1" indent="0" algn="just">
              <a:buNone/>
            </a:pPr>
            <a:r>
              <a:rPr lang="en-US" sz="1600" dirty="0">
                <a:solidFill>
                  <a:schemeClr val="bg1"/>
                </a:solidFill>
                <a:latin typeface="Udemy Sans"/>
              </a:rPr>
              <a:t>1.Implicit Casting</a:t>
            </a:r>
          </a:p>
          <a:p>
            <a:pPr marL="457200" lvl="1" indent="0" algn="just">
              <a:buNone/>
            </a:pPr>
            <a:r>
              <a:rPr lang="en-US" sz="1600" dirty="0">
                <a:solidFill>
                  <a:schemeClr val="bg1"/>
                </a:solidFill>
                <a:latin typeface="Udemy Sans"/>
              </a:rPr>
              <a:t>2.Explicit Casting (or) Type Casting</a:t>
            </a:r>
          </a:p>
          <a:p>
            <a:pPr marL="457200" lvl="1" indent="0" algn="just">
              <a:buNone/>
            </a:pPr>
            <a:r>
              <a:rPr lang="en-US" sz="1600" dirty="0">
                <a:solidFill>
                  <a:schemeClr val="bg1"/>
                </a:solidFill>
                <a:latin typeface="Udemy Sans"/>
              </a:rPr>
              <a:t>3.Parsing</a:t>
            </a:r>
          </a:p>
          <a:p>
            <a:pPr marL="457200" lvl="1" indent="0" algn="just">
              <a:buNone/>
            </a:pPr>
            <a:r>
              <a:rPr lang="en-US" sz="1600" dirty="0">
                <a:solidFill>
                  <a:schemeClr val="bg1"/>
                </a:solidFill>
                <a:latin typeface="Udemy Sans"/>
              </a:rPr>
              <a:t>4.Conversion Methods</a:t>
            </a:r>
          </a:p>
          <a:p>
            <a:endParaRPr lang="en-IN" dirty="0"/>
          </a:p>
        </p:txBody>
      </p:sp>
      <p:sp>
        <p:nvSpPr>
          <p:cNvPr id="4" name="Content Placeholder 3">
            <a:extLst>
              <a:ext uri="{FF2B5EF4-FFF2-40B4-BE49-F238E27FC236}">
                <a16:creationId xmlns:a16="http://schemas.microsoft.com/office/drawing/2014/main" id="{FEFA930E-04FB-4BC2-9382-B7B284BCAC3B}"/>
              </a:ext>
            </a:extLst>
          </p:cNvPr>
          <p:cNvSpPr>
            <a:spLocks noGrp="1"/>
          </p:cNvSpPr>
          <p:nvPr>
            <p:ph sz="half" idx="2"/>
          </p:nvPr>
        </p:nvSpPr>
        <p:spPr>
          <a:xfrm>
            <a:off x="496370" y="3242929"/>
            <a:ext cx="11196084" cy="3200401"/>
          </a:xfrm>
        </p:spPr>
        <p:txBody>
          <a:bodyPr>
            <a:noAutofit/>
          </a:bodyPr>
          <a:lstStyle/>
          <a:p>
            <a:pPr marL="0" marR="466725" lvl="0" indent="0">
              <a:lnSpc>
                <a:spcPct val="162000"/>
              </a:lnSpc>
              <a:spcBef>
                <a:spcPts val="740"/>
              </a:spcBef>
              <a:spcAft>
                <a:spcPts val="0"/>
              </a:spcAft>
              <a:buNone/>
              <a:tabLst>
                <a:tab pos="652145" algn="l"/>
              </a:tabLst>
            </a:pPr>
            <a:r>
              <a:rPr lang="en-US" sz="1400" b="1" spc="0" dirty="0">
                <a:solidFill>
                  <a:schemeClr val="bg1"/>
                </a:solidFill>
                <a:effectLst/>
                <a:latin typeface="Udemy Sans"/>
                <a:ea typeface="Symbol" panose="05050102010706020507" pitchFamily="18" charset="2"/>
                <a:cs typeface="Symbol" panose="05050102010706020507" pitchFamily="18" charset="2"/>
              </a:rPr>
              <a:t>Implicit Casting</a:t>
            </a:r>
          </a:p>
          <a:p>
            <a:pPr marR="466725" lvl="0">
              <a:lnSpc>
                <a:spcPct val="162000"/>
              </a:lnSpc>
              <a:spcBef>
                <a:spcPts val="740"/>
              </a:spcBef>
              <a:spcAft>
                <a:spcPts val="0"/>
              </a:spcAft>
              <a:buSzPct val="115000"/>
              <a:tabLst>
                <a:tab pos="652145" algn="l"/>
              </a:tabLst>
            </a:pPr>
            <a:r>
              <a:rPr lang="en-US" sz="1600" spc="0" dirty="0">
                <a:solidFill>
                  <a:schemeClr val="bg1"/>
                </a:solidFill>
                <a:effectLst/>
                <a:latin typeface="Udemy Sans"/>
                <a:ea typeface="Symbol" panose="05050102010706020507" pitchFamily="18" charset="2"/>
                <a:cs typeface="Symbol" panose="05050102010706020507" pitchFamily="18" charset="2"/>
              </a:rPr>
              <a:t>C#</a:t>
            </a:r>
            <a:r>
              <a:rPr lang="en-US" sz="1600" spc="20"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compiler</a:t>
            </a:r>
            <a:r>
              <a:rPr lang="en-US" sz="1600" spc="20"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automatically</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converts</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a</a:t>
            </a:r>
            <a:r>
              <a:rPr lang="en-US" sz="1600" spc="20"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value</a:t>
            </a:r>
            <a:r>
              <a:rPr lang="en-US" sz="1600" spc="20"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from</a:t>
            </a:r>
            <a:r>
              <a:rPr lang="en-US" sz="1600" spc="20"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“lower</a:t>
            </a:r>
            <a:r>
              <a:rPr lang="en-US" sz="1600" spc="20"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numeric</a:t>
            </a:r>
            <a:r>
              <a:rPr lang="en-US" sz="1600" spc="20"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data type”</a:t>
            </a:r>
            <a:r>
              <a:rPr lang="en-US" sz="1600" spc="20"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to</a:t>
            </a:r>
            <a:r>
              <a:rPr lang="en-US" sz="1600" spc="20"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“higher </a:t>
            </a:r>
            <a:r>
              <a:rPr lang="en-US" sz="1600" spc="-10" dirty="0">
                <a:solidFill>
                  <a:schemeClr val="bg1"/>
                </a:solidFill>
                <a:effectLst/>
                <a:latin typeface="Udemy Sans"/>
                <a:ea typeface="Symbol" panose="05050102010706020507" pitchFamily="18" charset="2"/>
                <a:cs typeface="Symbol" panose="05050102010706020507" pitchFamily="18" charset="2"/>
              </a:rPr>
              <a:t>numeric</a:t>
            </a:r>
            <a:r>
              <a:rPr lang="en-US" sz="1600" spc="-70"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data</a:t>
            </a:r>
            <a:r>
              <a:rPr lang="en-US" sz="1600" spc="-65"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type”.</a:t>
            </a:r>
            <a:r>
              <a:rPr lang="en-US" sz="1600" spc="-65"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This</a:t>
            </a:r>
            <a:r>
              <a:rPr lang="en-US" sz="1600" spc="-70"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automatic</a:t>
            </a:r>
            <a:r>
              <a:rPr lang="en-US" sz="1600" spc="-65"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conversion</a:t>
            </a:r>
            <a:r>
              <a:rPr lang="en-US" sz="1600" spc="-65"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is</a:t>
            </a:r>
            <a:r>
              <a:rPr lang="en-US" sz="1600" spc="-65"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called</a:t>
            </a:r>
            <a:r>
              <a:rPr lang="en-US" sz="1600" spc="-70"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“implicit</a:t>
            </a:r>
            <a:r>
              <a:rPr lang="en-US" sz="1600" spc="-65"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casting”.</a:t>
            </a:r>
            <a:endParaRPr lang="en-IN" sz="1600" spc="0" dirty="0">
              <a:solidFill>
                <a:schemeClr val="bg1"/>
              </a:solidFill>
              <a:effectLst/>
              <a:latin typeface="Udemy Sans"/>
              <a:ea typeface="Symbol" panose="05050102010706020507" pitchFamily="18" charset="2"/>
              <a:cs typeface="Symbol" panose="05050102010706020507" pitchFamily="18" charset="2"/>
            </a:endParaRPr>
          </a:p>
          <a:p>
            <a:pPr marR="462915" lvl="0">
              <a:lnSpc>
                <a:spcPct val="163000"/>
              </a:lnSpc>
              <a:spcBef>
                <a:spcPts val="600"/>
              </a:spcBef>
              <a:spcAft>
                <a:spcPts val="0"/>
              </a:spcAft>
              <a:buSzPct val="115000"/>
              <a:tabLst>
                <a:tab pos="652145" algn="l"/>
              </a:tabLst>
            </a:pPr>
            <a:r>
              <a:rPr lang="en-US" sz="1600" spc="0" dirty="0">
                <a:solidFill>
                  <a:schemeClr val="bg1"/>
                </a:solidFill>
                <a:effectLst/>
                <a:latin typeface="Udemy Sans"/>
                <a:ea typeface="Symbol" panose="05050102010706020507" pitchFamily="18" charset="2"/>
                <a:cs typeface="Symbol" panose="05050102010706020507" pitchFamily="18" charset="2"/>
              </a:rPr>
              <a:t>We</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will</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compare</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the</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no.</a:t>
            </a:r>
            <a:r>
              <a:rPr lang="en-US" sz="1600" spc="-2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of</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data</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types</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of</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the</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data type,</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to</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identify</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whether</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it</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is</a:t>
            </a:r>
            <a:r>
              <a:rPr lang="en-US" sz="1600" spc="-15"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a</a:t>
            </a:r>
            <a:r>
              <a:rPr lang="en-US" sz="1600" spc="-10" dirty="0">
                <a:solidFill>
                  <a:schemeClr val="bg1"/>
                </a:solidFill>
                <a:effectLst/>
                <a:latin typeface="Udemy Sans"/>
                <a:ea typeface="Symbol" panose="05050102010706020507" pitchFamily="18" charset="2"/>
                <a:cs typeface="Symbol" panose="05050102010706020507" pitchFamily="18" charset="2"/>
              </a:rPr>
              <a:t> </a:t>
            </a:r>
            <a:r>
              <a:rPr lang="en-US" sz="1600" spc="0" dirty="0">
                <a:solidFill>
                  <a:schemeClr val="bg1"/>
                </a:solidFill>
                <a:effectLst/>
                <a:latin typeface="Udemy Sans"/>
                <a:ea typeface="Symbol" panose="05050102010706020507" pitchFamily="18" charset="2"/>
                <a:cs typeface="Symbol" panose="05050102010706020507" pitchFamily="18" charset="2"/>
              </a:rPr>
              <a:t>lower </a:t>
            </a:r>
            <a:r>
              <a:rPr lang="en-US" sz="1600" spc="-10" dirty="0">
                <a:solidFill>
                  <a:schemeClr val="bg1"/>
                </a:solidFill>
                <a:effectLst/>
                <a:latin typeface="Udemy Sans"/>
                <a:ea typeface="Symbol" panose="05050102010706020507" pitchFamily="18" charset="2"/>
                <a:cs typeface="Symbol" panose="05050102010706020507" pitchFamily="18" charset="2"/>
              </a:rPr>
              <a:t>data</a:t>
            </a:r>
            <a:r>
              <a:rPr lang="en-US" sz="1600" spc="-75"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type</a:t>
            </a:r>
            <a:r>
              <a:rPr lang="en-US" sz="1600" spc="-70"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a:t>
            </a:r>
            <a:r>
              <a:rPr lang="en-US" sz="1600" spc="-225"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higher</a:t>
            </a:r>
            <a:r>
              <a:rPr lang="en-US" sz="1600" spc="-70"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data</a:t>
            </a:r>
            <a:r>
              <a:rPr lang="en-US" sz="1600" spc="-70" dirty="0">
                <a:solidFill>
                  <a:schemeClr val="bg1"/>
                </a:solidFill>
                <a:effectLst/>
                <a:latin typeface="Udemy Sans"/>
                <a:ea typeface="Symbol" panose="05050102010706020507" pitchFamily="18" charset="2"/>
                <a:cs typeface="Symbol" panose="05050102010706020507" pitchFamily="18" charset="2"/>
              </a:rPr>
              <a:t> </a:t>
            </a:r>
            <a:r>
              <a:rPr lang="en-US" sz="1600" spc="-10" dirty="0">
                <a:solidFill>
                  <a:schemeClr val="bg1"/>
                </a:solidFill>
                <a:effectLst/>
                <a:latin typeface="Udemy Sans"/>
                <a:ea typeface="Symbol" panose="05050102010706020507" pitchFamily="18" charset="2"/>
                <a:cs typeface="Symbol" panose="05050102010706020507" pitchFamily="18" charset="2"/>
              </a:rPr>
              <a:t>type.</a:t>
            </a:r>
            <a:endParaRPr lang="en-IN" sz="1600" spc="0" dirty="0">
              <a:solidFill>
                <a:schemeClr val="bg1"/>
              </a:solidFill>
              <a:effectLst/>
              <a:latin typeface="Udemy Sans"/>
              <a:ea typeface="Symbol" panose="05050102010706020507" pitchFamily="18" charset="2"/>
              <a:cs typeface="Symbol" panose="05050102010706020507" pitchFamily="18" charset="2"/>
            </a:endParaRPr>
          </a:p>
          <a:p>
            <a:pPr lvl="0">
              <a:spcBef>
                <a:spcPts val="590"/>
              </a:spcBef>
              <a:buSzPct val="115000"/>
              <a:tabLst>
                <a:tab pos="652145" algn="l"/>
              </a:tabLst>
            </a:pPr>
            <a:r>
              <a:rPr lang="en-US" sz="1600" spc="-20" dirty="0">
                <a:solidFill>
                  <a:schemeClr val="bg1"/>
                </a:solidFill>
                <a:effectLst/>
                <a:latin typeface="Udemy Sans"/>
                <a:ea typeface="Symbol" panose="05050102010706020507" pitchFamily="18" charset="2"/>
                <a:cs typeface="Symbol" panose="05050102010706020507" pitchFamily="18" charset="2"/>
              </a:rPr>
              <a:t>Ex:</a:t>
            </a:r>
            <a:r>
              <a:rPr lang="en-US" sz="1600" spc="-50"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“int”</a:t>
            </a:r>
            <a:r>
              <a:rPr lang="en-US" sz="1600" spc="-50"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to</a:t>
            </a:r>
            <a:r>
              <a:rPr lang="en-US" sz="1600" spc="-45"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“long”.</a:t>
            </a:r>
            <a:r>
              <a:rPr lang="en-US" sz="1600" spc="-50"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Here</a:t>
            </a:r>
            <a:r>
              <a:rPr lang="en-US" sz="1600" spc="-50"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“int”</a:t>
            </a:r>
            <a:r>
              <a:rPr lang="en-US" sz="1600" spc="-45"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is</a:t>
            </a:r>
            <a:r>
              <a:rPr lang="en-US" sz="1600" spc="-55"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4</a:t>
            </a:r>
            <a:r>
              <a:rPr lang="en-US" sz="1600" spc="-50"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bytes</a:t>
            </a:r>
            <a:r>
              <a:rPr lang="en-US" sz="1600" spc="-55"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and</a:t>
            </a:r>
            <a:r>
              <a:rPr lang="en-US" sz="1600" spc="-50"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“long”</a:t>
            </a:r>
            <a:r>
              <a:rPr lang="en-US" sz="1600" spc="-50"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is</a:t>
            </a:r>
            <a:r>
              <a:rPr lang="en-US" sz="1600" spc="-55"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8</a:t>
            </a:r>
            <a:r>
              <a:rPr lang="en-US" sz="1600" spc="-55"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bytes.</a:t>
            </a:r>
            <a:r>
              <a:rPr lang="en-US" sz="1600" spc="-35"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So,</a:t>
            </a:r>
            <a:r>
              <a:rPr lang="en-US" sz="1600" spc="-55"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it</a:t>
            </a:r>
            <a:r>
              <a:rPr lang="en-US" sz="1600" spc="-45"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is</a:t>
            </a:r>
            <a:r>
              <a:rPr lang="en-US" sz="1600" spc="-55"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“lower”</a:t>
            </a:r>
            <a:r>
              <a:rPr lang="en-US" sz="1600" spc="-55"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to</a:t>
            </a:r>
            <a:r>
              <a:rPr lang="en-US" sz="1600" spc="-45" dirty="0">
                <a:solidFill>
                  <a:schemeClr val="bg1"/>
                </a:solidFill>
                <a:effectLst/>
                <a:latin typeface="Udemy Sans"/>
                <a:ea typeface="Symbol" panose="05050102010706020507" pitchFamily="18" charset="2"/>
                <a:cs typeface="Symbol" panose="05050102010706020507" pitchFamily="18" charset="2"/>
              </a:rPr>
              <a:t> </a:t>
            </a:r>
            <a:r>
              <a:rPr lang="en-US" sz="1600" spc="-20" dirty="0">
                <a:solidFill>
                  <a:schemeClr val="bg1"/>
                </a:solidFill>
                <a:effectLst/>
                <a:latin typeface="Udemy Sans"/>
                <a:ea typeface="Symbol" panose="05050102010706020507" pitchFamily="18" charset="2"/>
                <a:cs typeface="Symbol" panose="05050102010706020507" pitchFamily="18" charset="2"/>
              </a:rPr>
              <a:t>“higher”.</a:t>
            </a:r>
            <a:r>
              <a:rPr lang="en-US" sz="1600" dirty="0">
                <a:solidFill>
                  <a:schemeClr val="bg1"/>
                </a:solidFill>
                <a:effectLst/>
                <a:latin typeface="Udemy Sans"/>
                <a:ea typeface="Arial MT"/>
                <a:cs typeface="Arial MT"/>
              </a:rPr>
              <a:t> </a:t>
            </a:r>
            <a:endParaRPr lang="en-IN" sz="1600" dirty="0">
              <a:solidFill>
                <a:schemeClr val="bg1"/>
              </a:solidFill>
              <a:effectLst/>
              <a:latin typeface="Udemy Sans"/>
              <a:ea typeface="Arial MT"/>
              <a:cs typeface="Arial MT"/>
            </a:endParaRPr>
          </a:p>
          <a:p>
            <a:r>
              <a:rPr lang="en-US" sz="1600" spc="-20" dirty="0">
                <a:solidFill>
                  <a:schemeClr val="bg1"/>
                </a:solidFill>
                <a:effectLst/>
                <a:latin typeface="Udemy Sans"/>
                <a:ea typeface="Arial MT"/>
                <a:cs typeface="Arial MT"/>
              </a:rPr>
              <a:t>As</a:t>
            </a:r>
            <a:r>
              <a:rPr lang="en-US" sz="1600" spc="-30"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implicit</a:t>
            </a:r>
            <a:r>
              <a:rPr lang="en-US" sz="1600" spc="-2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casting will</a:t>
            </a:r>
            <a:r>
              <a:rPr lang="en-US" sz="1600" spc="-2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be</a:t>
            </a:r>
            <a:r>
              <a:rPr lang="en-US" sz="1600" spc="-3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performed</a:t>
            </a:r>
            <a:r>
              <a:rPr lang="en-US" sz="1600" spc="-2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automatically,</a:t>
            </a:r>
            <a:r>
              <a:rPr lang="en-US" sz="1600" spc="-30"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there</a:t>
            </a:r>
            <a:r>
              <a:rPr lang="en-US" sz="1600" spc="-2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is</a:t>
            </a:r>
            <a:r>
              <a:rPr lang="en-US" sz="1600" spc="-30"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no</a:t>
            </a:r>
            <a:r>
              <a:rPr lang="en-US" sz="1600" spc="-2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syntax</a:t>
            </a:r>
            <a:r>
              <a:rPr lang="en-US" sz="1600" spc="-30"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for</a:t>
            </a:r>
            <a:r>
              <a:rPr lang="en-US" sz="1600" spc="-30"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this.</a:t>
            </a:r>
            <a:r>
              <a:rPr lang="en-US" sz="1600" spc="-40"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Directly you can</a:t>
            </a:r>
            <a:r>
              <a:rPr lang="en-US" sz="1600" spc="-3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assign</a:t>
            </a:r>
            <a:r>
              <a:rPr lang="en-US" sz="1600" spc="-2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a</a:t>
            </a:r>
            <a:r>
              <a:rPr lang="en-US" sz="1600" spc="-3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value</a:t>
            </a:r>
            <a:r>
              <a:rPr lang="en-US" sz="1600" spc="-2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of</a:t>
            </a:r>
            <a:r>
              <a:rPr lang="en-US" sz="1600" spc="-4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“lower</a:t>
            </a:r>
            <a:r>
              <a:rPr lang="en-US" sz="1600" spc="-3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numeric</a:t>
            </a:r>
            <a:r>
              <a:rPr lang="en-US" sz="1600" spc="-2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data</a:t>
            </a:r>
            <a:r>
              <a:rPr lang="en-US" sz="1600" spc="-3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type”</a:t>
            </a:r>
            <a:r>
              <a:rPr lang="en-US" sz="1600" spc="-2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to</a:t>
            </a:r>
            <a:r>
              <a:rPr lang="en-US" sz="1600" spc="-3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“higher</a:t>
            </a:r>
            <a:r>
              <a:rPr lang="en-US" sz="1600" spc="-3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numeric</a:t>
            </a:r>
            <a:r>
              <a:rPr lang="en-US" sz="1600" spc="-2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data</a:t>
            </a:r>
            <a:r>
              <a:rPr lang="en-US" sz="1600" spc="-35" dirty="0">
                <a:solidFill>
                  <a:schemeClr val="bg1"/>
                </a:solidFill>
                <a:effectLst/>
                <a:latin typeface="Udemy Sans"/>
                <a:ea typeface="Arial MT"/>
                <a:cs typeface="Arial MT"/>
              </a:rPr>
              <a:t> </a:t>
            </a:r>
            <a:r>
              <a:rPr lang="en-US" sz="1600" spc="-20" dirty="0">
                <a:solidFill>
                  <a:schemeClr val="bg1"/>
                </a:solidFill>
                <a:effectLst/>
                <a:latin typeface="Udemy Sans"/>
                <a:ea typeface="Arial MT"/>
                <a:cs typeface="Arial MT"/>
              </a:rPr>
              <a:t>type</a:t>
            </a:r>
            <a:endParaRPr lang="en-IN" sz="1600" dirty="0">
              <a:solidFill>
                <a:schemeClr val="bg1"/>
              </a:solidFill>
              <a:latin typeface="Udemy Sans"/>
            </a:endParaRPr>
          </a:p>
        </p:txBody>
      </p:sp>
    </p:spTree>
    <p:extLst>
      <p:ext uri="{BB962C8B-B14F-4D97-AF65-F5344CB8AC3E}">
        <p14:creationId xmlns:p14="http://schemas.microsoft.com/office/powerpoint/2010/main" val="31424899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48611-06CF-433D-83DC-EDEF4F3EF70A}"/>
              </a:ext>
            </a:extLst>
          </p:cNvPr>
          <p:cNvSpPr>
            <a:spLocks noGrp="1"/>
          </p:cNvSpPr>
          <p:nvPr>
            <p:ph type="title"/>
          </p:nvPr>
        </p:nvSpPr>
        <p:spPr>
          <a:xfrm>
            <a:off x="1141413" y="278276"/>
            <a:ext cx="9905998" cy="448282"/>
          </a:xfrm>
        </p:spPr>
        <p:txBody>
          <a:bodyPr>
            <a:normAutofit fontScale="90000"/>
          </a:bodyPr>
          <a:lstStyle/>
          <a:p>
            <a:r>
              <a:rPr lang="en-IN" dirty="0">
                <a:solidFill>
                  <a:schemeClr val="bg1"/>
                </a:solidFill>
              </a:rPr>
              <a:t>Type Conversion</a:t>
            </a:r>
          </a:p>
        </p:txBody>
      </p:sp>
      <p:sp>
        <p:nvSpPr>
          <p:cNvPr id="3" name="Content Placeholder 2">
            <a:extLst>
              <a:ext uri="{FF2B5EF4-FFF2-40B4-BE49-F238E27FC236}">
                <a16:creationId xmlns:a16="http://schemas.microsoft.com/office/drawing/2014/main" id="{B5C5BCD6-5414-4759-8ADD-2E75085A154A}"/>
              </a:ext>
            </a:extLst>
          </p:cNvPr>
          <p:cNvSpPr>
            <a:spLocks noGrp="1"/>
          </p:cNvSpPr>
          <p:nvPr>
            <p:ph sz="half" idx="1"/>
          </p:nvPr>
        </p:nvSpPr>
        <p:spPr>
          <a:xfrm>
            <a:off x="992557" y="955695"/>
            <a:ext cx="11050588" cy="2319133"/>
          </a:xfrm>
        </p:spPr>
        <p:txBody>
          <a:bodyPr>
            <a:normAutofit fontScale="77500" lnSpcReduction="20000"/>
          </a:bodyPr>
          <a:lstStyle/>
          <a:p>
            <a:pPr marL="0" indent="0">
              <a:buNone/>
            </a:pPr>
            <a:r>
              <a:rPr lang="en-US" sz="2600" b="1" dirty="0">
                <a:solidFill>
                  <a:schemeClr val="bg1"/>
                </a:solidFill>
                <a:latin typeface="Udemy Sans"/>
              </a:rPr>
              <a:t>Explicit Casting(or)Type Casting</a:t>
            </a:r>
          </a:p>
          <a:p>
            <a:r>
              <a:rPr lang="en-US" sz="2600" dirty="0">
                <a:solidFill>
                  <a:schemeClr val="bg1"/>
                </a:solidFill>
                <a:latin typeface="Udemy Sans"/>
              </a:rPr>
              <a:t>It is used to convert a value from “lower numerical data type” to “higher numerical data type” and also from “higher numerical data type” to “lower numerical data type”.</a:t>
            </a:r>
          </a:p>
          <a:p>
            <a:r>
              <a:rPr lang="en-US" sz="2600" dirty="0">
                <a:solidFill>
                  <a:schemeClr val="bg1"/>
                </a:solidFill>
                <a:latin typeface="Udemy Sans"/>
              </a:rPr>
              <a:t>Syntax: (Expected data type)value</a:t>
            </a:r>
          </a:p>
          <a:p>
            <a:endParaRPr lang="en-IN" dirty="0">
              <a:solidFill>
                <a:schemeClr val="bg1"/>
              </a:solidFill>
            </a:endParaRPr>
          </a:p>
        </p:txBody>
      </p:sp>
      <p:sp>
        <p:nvSpPr>
          <p:cNvPr id="4" name="Content Placeholder 3">
            <a:extLst>
              <a:ext uri="{FF2B5EF4-FFF2-40B4-BE49-F238E27FC236}">
                <a16:creationId xmlns:a16="http://schemas.microsoft.com/office/drawing/2014/main" id="{51365E2E-9FD0-4713-AAED-1BA6BB835E4E}"/>
              </a:ext>
            </a:extLst>
          </p:cNvPr>
          <p:cNvSpPr>
            <a:spLocks noGrp="1"/>
          </p:cNvSpPr>
          <p:nvPr>
            <p:ph sz="half" idx="2"/>
          </p:nvPr>
        </p:nvSpPr>
        <p:spPr>
          <a:xfrm>
            <a:off x="992557" y="2955851"/>
            <a:ext cx="10490606" cy="3356344"/>
          </a:xfrm>
        </p:spPr>
        <p:txBody>
          <a:bodyPr>
            <a:normAutofit fontScale="77500" lnSpcReduction="20000"/>
          </a:bodyPr>
          <a:lstStyle/>
          <a:p>
            <a:pPr marL="0" indent="0">
              <a:buNone/>
            </a:pPr>
            <a:r>
              <a:rPr lang="en-US" sz="2600" b="1" dirty="0">
                <a:solidFill>
                  <a:schemeClr val="bg1"/>
                </a:solidFill>
                <a:latin typeface="Udemy Sans"/>
              </a:rPr>
              <a:t>Parsing</a:t>
            </a:r>
          </a:p>
          <a:p>
            <a:r>
              <a:rPr lang="en-US" sz="2600" dirty="0">
                <a:solidFill>
                  <a:schemeClr val="bg1"/>
                </a:solidFill>
                <a:latin typeface="Udemy Sans"/>
              </a:rPr>
              <a:t>It is used to convert a value from “string” data type to “any numerical data type”.</a:t>
            </a:r>
          </a:p>
          <a:p>
            <a:r>
              <a:rPr lang="en-US" sz="2600" dirty="0">
                <a:solidFill>
                  <a:schemeClr val="bg1"/>
                </a:solidFill>
                <a:latin typeface="Udemy Sans"/>
              </a:rPr>
              <a:t>“Parse” is a pre-defined method. Parsing means converting.</a:t>
            </a:r>
          </a:p>
          <a:p>
            <a:r>
              <a:rPr lang="en-US" sz="2600" dirty="0">
                <a:solidFill>
                  <a:schemeClr val="bg1"/>
                </a:solidFill>
                <a:latin typeface="Udemy Sans"/>
              </a:rPr>
              <a:t>Syntax: </a:t>
            </a:r>
            <a:r>
              <a:rPr lang="en-US" sz="2600" dirty="0" err="1">
                <a:solidFill>
                  <a:schemeClr val="bg1"/>
                </a:solidFill>
                <a:latin typeface="Udemy Sans"/>
              </a:rPr>
              <a:t>NumericalDataTypeName.Parse</a:t>
            </a:r>
            <a:r>
              <a:rPr lang="en-US" sz="2600" dirty="0">
                <a:solidFill>
                  <a:schemeClr val="bg1"/>
                </a:solidFill>
                <a:latin typeface="Udemy Sans"/>
              </a:rPr>
              <a:t>(value);</a:t>
            </a:r>
          </a:p>
          <a:p>
            <a:r>
              <a:rPr lang="en-US" sz="2600" dirty="0">
                <a:solidFill>
                  <a:schemeClr val="bg1"/>
                </a:solidFill>
                <a:latin typeface="Udemy Sans"/>
              </a:rPr>
              <a:t>Rule: The string value should contain digits only; otherwise it can’t be converted into numerical data type.</a:t>
            </a:r>
          </a:p>
          <a:p>
            <a:r>
              <a:rPr lang="en-US" sz="2600" dirty="0">
                <a:solidFill>
                  <a:schemeClr val="bg1"/>
                </a:solidFill>
                <a:latin typeface="Udemy Sans"/>
              </a:rPr>
              <a:t>Note: If the string value is not convertible into “numerical data type”, you will get exception (run time error).</a:t>
            </a:r>
          </a:p>
          <a:p>
            <a:endParaRPr lang="en-IN" dirty="0">
              <a:solidFill>
                <a:schemeClr val="bg1"/>
              </a:solidFill>
            </a:endParaRPr>
          </a:p>
        </p:txBody>
      </p:sp>
    </p:spTree>
    <p:extLst>
      <p:ext uri="{BB962C8B-B14F-4D97-AF65-F5344CB8AC3E}">
        <p14:creationId xmlns:p14="http://schemas.microsoft.com/office/powerpoint/2010/main" val="11429264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7B376-F166-4D73-B215-49575E26970C}"/>
              </a:ext>
            </a:extLst>
          </p:cNvPr>
          <p:cNvSpPr>
            <a:spLocks noGrp="1"/>
          </p:cNvSpPr>
          <p:nvPr>
            <p:ph type="title"/>
          </p:nvPr>
        </p:nvSpPr>
        <p:spPr>
          <a:xfrm>
            <a:off x="622005" y="264086"/>
            <a:ext cx="9905998" cy="448282"/>
          </a:xfrm>
        </p:spPr>
        <p:txBody>
          <a:bodyPr/>
          <a:lstStyle/>
          <a:p>
            <a:r>
              <a:rPr lang="en-US" sz="1800" spc="50" dirty="0">
                <a:solidFill>
                  <a:srgbClr val="000000"/>
                </a:solidFill>
                <a:effectLst/>
                <a:latin typeface="Arial MT"/>
                <a:ea typeface="Arial MT"/>
                <a:cs typeface="Arial MT"/>
              </a:rPr>
              <a:t>Conversion</a:t>
            </a:r>
            <a:r>
              <a:rPr lang="en-US" sz="1800" spc="10" dirty="0">
                <a:solidFill>
                  <a:srgbClr val="000000"/>
                </a:solidFill>
                <a:effectLst/>
                <a:latin typeface="Arial MT"/>
                <a:ea typeface="Arial MT"/>
                <a:cs typeface="Arial MT"/>
              </a:rPr>
              <a:t> </a:t>
            </a:r>
            <a:r>
              <a:rPr lang="en-US" sz="1800" spc="65" dirty="0">
                <a:solidFill>
                  <a:srgbClr val="000000"/>
                </a:solidFill>
                <a:effectLst/>
                <a:latin typeface="Arial MT"/>
                <a:ea typeface="Arial MT"/>
                <a:cs typeface="Arial MT"/>
              </a:rPr>
              <a:t>Methods</a:t>
            </a:r>
            <a:endParaRPr lang="en-IN" dirty="0"/>
          </a:p>
        </p:txBody>
      </p:sp>
      <p:graphicFrame>
        <p:nvGraphicFramePr>
          <p:cNvPr id="5" name="Content Placeholder 4">
            <a:extLst>
              <a:ext uri="{FF2B5EF4-FFF2-40B4-BE49-F238E27FC236}">
                <a16:creationId xmlns:a16="http://schemas.microsoft.com/office/drawing/2014/main" id="{AC0352CA-0B8C-43EE-807E-E52886311457}"/>
              </a:ext>
            </a:extLst>
          </p:cNvPr>
          <p:cNvGraphicFramePr>
            <a:graphicFrameLocks noGrp="1"/>
          </p:cNvGraphicFramePr>
          <p:nvPr>
            <p:ph sz="half" idx="1"/>
            <p:extLst>
              <p:ext uri="{D42A27DB-BD31-4B8C-83A1-F6EECF244321}">
                <p14:modId xmlns:p14="http://schemas.microsoft.com/office/powerpoint/2010/main" val="3591821704"/>
              </p:ext>
            </p:extLst>
          </p:nvPr>
        </p:nvGraphicFramePr>
        <p:xfrm>
          <a:off x="431623" y="988827"/>
          <a:ext cx="5664377" cy="4923783"/>
        </p:xfrm>
        <a:graphic>
          <a:graphicData uri="http://schemas.openxmlformats.org/drawingml/2006/table">
            <a:tbl>
              <a:tblPr firstRow="1" firstCol="1" lastRow="1" lastCol="1" bandRow="1" bandCol="1"/>
              <a:tblGrid>
                <a:gridCol w="393594">
                  <a:extLst>
                    <a:ext uri="{9D8B030D-6E8A-4147-A177-3AD203B41FA5}">
                      <a16:colId xmlns:a16="http://schemas.microsoft.com/office/drawing/2014/main" val="3544442751"/>
                    </a:ext>
                  </a:extLst>
                </a:gridCol>
                <a:gridCol w="2375183">
                  <a:extLst>
                    <a:ext uri="{9D8B030D-6E8A-4147-A177-3AD203B41FA5}">
                      <a16:colId xmlns:a16="http://schemas.microsoft.com/office/drawing/2014/main" val="2397937606"/>
                    </a:ext>
                  </a:extLst>
                </a:gridCol>
                <a:gridCol w="2895600">
                  <a:extLst>
                    <a:ext uri="{9D8B030D-6E8A-4147-A177-3AD203B41FA5}">
                      <a16:colId xmlns:a16="http://schemas.microsoft.com/office/drawing/2014/main" val="437561648"/>
                    </a:ext>
                  </a:extLst>
                </a:gridCol>
              </a:tblGrid>
              <a:tr h="177755">
                <a:tc gridSpan="3">
                  <a:txBody>
                    <a:bodyPr/>
                    <a:lstStyle/>
                    <a:p>
                      <a:pPr marL="3810" algn="ctr">
                        <a:lnSpc>
                          <a:spcPts val="965"/>
                        </a:lnSpc>
                        <a:spcBef>
                          <a:spcPts val="215"/>
                        </a:spcBef>
                        <a:spcAft>
                          <a:spcPts val="0"/>
                        </a:spcAft>
                      </a:pPr>
                      <a:r>
                        <a:rPr lang="en-US" sz="1200" b="1">
                          <a:solidFill>
                            <a:srgbClr val="E1DFCC"/>
                          </a:solidFill>
                          <a:effectLst/>
                          <a:latin typeface="Udemy Sans"/>
                          <a:ea typeface="Arial MT"/>
                          <a:cs typeface="Arial MT"/>
                        </a:rPr>
                        <a:t>List</a:t>
                      </a:r>
                      <a:r>
                        <a:rPr lang="en-US" sz="1200" b="1" spc="-65">
                          <a:solidFill>
                            <a:srgbClr val="E1DFCC"/>
                          </a:solidFill>
                          <a:effectLst/>
                          <a:latin typeface="Udemy Sans"/>
                          <a:ea typeface="Arial MT"/>
                          <a:cs typeface="Arial MT"/>
                        </a:rPr>
                        <a:t> </a:t>
                      </a:r>
                      <a:r>
                        <a:rPr lang="en-US" sz="1200" b="1">
                          <a:solidFill>
                            <a:srgbClr val="E1DFCC"/>
                          </a:solidFill>
                          <a:effectLst/>
                          <a:latin typeface="Udemy Sans"/>
                          <a:ea typeface="Arial MT"/>
                          <a:cs typeface="Arial MT"/>
                        </a:rPr>
                        <a:t>of</a:t>
                      </a:r>
                      <a:r>
                        <a:rPr lang="en-US" sz="1200" b="1" spc="-65">
                          <a:solidFill>
                            <a:srgbClr val="E1DFCC"/>
                          </a:solidFill>
                          <a:effectLst/>
                          <a:latin typeface="Udemy Sans"/>
                          <a:ea typeface="Arial MT"/>
                          <a:cs typeface="Arial MT"/>
                        </a:rPr>
                        <a:t> </a:t>
                      </a:r>
                      <a:r>
                        <a:rPr lang="en-US" sz="1200" b="1">
                          <a:solidFill>
                            <a:srgbClr val="E1DFCC"/>
                          </a:solidFill>
                          <a:effectLst/>
                          <a:latin typeface="Udemy Sans"/>
                          <a:ea typeface="Arial MT"/>
                          <a:cs typeface="Arial MT"/>
                        </a:rPr>
                        <a:t>conversion</a:t>
                      </a:r>
                      <a:r>
                        <a:rPr lang="en-US" sz="1200" b="1" spc="-70">
                          <a:solidFill>
                            <a:srgbClr val="E1DFCC"/>
                          </a:solidFill>
                          <a:effectLst/>
                          <a:latin typeface="Udemy Sans"/>
                          <a:ea typeface="Arial MT"/>
                          <a:cs typeface="Arial MT"/>
                        </a:rPr>
                        <a:t> </a:t>
                      </a:r>
                      <a:r>
                        <a:rPr lang="en-US" sz="1200" b="1" spc="-10">
                          <a:solidFill>
                            <a:srgbClr val="E1DFCC"/>
                          </a:solidFill>
                          <a:effectLst/>
                          <a:latin typeface="Udemy Sans"/>
                          <a:ea typeface="Arial MT"/>
                          <a:cs typeface="Arial MT"/>
                        </a:rPr>
                        <a:t>methods</a:t>
                      </a:r>
                      <a:endParaRPr lang="en-IN" sz="1200">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97A29"/>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351364006"/>
                  </a:ext>
                </a:extLst>
              </a:tr>
              <a:tr h="515647">
                <a:tc>
                  <a:txBody>
                    <a:bodyPr/>
                    <a:lstStyle/>
                    <a:p>
                      <a:pPr marL="123190" marR="112395" indent="15240">
                        <a:lnSpc>
                          <a:spcPct val="115000"/>
                        </a:lnSpc>
                        <a:spcBef>
                          <a:spcPts val="15"/>
                        </a:spcBef>
                        <a:spcAft>
                          <a:spcPts val="0"/>
                        </a:spcAft>
                      </a:pPr>
                      <a:r>
                        <a:rPr lang="en-US" sz="1200" b="1" spc="-30">
                          <a:solidFill>
                            <a:schemeClr val="bg1"/>
                          </a:solidFill>
                          <a:effectLst/>
                          <a:latin typeface="Udemy Sans"/>
                          <a:ea typeface="Arial MT"/>
                          <a:cs typeface="Arial MT"/>
                        </a:rPr>
                        <a:t>Sl. </a:t>
                      </a:r>
                      <a:r>
                        <a:rPr lang="en-US" sz="1200" b="1" spc="-25">
                          <a:solidFill>
                            <a:schemeClr val="bg1"/>
                          </a:solidFill>
                          <a:effectLst/>
                          <a:latin typeface="Udemy Sans"/>
                          <a:ea typeface="Arial MT"/>
                          <a:cs typeface="Arial MT"/>
                        </a:rPr>
                        <a:t>No</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EE1A8"/>
                    </a:solidFill>
                  </a:tcPr>
                </a:tc>
                <a:tc>
                  <a:txBody>
                    <a:bodyPr/>
                    <a:lstStyle/>
                    <a:p>
                      <a:pPr marL="1028700">
                        <a:spcBef>
                          <a:spcPts val="215"/>
                        </a:spcBef>
                      </a:pPr>
                      <a:r>
                        <a:rPr lang="en-US" sz="1200">
                          <a:solidFill>
                            <a:schemeClr val="bg1"/>
                          </a:solidFill>
                          <a:effectLst/>
                          <a:latin typeface="Udemy Sans"/>
                          <a:ea typeface="Arial MT"/>
                          <a:cs typeface="Arial MT"/>
                        </a:rPr>
                        <a:t>Conversion</a:t>
                      </a:r>
                      <a:r>
                        <a:rPr lang="en-US" sz="1200" spc="25">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Method</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EE1A8"/>
                    </a:solidFill>
                  </a:tcPr>
                </a:tc>
                <a:tc>
                  <a:txBody>
                    <a:bodyPr/>
                    <a:lstStyle/>
                    <a:p>
                      <a:pPr marL="2540" algn="ctr">
                        <a:spcBef>
                          <a:spcPts val="215"/>
                        </a:spcBef>
                      </a:pPr>
                      <a:r>
                        <a:rPr lang="en-US" sz="1200" spc="-10" dirty="0">
                          <a:solidFill>
                            <a:schemeClr val="bg1"/>
                          </a:solidFill>
                          <a:effectLst/>
                          <a:latin typeface="Udemy Sans"/>
                          <a:ea typeface="Arial MT"/>
                          <a:cs typeface="Arial MT"/>
                        </a:rPr>
                        <a:t>Description</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EE1A8"/>
                    </a:solidFill>
                  </a:tcPr>
                </a:tc>
                <a:extLst>
                  <a:ext uri="{0D108BD9-81ED-4DB2-BD59-A6C34878D82A}">
                    <a16:rowId xmlns:a16="http://schemas.microsoft.com/office/drawing/2014/main" val="4055752293"/>
                  </a:ext>
                </a:extLst>
              </a:tr>
              <a:tr h="494158">
                <a:tc>
                  <a:txBody>
                    <a:bodyPr/>
                    <a:lstStyle/>
                    <a:p>
                      <a:pPr marL="4445" marR="635" algn="ctr">
                        <a:spcBef>
                          <a:spcPts val="225"/>
                        </a:spcBef>
                        <a:spcAft>
                          <a:spcPts val="0"/>
                        </a:spcAft>
                      </a:pPr>
                      <a:r>
                        <a:rPr lang="en-US" sz="1200" spc="-50">
                          <a:solidFill>
                            <a:schemeClr val="bg1"/>
                          </a:solidFill>
                          <a:effectLst/>
                          <a:latin typeface="Udemy Sans"/>
                          <a:ea typeface="Arial MT"/>
                          <a:cs typeface="Arial MT"/>
                        </a:rPr>
                        <a:t>1</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25"/>
                        </a:spcBef>
                        <a:spcAft>
                          <a:spcPts val="0"/>
                        </a:spcAft>
                      </a:pPr>
                      <a:r>
                        <a:rPr lang="en-US" sz="1200" spc="-20">
                          <a:solidFill>
                            <a:schemeClr val="bg1"/>
                          </a:solidFill>
                          <a:effectLst/>
                          <a:latin typeface="Udemy Sans"/>
                          <a:ea typeface="Arial MT"/>
                          <a:cs typeface="Arial MT"/>
                        </a:rPr>
                        <a:t>byte</a:t>
                      </a:r>
                      <a:r>
                        <a:rPr lang="en-US" sz="1200" spc="-40">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System.Convert.ToByte(value)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25"/>
                        </a:spcBef>
                        <a:spcAft>
                          <a:spcPts val="0"/>
                        </a:spcAft>
                      </a:pPr>
                      <a:r>
                        <a:rPr lang="en-US" sz="1200" spc="-20" dirty="0">
                          <a:solidFill>
                            <a:schemeClr val="bg1"/>
                          </a:solidFill>
                          <a:effectLst/>
                          <a:latin typeface="Udemy Sans"/>
                          <a:ea typeface="Arial MT"/>
                          <a:cs typeface="Arial MT"/>
                        </a:rPr>
                        <a:t>It</a:t>
                      </a:r>
                      <a:r>
                        <a:rPr lang="en-US" sz="1200" spc="-4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converts</a:t>
                      </a:r>
                      <a:r>
                        <a:rPr lang="en-US" sz="1200" spc="-5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and</a:t>
                      </a:r>
                      <a:r>
                        <a:rPr lang="en-US" sz="1200" spc="-5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returns</a:t>
                      </a:r>
                      <a:r>
                        <a:rPr lang="en-US" sz="1200" spc="-5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the</a:t>
                      </a:r>
                      <a:r>
                        <a:rPr lang="en-US" sz="1200" spc="-5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given</a:t>
                      </a:r>
                      <a:endParaRPr lang="en-IN" sz="1200" dirty="0">
                        <a:solidFill>
                          <a:schemeClr val="bg1"/>
                        </a:solidFill>
                        <a:effectLst/>
                        <a:latin typeface="Udemy Sans"/>
                        <a:ea typeface="Arial MT"/>
                        <a:cs typeface="Arial MT"/>
                      </a:endParaRPr>
                    </a:p>
                    <a:p>
                      <a:pPr marL="66675">
                        <a:spcBef>
                          <a:spcPts val="860"/>
                        </a:spcBef>
                        <a:spcAft>
                          <a:spcPts val="0"/>
                        </a:spcAft>
                      </a:pPr>
                      <a:r>
                        <a:rPr lang="en-US" sz="1200" spc="-20" dirty="0">
                          <a:solidFill>
                            <a:schemeClr val="bg1"/>
                          </a:solidFill>
                          <a:effectLst/>
                          <a:latin typeface="Udemy Sans"/>
                          <a:ea typeface="Arial MT"/>
                          <a:cs typeface="Arial MT"/>
                        </a:rPr>
                        <a:t>value</a:t>
                      </a:r>
                      <a:r>
                        <a:rPr lang="en-US" sz="1200" spc="-4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into</a:t>
                      </a:r>
                      <a:r>
                        <a:rPr lang="en-US" sz="1200" spc="-5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“byte”</a:t>
                      </a:r>
                      <a:r>
                        <a:rPr lang="en-US" sz="1200" spc="-4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data</a:t>
                      </a:r>
                      <a:r>
                        <a:rPr lang="en-US" sz="1200" spc="-5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type.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8216749"/>
                  </a:ext>
                </a:extLst>
              </a:tr>
              <a:tr h="494158">
                <a:tc>
                  <a:txBody>
                    <a:bodyPr/>
                    <a:lstStyle/>
                    <a:p>
                      <a:pPr marL="4445" marR="635" algn="ctr">
                        <a:spcBef>
                          <a:spcPts val="225"/>
                        </a:spcBef>
                        <a:spcAft>
                          <a:spcPts val="0"/>
                        </a:spcAft>
                      </a:pPr>
                      <a:r>
                        <a:rPr lang="en-US" sz="1200" spc="-50">
                          <a:solidFill>
                            <a:schemeClr val="bg1"/>
                          </a:solidFill>
                          <a:effectLst/>
                          <a:latin typeface="Udemy Sans"/>
                          <a:ea typeface="Arial MT"/>
                          <a:cs typeface="Arial MT"/>
                        </a:rPr>
                        <a:t>2</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25"/>
                        </a:spcBef>
                        <a:spcAft>
                          <a:spcPts val="0"/>
                        </a:spcAft>
                      </a:pPr>
                      <a:r>
                        <a:rPr lang="en-US" sz="1200" spc="-35">
                          <a:solidFill>
                            <a:schemeClr val="bg1"/>
                          </a:solidFill>
                          <a:effectLst/>
                          <a:latin typeface="Udemy Sans"/>
                          <a:ea typeface="Arial MT"/>
                          <a:cs typeface="Arial MT"/>
                        </a:rPr>
                        <a:t>sbyte </a:t>
                      </a:r>
                      <a:r>
                        <a:rPr lang="en-US" sz="1200" spc="-10">
                          <a:solidFill>
                            <a:schemeClr val="bg1"/>
                          </a:solidFill>
                          <a:effectLst/>
                          <a:latin typeface="Udemy Sans"/>
                          <a:ea typeface="Arial MT"/>
                          <a:cs typeface="Arial MT"/>
                        </a:rPr>
                        <a:t>System.Convert.ToSByte(value)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25"/>
                        </a:spcBef>
                        <a:spcAft>
                          <a:spcPts val="0"/>
                        </a:spcAft>
                      </a:pPr>
                      <a:r>
                        <a:rPr lang="en-US" sz="1200" spc="-20">
                          <a:solidFill>
                            <a:schemeClr val="bg1"/>
                          </a:solidFill>
                          <a:effectLst/>
                          <a:latin typeface="Udemy Sans"/>
                          <a:ea typeface="Arial MT"/>
                          <a:cs typeface="Arial MT"/>
                        </a:rPr>
                        <a:t>It</a:t>
                      </a:r>
                      <a:r>
                        <a:rPr lang="en-US" sz="1200" spc="-4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converts</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and</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returns</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the</a:t>
                      </a:r>
                      <a:r>
                        <a:rPr lang="en-US" sz="1200" spc="-5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given</a:t>
                      </a:r>
                      <a:endParaRPr lang="en-IN" sz="1200">
                        <a:solidFill>
                          <a:schemeClr val="bg1"/>
                        </a:solidFill>
                        <a:effectLst/>
                        <a:latin typeface="Udemy Sans"/>
                        <a:ea typeface="Arial MT"/>
                        <a:cs typeface="Arial MT"/>
                      </a:endParaRPr>
                    </a:p>
                    <a:p>
                      <a:pPr marL="66675">
                        <a:spcBef>
                          <a:spcPts val="870"/>
                        </a:spcBef>
                        <a:spcAft>
                          <a:spcPts val="0"/>
                        </a:spcAft>
                      </a:pPr>
                      <a:r>
                        <a:rPr lang="en-US" sz="1200" spc="-30">
                          <a:solidFill>
                            <a:schemeClr val="bg1"/>
                          </a:solidFill>
                          <a:effectLst/>
                          <a:latin typeface="Udemy Sans"/>
                          <a:ea typeface="Arial MT"/>
                          <a:cs typeface="Arial MT"/>
                        </a:rPr>
                        <a:t>value</a:t>
                      </a:r>
                      <a:r>
                        <a:rPr lang="en-US" sz="1200" spc="-10">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into</a:t>
                      </a:r>
                      <a:r>
                        <a:rPr lang="en-US" sz="1200" spc="-15">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“sbyte”</a:t>
                      </a:r>
                      <a:r>
                        <a:rPr lang="en-US" sz="1200" spc="-10">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data</a:t>
                      </a:r>
                      <a:r>
                        <a:rPr lang="en-US" sz="1200" spc="-15">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type.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6413060"/>
                  </a:ext>
                </a:extLst>
              </a:tr>
              <a:tr h="495681">
                <a:tc>
                  <a:txBody>
                    <a:bodyPr/>
                    <a:lstStyle/>
                    <a:p>
                      <a:pPr marL="4445" marR="635" algn="ctr">
                        <a:spcBef>
                          <a:spcPts val="225"/>
                        </a:spcBef>
                        <a:spcAft>
                          <a:spcPts val="0"/>
                        </a:spcAft>
                      </a:pPr>
                      <a:r>
                        <a:rPr lang="en-US" sz="1200" spc="-50">
                          <a:solidFill>
                            <a:schemeClr val="bg1"/>
                          </a:solidFill>
                          <a:effectLst/>
                          <a:latin typeface="Udemy Sans"/>
                          <a:ea typeface="Arial MT"/>
                          <a:cs typeface="Arial MT"/>
                        </a:rPr>
                        <a:t>3</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25"/>
                        </a:spcBef>
                        <a:spcAft>
                          <a:spcPts val="0"/>
                        </a:spcAft>
                      </a:pPr>
                      <a:r>
                        <a:rPr lang="en-US" sz="1200" spc="-10">
                          <a:solidFill>
                            <a:schemeClr val="bg1"/>
                          </a:solidFill>
                          <a:effectLst/>
                          <a:latin typeface="Udemy Sans"/>
                          <a:ea typeface="Arial MT"/>
                          <a:cs typeface="Arial MT"/>
                        </a:rPr>
                        <a:t>short</a:t>
                      </a:r>
                      <a:r>
                        <a:rPr lang="en-US" sz="1200" spc="-35">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System.Convert.ToInt16(value)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25"/>
                        </a:spcBef>
                        <a:spcAft>
                          <a:spcPts val="0"/>
                        </a:spcAft>
                      </a:pPr>
                      <a:r>
                        <a:rPr lang="en-US" sz="1200" spc="-20">
                          <a:solidFill>
                            <a:schemeClr val="bg1"/>
                          </a:solidFill>
                          <a:effectLst/>
                          <a:latin typeface="Udemy Sans"/>
                          <a:ea typeface="Arial MT"/>
                          <a:cs typeface="Arial MT"/>
                        </a:rPr>
                        <a:t>It</a:t>
                      </a:r>
                      <a:r>
                        <a:rPr lang="en-US" sz="1200" spc="-4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converts</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and</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returns</a:t>
                      </a:r>
                      <a:r>
                        <a:rPr lang="en-US" sz="1200" spc="-5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the</a:t>
                      </a:r>
                      <a:r>
                        <a:rPr lang="en-US" sz="1200" spc="-5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given</a:t>
                      </a:r>
                      <a:endParaRPr lang="en-IN" sz="1200">
                        <a:solidFill>
                          <a:schemeClr val="bg1"/>
                        </a:solidFill>
                        <a:effectLst/>
                        <a:latin typeface="Udemy Sans"/>
                        <a:ea typeface="Arial MT"/>
                        <a:cs typeface="Arial MT"/>
                      </a:endParaRPr>
                    </a:p>
                    <a:p>
                      <a:pPr marL="66675">
                        <a:spcBef>
                          <a:spcPts val="870"/>
                        </a:spcBef>
                        <a:spcAft>
                          <a:spcPts val="0"/>
                        </a:spcAft>
                      </a:pPr>
                      <a:r>
                        <a:rPr lang="en-US" sz="1200" spc="-20">
                          <a:solidFill>
                            <a:schemeClr val="bg1"/>
                          </a:solidFill>
                          <a:effectLst/>
                          <a:latin typeface="Udemy Sans"/>
                          <a:ea typeface="Arial MT"/>
                          <a:cs typeface="Arial MT"/>
                        </a:rPr>
                        <a:t>value</a:t>
                      </a:r>
                      <a:r>
                        <a:rPr lang="en-US" sz="1200" spc="-2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into</a:t>
                      </a:r>
                      <a:r>
                        <a:rPr lang="en-US" sz="1200" spc="-3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“short”</a:t>
                      </a:r>
                      <a:r>
                        <a:rPr lang="en-US" sz="1200" spc="-3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data</a:t>
                      </a:r>
                      <a:r>
                        <a:rPr lang="en-US" sz="1200" spc="-3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type.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8056285"/>
                  </a:ext>
                </a:extLst>
              </a:tr>
              <a:tr h="494158">
                <a:tc>
                  <a:txBody>
                    <a:bodyPr/>
                    <a:lstStyle/>
                    <a:p>
                      <a:pPr marL="4445" marR="635" algn="ctr">
                        <a:spcBef>
                          <a:spcPts val="215"/>
                        </a:spcBef>
                        <a:spcAft>
                          <a:spcPts val="0"/>
                        </a:spcAft>
                      </a:pPr>
                      <a:r>
                        <a:rPr lang="en-US" sz="1200" spc="-50">
                          <a:solidFill>
                            <a:schemeClr val="bg1"/>
                          </a:solidFill>
                          <a:effectLst/>
                          <a:latin typeface="Udemy Sans"/>
                          <a:ea typeface="Arial MT"/>
                          <a:cs typeface="Arial MT"/>
                        </a:rPr>
                        <a:t>4</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spc="-10">
                          <a:solidFill>
                            <a:schemeClr val="bg1"/>
                          </a:solidFill>
                          <a:effectLst/>
                          <a:latin typeface="Udemy Sans"/>
                          <a:ea typeface="Arial MT"/>
                          <a:cs typeface="Arial MT"/>
                        </a:rPr>
                        <a:t>ushort</a:t>
                      </a:r>
                      <a:r>
                        <a:rPr lang="en-US" sz="1200" spc="-65">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System.Convert.ToUInt16(value)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marR="193040">
                        <a:lnSpc>
                          <a:spcPct val="168000"/>
                        </a:lnSpc>
                        <a:spcBef>
                          <a:spcPts val="215"/>
                        </a:spcBef>
                        <a:spcAft>
                          <a:spcPts val="0"/>
                        </a:spcAft>
                      </a:pPr>
                      <a:r>
                        <a:rPr lang="en-US" sz="1200" spc="-20">
                          <a:solidFill>
                            <a:schemeClr val="bg1"/>
                          </a:solidFill>
                          <a:effectLst/>
                          <a:latin typeface="Udemy Sans"/>
                          <a:ea typeface="Arial MT"/>
                          <a:cs typeface="Arial MT"/>
                        </a:rPr>
                        <a:t>It</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converts</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and</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returns</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the</a:t>
                      </a:r>
                      <a:r>
                        <a:rPr lang="en-US" sz="1200" spc="-6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given </a:t>
                      </a:r>
                      <a:r>
                        <a:rPr lang="en-US" sz="1200">
                          <a:solidFill>
                            <a:schemeClr val="bg1"/>
                          </a:solidFill>
                          <a:effectLst/>
                          <a:latin typeface="Udemy Sans"/>
                          <a:ea typeface="Arial MT"/>
                          <a:cs typeface="Arial MT"/>
                        </a:rPr>
                        <a:t>value into “ushort” data type.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1720493"/>
                  </a:ext>
                </a:extLst>
              </a:tr>
              <a:tr h="494665">
                <a:tc>
                  <a:txBody>
                    <a:bodyPr/>
                    <a:lstStyle/>
                    <a:p>
                      <a:pPr marL="4445" marR="635" algn="ctr">
                        <a:spcBef>
                          <a:spcPts val="215"/>
                        </a:spcBef>
                        <a:spcAft>
                          <a:spcPts val="0"/>
                        </a:spcAft>
                      </a:pPr>
                      <a:r>
                        <a:rPr lang="en-US" sz="1200" spc="-50">
                          <a:solidFill>
                            <a:schemeClr val="bg1"/>
                          </a:solidFill>
                          <a:effectLst/>
                          <a:latin typeface="Udemy Sans"/>
                          <a:ea typeface="Arial MT"/>
                          <a:cs typeface="Arial MT"/>
                        </a:rPr>
                        <a:t>5</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a:solidFill>
                            <a:schemeClr val="bg1"/>
                          </a:solidFill>
                          <a:effectLst/>
                          <a:latin typeface="Udemy Sans"/>
                          <a:ea typeface="Arial MT"/>
                          <a:cs typeface="Arial MT"/>
                        </a:rPr>
                        <a:t>int</a:t>
                      </a:r>
                      <a:r>
                        <a:rPr lang="en-US" sz="1200" spc="35">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System.Convert.ToInt32(value)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spc="-20">
                          <a:solidFill>
                            <a:schemeClr val="bg1"/>
                          </a:solidFill>
                          <a:effectLst/>
                          <a:latin typeface="Udemy Sans"/>
                          <a:ea typeface="Arial MT"/>
                          <a:cs typeface="Arial MT"/>
                        </a:rPr>
                        <a:t>It</a:t>
                      </a:r>
                      <a:r>
                        <a:rPr lang="en-US" sz="1200" spc="-4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converts</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and</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returns</a:t>
                      </a:r>
                      <a:r>
                        <a:rPr lang="en-US" sz="1200" spc="-5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the</a:t>
                      </a:r>
                      <a:r>
                        <a:rPr lang="en-US" sz="1200" spc="-5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given</a:t>
                      </a:r>
                      <a:endParaRPr lang="en-IN" sz="1200">
                        <a:solidFill>
                          <a:schemeClr val="bg1"/>
                        </a:solidFill>
                        <a:effectLst/>
                        <a:latin typeface="Udemy Sans"/>
                        <a:ea typeface="Arial MT"/>
                        <a:cs typeface="Arial MT"/>
                      </a:endParaRPr>
                    </a:p>
                    <a:p>
                      <a:pPr marL="66675">
                        <a:spcBef>
                          <a:spcPts val="870"/>
                        </a:spcBef>
                        <a:spcAft>
                          <a:spcPts val="0"/>
                        </a:spcAft>
                      </a:pPr>
                      <a:r>
                        <a:rPr lang="en-US" sz="1200" spc="-10">
                          <a:solidFill>
                            <a:schemeClr val="bg1"/>
                          </a:solidFill>
                          <a:effectLst/>
                          <a:latin typeface="Udemy Sans"/>
                          <a:ea typeface="Arial MT"/>
                          <a:cs typeface="Arial MT"/>
                        </a:rPr>
                        <a:t>value</a:t>
                      </a:r>
                      <a:r>
                        <a:rPr lang="en-US" sz="1200" spc="-55">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into</a:t>
                      </a:r>
                      <a:r>
                        <a:rPr lang="en-US" sz="1200" spc="-60">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“int”</a:t>
                      </a:r>
                      <a:r>
                        <a:rPr lang="en-US" sz="1200" spc="-55">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data</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type.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5802399"/>
                  </a:ext>
                </a:extLst>
              </a:tr>
              <a:tr h="494665">
                <a:tc>
                  <a:txBody>
                    <a:bodyPr/>
                    <a:lstStyle/>
                    <a:p>
                      <a:pPr marL="4445" marR="635" algn="ctr">
                        <a:spcBef>
                          <a:spcPts val="215"/>
                        </a:spcBef>
                        <a:spcAft>
                          <a:spcPts val="0"/>
                        </a:spcAft>
                      </a:pPr>
                      <a:r>
                        <a:rPr lang="en-US" sz="1200" spc="-50">
                          <a:solidFill>
                            <a:schemeClr val="bg1"/>
                          </a:solidFill>
                          <a:effectLst/>
                          <a:latin typeface="Udemy Sans"/>
                          <a:ea typeface="Arial MT"/>
                          <a:cs typeface="Arial MT"/>
                        </a:rPr>
                        <a:t>6</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a:solidFill>
                            <a:schemeClr val="bg1"/>
                          </a:solidFill>
                          <a:effectLst/>
                          <a:latin typeface="Udemy Sans"/>
                          <a:ea typeface="Arial MT"/>
                          <a:cs typeface="Arial MT"/>
                        </a:rPr>
                        <a:t>uint </a:t>
                      </a:r>
                      <a:r>
                        <a:rPr lang="en-US" sz="1200" spc="-10">
                          <a:solidFill>
                            <a:schemeClr val="bg1"/>
                          </a:solidFill>
                          <a:effectLst/>
                          <a:latin typeface="Udemy Sans"/>
                          <a:ea typeface="Arial MT"/>
                          <a:cs typeface="Arial MT"/>
                        </a:rPr>
                        <a:t>System.Convert.ToUInt32(value)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spc="-20">
                          <a:solidFill>
                            <a:schemeClr val="bg1"/>
                          </a:solidFill>
                          <a:effectLst/>
                          <a:latin typeface="Udemy Sans"/>
                          <a:ea typeface="Arial MT"/>
                          <a:cs typeface="Arial MT"/>
                        </a:rPr>
                        <a:t>It</a:t>
                      </a:r>
                      <a:r>
                        <a:rPr lang="en-US" sz="1200" spc="-4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converts</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and</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returns</a:t>
                      </a:r>
                      <a:r>
                        <a:rPr lang="en-US" sz="1200" spc="-5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the</a:t>
                      </a:r>
                      <a:r>
                        <a:rPr lang="en-US" sz="1200" spc="-5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given</a:t>
                      </a:r>
                      <a:endParaRPr lang="en-IN" sz="1200">
                        <a:solidFill>
                          <a:schemeClr val="bg1"/>
                        </a:solidFill>
                        <a:effectLst/>
                        <a:latin typeface="Udemy Sans"/>
                        <a:ea typeface="Arial MT"/>
                        <a:cs typeface="Arial MT"/>
                      </a:endParaRPr>
                    </a:p>
                    <a:p>
                      <a:pPr marL="66675">
                        <a:spcBef>
                          <a:spcPts val="870"/>
                        </a:spcBef>
                        <a:spcAft>
                          <a:spcPts val="0"/>
                        </a:spcAft>
                      </a:pPr>
                      <a:r>
                        <a:rPr lang="en-US" sz="1200" spc="-10">
                          <a:solidFill>
                            <a:schemeClr val="bg1"/>
                          </a:solidFill>
                          <a:effectLst/>
                          <a:latin typeface="Udemy Sans"/>
                          <a:ea typeface="Arial MT"/>
                          <a:cs typeface="Arial MT"/>
                        </a:rPr>
                        <a:t>value</a:t>
                      </a:r>
                      <a:r>
                        <a:rPr lang="en-US" sz="1200" spc="-60">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into</a:t>
                      </a:r>
                      <a:r>
                        <a:rPr lang="en-US" sz="1200" spc="-65">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“uint”</a:t>
                      </a:r>
                      <a:r>
                        <a:rPr lang="en-US" sz="1200" spc="-65">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data</a:t>
                      </a:r>
                      <a:r>
                        <a:rPr lang="en-US" sz="1200" spc="-6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type.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2258043"/>
                  </a:ext>
                </a:extLst>
              </a:tr>
              <a:tr h="581505">
                <a:tc>
                  <a:txBody>
                    <a:bodyPr/>
                    <a:lstStyle/>
                    <a:p>
                      <a:pPr marL="4445" marR="635" algn="ctr">
                        <a:spcBef>
                          <a:spcPts val="215"/>
                        </a:spcBef>
                        <a:spcAft>
                          <a:spcPts val="0"/>
                        </a:spcAft>
                      </a:pPr>
                      <a:r>
                        <a:rPr lang="en-US" sz="1200" spc="-50">
                          <a:solidFill>
                            <a:schemeClr val="bg1"/>
                          </a:solidFill>
                          <a:effectLst/>
                          <a:latin typeface="Udemy Sans"/>
                          <a:ea typeface="Arial MT"/>
                          <a:cs typeface="Arial MT"/>
                        </a:rPr>
                        <a:t>7</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spc="-30">
                          <a:solidFill>
                            <a:schemeClr val="bg1"/>
                          </a:solidFill>
                          <a:effectLst/>
                          <a:latin typeface="Udemy Sans"/>
                          <a:ea typeface="Arial MT"/>
                          <a:cs typeface="Arial MT"/>
                        </a:rPr>
                        <a:t>long</a:t>
                      </a:r>
                      <a:r>
                        <a:rPr lang="en-US" sz="1200" spc="-45">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System.Convert.ToInt64(value)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spc="-20" dirty="0">
                          <a:solidFill>
                            <a:schemeClr val="bg1"/>
                          </a:solidFill>
                          <a:effectLst/>
                          <a:latin typeface="Udemy Sans"/>
                          <a:ea typeface="Arial MT"/>
                          <a:cs typeface="Arial MT"/>
                        </a:rPr>
                        <a:t>It</a:t>
                      </a:r>
                      <a:r>
                        <a:rPr lang="en-US" sz="1200" spc="-4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converts</a:t>
                      </a:r>
                      <a:r>
                        <a:rPr lang="en-US" sz="1200" spc="-5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and</a:t>
                      </a:r>
                      <a:r>
                        <a:rPr lang="en-US" sz="1200" spc="-5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returns</a:t>
                      </a:r>
                      <a:r>
                        <a:rPr lang="en-US" sz="1200" spc="-5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the</a:t>
                      </a:r>
                      <a:r>
                        <a:rPr lang="en-US" sz="1200" spc="-5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given</a:t>
                      </a:r>
                      <a:endParaRPr lang="en-IN" sz="1200" dirty="0">
                        <a:solidFill>
                          <a:schemeClr val="bg1"/>
                        </a:solidFill>
                        <a:effectLst/>
                        <a:latin typeface="Udemy Sans"/>
                        <a:ea typeface="Arial MT"/>
                        <a:cs typeface="Arial MT"/>
                      </a:endParaRPr>
                    </a:p>
                    <a:p>
                      <a:pPr marL="66675">
                        <a:spcBef>
                          <a:spcPts val="875"/>
                        </a:spcBef>
                        <a:spcAft>
                          <a:spcPts val="0"/>
                        </a:spcAft>
                      </a:pPr>
                      <a:r>
                        <a:rPr lang="en-US" sz="1200" spc="-20" dirty="0">
                          <a:solidFill>
                            <a:schemeClr val="bg1"/>
                          </a:solidFill>
                          <a:effectLst/>
                          <a:latin typeface="Udemy Sans"/>
                          <a:ea typeface="Arial MT"/>
                          <a:cs typeface="Arial MT"/>
                        </a:rPr>
                        <a:t>value</a:t>
                      </a:r>
                      <a:r>
                        <a:rPr lang="en-US" sz="1200" spc="-5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into</a:t>
                      </a:r>
                      <a:r>
                        <a:rPr lang="en-US" sz="1200" spc="-5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“long”</a:t>
                      </a:r>
                      <a:r>
                        <a:rPr lang="en-US" sz="1200" spc="-5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data</a:t>
                      </a:r>
                      <a:r>
                        <a:rPr lang="en-US" sz="1200" spc="-5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type.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2435495"/>
                  </a:ext>
                </a:extLst>
              </a:tr>
              <a:tr h="494665">
                <a:tc>
                  <a:txBody>
                    <a:bodyPr/>
                    <a:lstStyle/>
                    <a:p>
                      <a:pPr marL="4445" marR="635" algn="ctr">
                        <a:spcBef>
                          <a:spcPts val="215"/>
                        </a:spcBef>
                        <a:spcAft>
                          <a:spcPts val="0"/>
                        </a:spcAft>
                      </a:pPr>
                      <a:r>
                        <a:rPr lang="en-US" sz="1200" spc="-50">
                          <a:solidFill>
                            <a:schemeClr val="bg1"/>
                          </a:solidFill>
                          <a:effectLst/>
                          <a:latin typeface="Udemy Sans"/>
                          <a:ea typeface="Arial MT"/>
                          <a:cs typeface="Arial MT"/>
                        </a:rPr>
                        <a:t>8</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spc="-30">
                          <a:solidFill>
                            <a:schemeClr val="bg1"/>
                          </a:solidFill>
                          <a:effectLst/>
                          <a:latin typeface="Udemy Sans"/>
                          <a:ea typeface="Arial MT"/>
                          <a:cs typeface="Arial MT"/>
                        </a:rPr>
                        <a:t>ulong</a:t>
                      </a:r>
                      <a:r>
                        <a:rPr lang="en-US" sz="1200" spc="-40">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System.Convert.ToUInt64(value)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spc="-20" dirty="0">
                          <a:solidFill>
                            <a:schemeClr val="bg1"/>
                          </a:solidFill>
                          <a:effectLst/>
                          <a:latin typeface="Udemy Sans"/>
                          <a:ea typeface="Arial MT"/>
                          <a:cs typeface="Arial MT"/>
                        </a:rPr>
                        <a:t>It</a:t>
                      </a:r>
                      <a:r>
                        <a:rPr lang="en-US" sz="1200" spc="-4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converts</a:t>
                      </a:r>
                      <a:r>
                        <a:rPr lang="en-US" sz="1200" spc="-5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and</a:t>
                      </a:r>
                      <a:r>
                        <a:rPr lang="en-US" sz="1200" spc="-5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returns</a:t>
                      </a:r>
                      <a:r>
                        <a:rPr lang="en-US" sz="1200" spc="-5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the</a:t>
                      </a:r>
                      <a:r>
                        <a:rPr lang="en-US" sz="1200" spc="-5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given</a:t>
                      </a:r>
                      <a:endParaRPr lang="en-IN" sz="1200" dirty="0">
                        <a:solidFill>
                          <a:schemeClr val="bg1"/>
                        </a:solidFill>
                        <a:effectLst/>
                        <a:latin typeface="Udemy Sans"/>
                        <a:ea typeface="Arial MT"/>
                        <a:cs typeface="Arial MT"/>
                      </a:endParaRPr>
                    </a:p>
                    <a:p>
                      <a:pPr marL="66675">
                        <a:spcBef>
                          <a:spcPts val="870"/>
                        </a:spcBef>
                        <a:spcAft>
                          <a:spcPts val="0"/>
                        </a:spcAft>
                      </a:pPr>
                      <a:r>
                        <a:rPr lang="en-US" sz="1200" spc="-30" dirty="0">
                          <a:solidFill>
                            <a:schemeClr val="bg1"/>
                          </a:solidFill>
                          <a:effectLst/>
                          <a:latin typeface="Udemy Sans"/>
                          <a:ea typeface="Arial MT"/>
                          <a:cs typeface="Arial MT"/>
                        </a:rPr>
                        <a:t>value</a:t>
                      </a:r>
                      <a:r>
                        <a:rPr lang="en-US" sz="1200" spc="-10" dirty="0">
                          <a:solidFill>
                            <a:schemeClr val="bg1"/>
                          </a:solidFill>
                          <a:effectLst/>
                          <a:latin typeface="Udemy Sans"/>
                          <a:ea typeface="Arial MT"/>
                          <a:cs typeface="Arial MT"/>
                        </a:rPr>
                        <a:t> </a:t>
                      </a:r>
                      <a:r>
                        <a:rPr lang="en-US" sz="1200" spc="-30" dirty="0">
                          <a:solidFill>
                            <a:schemeClr val="bg1"/>
                          </a:solidFill>
                          <a:effectLst/>
                          <a:latin typeface="Udemy Sans"/>
                          <a:ea typeface="Arial MT"/>
                          <a:cs typeface="Arial MT"/>
                        </a:rPr>
                        <a:t>into</a:t>
                      </a:r>
                      <a:r>
                        <a:rPr lang="en-US" sz="1200" spc="-10" dirty="0">
                          <a:solidFill>
                            <a:schemeClr val="bg1"/>
                          </a:solidFill>
                          <a:effectLst/>
                          <a:latin typeface="Udemy Sans"/>
                          <a:ea typeface="Arial MT"/>
                          <a:cs typeface="Arial MT"/>
                        </a:rPr>
                        <a:t> </a:t>
                      </a:r>
                      <a:r>
                        <a:rPr lang="en-US" sz="1200" spc="-30" dirty="0">
                          <a:solidFill>
                            <a:schemeClr val="bg1"/>
                          </a:solidFill>
                          <a:effectLst/>
                          <a:latin typeface="Udemy Sans"/>
                          <a:ea typeface="Arial MT"/>
                          <a:cs typeface="Arial MT"/>
                        </a:rPr>
                        <a:t>“</a:t>
                      </a:r>
                      <a:r>
                        <a:rPr lang="en-US" sz="1200" spc="-30" dirty="0" err="1">
                          <a:solidFill>
                            <a:schemeClr val="bg1"/>
                          </a:solidFill>
                          <a:effectLst/>
                          <a:latin typeface="Udemy Sans"/>
                          <a:ea typeface="Arial MT"/>
                          <a:cs typeface="Arial MT"/>
                        </a:rPr>
                        <a:t>ulong</a:t>
                      </a:r>
                      <a:r>
                        <a:rPr lang="en-US" sz="1200" spc="-30" dirty="0">
                          <a:solidFill>
                            <a:schemeClr val="bg1"/>
                          </a:solidFill>
                          <a:effectLst/>
                          <a:latin typeface="Udemy Sans"/>
                          <a:ea typeface="Arial MT"/>
                          <a:cs typeface="Arial MT"/>
                        </a:rPr>
                        <a:t>”</a:t>
                      </a:r>
                      <a:r>
                        <a:rPr lang="en-US" sz="1200" spc="-15" dirty="0">
                          <a:solidFill>
                            <a:schemeClr val="bg1"/>
                          </a:solidFill>
                          <a:effectLst/>
                          <a:latin typeface="Udemy Sans"/>
                          <a:ea typeface="Arial MT"/>
                          <a:cs typeface="Arial MT"/>
                        </a:rPr>
                        <a:t> </a:t>
                      </a:r>
                      <a:r>
                        <a:rPr lang="en-US" sz="1200" spc="-30" dirty="0">
                          <a:solidFill>
                            <a:schemeClr val="bg1"/>
                          </a:solidFill>
                          <a:effectLst/>
                          <a:latin typeface="Udemy Sans"/>
                          <a:ea typeface="Arial MT"/>
                          <a:cs typeface="Arial MT"/>
                        </a:rPr>
                        <a:t>data</a:t>
                      </a:r>
                      <a:r>
                        <a:rPr lang="en-US" sz="1200" spc="-10" dirty="0">
                          <a:solidFill>
                            <a:schemeClr val="bg1"/>
                          </a:solidFill>
                          <a:effectLst/>
                          <a:latin typeface="Udemy Sans"/>
                          <a:ea typeface="Arial MT"/>
                          <a:cs typeface="Arial MT"/>
                        </a:rPr>
                        <a:t> </a:t>
                      </a:r>
                      <a:r>
                        <a:rPr lang="en-US" sz="1200" spc="-30" dirty="0">
                          <a:solidFill>
                            <a:schemeClr val="bg1"/>
                          </a:solidFill>
                          <a:effectLst/>
                          <a:latin typeface="Udemy Sans"/>
                          <a:ea typeface="Arial MT"/>
                          <a:cs typeface="Arial MT"/>
                        </a:rPr>
                        <a:t>type.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6600908"/>
                  </a:ext>
                </a:extLst>
              </a:tr>
            </a:tbl>
          </a:graphicData>
        </a:graphic>
      </p:graphicFrame>
      <p:graphicFrame>
        <p:nvGraphicFramePr>
          <p:cNvPr id="6" name="Content Placeholder 5">
            <a:extLst>
              <a:ext uri="{FF2B5EF4-FFF2-40B4-BE49-F238E27FC236}">
                <a16:creationId xmlns:a16="http://schemas.microsoft.com/office/drawing/2014/main" id="{EBC5932E-95E3-434F-9BA1-FD42209A2694}"/>
              </a:ext>
            </a:extLst>
          </p:cNvPr>
          <p:cNvGraphicFramePr>
            <a:graphicFrameLocks noGrp="1"/>
          </p:cNvGraphicFramePr>
          <p:nvPr>
            <p:ph sz="half" idx="2"/>
            <p:extLst>
              <p:ext uri="{D42A27DB-BD31-4B8C-83A1-F6EECF244321}">
                <p14:modId xmlns:p14="http://schemas.microsoft.com/office/powerpoint/2010/main" val="2598493229"/>
              </p:ext>
            </p:extLst>
          </p:nvPr>
        </p:nvGraphicFramePr>
        <p:xfrm>
          <a:off x="6331738" y="988827"/>
          <a:ext cx="5664376" cy="5605087"/>
        </p:xfrm>
        <a:graphic>
          <a:graphicData uri="http://schemas.openxmlformats.org/drawingml/2006/table">
            <a:tbl>
              <a:tblPr firstRow="1" firstCol="1" lastRow="1" lastCol="1" bandRow="1" bandCol="1"/>
              <a:tblGrid>
                <a:gridCol w="393593">
                  <a:extLst>
                    <a:ext uri="{9D8B030D-6E8A-4147-A177-3AD203B41FA5}">
                      <a16:colId xmlns:a16="http://schemas.microsoft.com/office/drawing/2014/main" val="1564156916"/>
                    </a:ext>
                  </a:extLst>
                </a:gridCol>
                <a:gridCol w="3144381">
                  <a:extLst>
                    <a:ext uri="{9D8B030D-6E8A-4147-A177-3AD203B41FA5}">
                      <a16:colId xmlns:a16="http://schemas.microsoft.com/office/drawing/2014/main" val="1072514539"/>
                    </a:ext>
                  </a:extLst>
                </a:gridCol>
                <a:gridCol w="2126402">
                  <a:extLst>
                    <a:ext uri="{9D8B030D-6E8A-4147-A177-3AD203B41FA5}">
                      <a16:colId xmlns:a16="http://schemas.microsoft.com/office/drawing/2014/main" val="2128514182"/>
                    </a:ext>
                  </a:extLst>
                </a:gridCol>
              </a:tblGrid>
              <a:tr h="903678">
                <a:tc>
                  <a:txBody>
                    <a:bodyPr/>
                    <a:lstStyle/>
                    <a:p>
                      <a:pPr marL="4445" marR="635" algn="ctr">
                        <a:spcBef>
                          <a:spcPts val="215"/>
                        </a:spcBef>
                        <a:spcAft>
                          <a:spcPts val="0"/>
                        </a:spcAft>
                      </a:pPr>
                      <a:r>
                        <a:rPr lang="en-US" sz="1200" spc="-50" dirty="0">
                          <a:solidFill>
                            <a:schemeClr val="bg1"/>
                          </a:solidFill>
                          <a:effectLst/>
                          <a:latin typeface="Udemy Sans"/>
                          <a:ea typeface="Arial MT"/>
                          <a:cs typeface="Arial MT"/>
                        </a:rPr>
                        <a:t>9</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dirty="0">
                          <a:solidFill>
                            <a:schemeClr val="bg1"/>
                          </a:solidFill>
                          <a:effectLst/>
                          <a:latin typeface="Udemy Sans"/>
                          <a:ea typeface="Arial MT"/>
                          <a:cs typeface="Arial MT"/>
                        </a:rPr>
                        <a:t>float</a:t>
                      </a:r>
                      <a:r>
                        <a:rPr lang="en-US" sz="1200" spc="-5" dirty="0">
                          <a:solidFill>
                            <a:schemeClr val="bg1"/>
                          </a:solidFill>
                          <a:effectLst/>
                          <a:latin typeface="Udemy Sans"/>
                          <a:ea typeface="Arial MT"/>
                          <a:cs typeface="Arial MT"/>
                        </a:rPr>
                        <a:t> </a:t>
                      </a:r>
                      <a:r>
                        <a:rPr lang="en-US" sz="1200" spc="-10" dirty="0" err="1">
                          <a:solidFill>
                            <a:schemeClr val="bg1"/>
                          </a:solidFill>
                          <a:effectLst/>
                          <a:latin typeface="Udemy Sans"/>
                          <a:ea typeface="Arial MT"/>
                          <a:cs typeface="Arial MT"/>
                        </a:rPr>
                        <a:t>System.Convert.ToSingle</a:t>
                      </a:r>
                      <a:r>
                        <a:rPr lang="en-US" sz="1200" spc="-10" dirty="0">
                          <a:solidFill>
                            <a:schemeClr val="bg1"/>
                          </a:solidFill>
                          <a:effectLst/>
                          <a:latin typeface="Udemy Sans"/>
                          <a:ea typeface="Arial MT"/>
                          <a:cs typeface="Arial MT"/>
                        </a:rPr>
                        <a:t>(value)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marR="193040">
                        <a:lnSpc>
                          <a:spcPct val="168000"/>
                        </a:lnSpc>
                        <a:spcBef>
                          <a:spcPts val="215"/>
                        </a:spcBef>
                        <a:spcAft>
                          <a:spcPts val="0"/>
                        </a:spcAft>
                      </a:pPr>
                      <a:r>
                        <a:rPr lang="en-US" sz="1200" spc="-20">
                          <a:solidFill>
                            <a:schemeClr val="bg1"/>
                          </a:solidFill>
                          <a:effectLst/>
                          <a:latin typeface="Udemy Sans"/>
                          <a:ea typeface="Arial MT"/>
                          <a:cs typeface="Arial MT"/>
                        </a:rPr>
                        <a:t>It</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converts</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and</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returns</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the</a:t>
                      </a:r>
                      <a:r>
                        <a:rPr lang="en-US" sz="1200" spc="-6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given </a:t>
                      </a:r>
                      <a:r>
                        <a:rPr lang="en-US" sz="1200">
                          <a:solidFill>
                            <a:schemeClr val="bg1"/>
                          </a:solidFill>
                          <a:effectLst/>
                          <a:latin typeface="Udemy Sans"/>
                          <a:ea typeface="Arial MT"/>
                          <a:cs typeface="Arial MT"/>
                        </a:rPr>
                        <a:t>value into “float” data type.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4601893"/>
                  </a:ext>
                </a:extLst>
              </a:tr>
              <a:tr h="676835">
                <a:tc>
                  <a:txBody>
                    <a:bodyPr/>
                    <a:lstStyle/>
                    <a:p>
                      <a:pPr marL="4445" algn="ctr">
                        <a:spcBef>
                          <a:spcPts val="215"/>
                        </a:spcBef>
                      </a:pPr>
                      <a:r>
                        <a:rPr lang="en-US" sz="1200" spc="-25">
                          <a:solidFill>
                            <a:schemeClr val="bg1"/>
                          </a:solidFill>
                          <a:effectLst/>
                          <a:latin typeface="Udemy Sans"/>
                          <a:ea typeface="Arial MT"/>
                          <a:cs typeface="Arial MT"/>
                        </a:rPr>
                        <a:t>10</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dirty="0">
                          <a:solidFill>
                            <a:schemeClr val="bg1"/>
                          </a:solidFill>
                          <a:effectLst/>
                          <a:latin typeface="Udemy Sans"/>
                          <a:ea typeface="Arial MT"/>
                          <a:cs typeface="Arial MT"/>
                        </a:rPr>
                        <a:t>double</a:t>
                      </a:r>
                      <a:r>
                        <a:rPr lang="en-US" sz="1200" spc="55" dirty="0">
                          <a:solidFill>
                            <a:schemeClr val="bg1"/>
                          </a:solidFill>
                          <a:effectLst/>
                          <a:latin typeface="Udemy Sans"/>
                          <a:ea typeface="Arial MT"/>
                          <a:cs typeface="Arial MT"/>
                        </a:rPr>
                        <a:t> </a:t>
                      </a:r>
                      <a:r>
                        <a:rPr lang="en-US" sz="1200" spc="-10" dirty="0" err="1">
                          <a:solidFill>
                            <a:schemeClr val="bg1"/>
                          </a:solidFill>
                          <a:effectLst/>
                          <a:latin typeface="Udemy Sans"/>
                          <a:ea typeface="Arial MT"/>
                          <a:cs typeface="Arial MT"/>
                        </a:rPr>
                        <a:t>System.Convert.ToDouble</a:t>
                      </a:r>
                      <a:r>
                        <a:rPr lang="en-US" sz="1200" spc="-10" dirty="0">
                          <a:solidFill>
                            <a:schemeClr val="bg1"/>
                          </a:solidFill>
                          <a:effectLst/>
                          <a:latin typeface="Udemy Sans"/>
                          <a:ea typeface="Arial MT"/>
                          <a:cs typeface="Arial MT"/>
                        </a:rPr>
                        <a:t>(value)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spc="-20">
                          <a:solidFill>
                            <a:schemeClr val="bg1"/>
                          </a:solidFill>
                          <a:effectLst/>
                          <a:latin typeface="Udemy Sans"/>
                          <a:ea typeface="Arial MT"/>
                          <a:cs typeface="Arial MT"/>
                        </a:rPr>
                        <a:t>It</a:t>
                      </a:r>
                      <a:r>
                        <a:rPr lang="en-US" sz="1200" spc="-4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converts</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and</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returns</a:t>
                      </a:r>
                      <a:r>
                        <a:rPr lang="en-US" sz="1200" spc="-5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the</a:t>
                      </a:r>
                      <a:r>
                        <a:rPr lang="en-US" sz="1200" spc="-5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given</a:t>
                      </a:r>
                      <a:endParaRPr lang="en-IN" sz="1200">
                        <a:solidFill>
                          <a:schemeClr val="bg1"/>
                        </a:solidFill>
                        <a:effectLst/>
                        <a:latin typeface="Udemy Sans"/>
                        <a:ea typeface="Arial MT"/>
                        <a:cs typeface="Arial MT"/>
                      </a:endParaRPr>
                    </a:p>
                    <a:p>
                      <a:pPr marL="66675">
                        <a:spcBef>
                          <a:spcPts val="870"/>
                        </a:spcBef>
                        <a:spcAft>
                          <a:spcPts val="0"/>
                        </a:spcAft>
                      </a:pPr>
                      <a:r>
                        <a:rPr lang="en-US" sz="1200" spc="-30">
                          <a:solidFill>
                            <a:schemeClr val="bg1"/>
                          </a:solidFill>
                          <a:effectLst/>
                          <a:latin typeface="Udemy Sans"/>
                          <a:ea typeface="Arial MT"/>
                          <a:cs typeface="Arial MT"/>
                        </a:rPr>
                        <a:t>value</a:t>
                      </a:r>
                      <a:r>
                        <a:rPr lang="en-US" sz="1200" spc="-25">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into</a:t>
                      </a:r>
                      <a:r>
                        <a:rPr lang="en-US" sz="1200" spc="-25">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“double”</a:t>
                      </a:r>
                      <a:r>
                        <a:rPr lang="en-US" sz="1200" spc="-20">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data type.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2450925"/>
                  </a:ext>
                </a:extLst>
              </a:tr>
              <a:tr h="676835">
                <a:tc>
                  <a:txBody>
                    <a:bodyPr/>
                    <a:lstStyle/>
                    <a:p>
                      <a:pPr marL="4445" algn="ctr">
                        <a:spcBef>
                          <a:spcPts val="215"/>
                        </a:spcBef>
                      </a:pPr>
                      <a:r>
                        <a:rPr lang="en-US" sz="1200" spc="-25">
                          <a:solidFill>
                            <a:schemeClr val="bg1"/>
                          </a:solidFill>
                          <a:effectLst/>
                          <a:latin typeface="Udemy Sans"/>
                          <a:ea typeface="Arial MT"/>
                          <a:cs typeface="Arial MT"/>
                        </a:rPr>
                        <a:t>11</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dirty="0">
                          <a:solidFill>
                            <a:schemeClr val="bg1"/>
                          </a:solidFill>
                          <a:effectLst/>
                          <a:latin typeface="Udemy Sans"/>
                          <a:ea typeface="Arial MT"/>
                          <a:cs typeface="Arial MT"/>
                        </a:rPr>
                        <a:t>decimal</a:t>
                      </a:r>
                      <a:r>
                        <a:rPr lang="en-US" sz="1200" spc="20" dirty="0">
                          <a:solidFill>
                            <a:schemeClr val="bg1"/>
                          </a:solidFill>
                          <a:effectLst/>
                          <a:latin typeface="Udemy Sans"/>
                          <a:ea typeface="Arial MT"/>
                          <a:cs typeface="Arial MT"/>
                        </a:rPr>
                        <a:t> </a:t>
                      </a:r>
                      <a:r>
                        <a:rPr lang="en-US" sz="1200" spc="-10" dirty="0" err="1">
                          <a:solidFill>
                            <a:schemeClr val="bg1"/>
                          </a:solidFill>
                          <a:effectLst/>
                          <a:latin typeface="Udemy Sans"/>
                          <a:ea typeface="Arial MT"/>
                          <a:cs typeface="Arial MT"/>
                        </a:rPr>
                        <a:t>System.Convert.ToDecimal</a:t>
                      </a:r>
                      <a:r>
                        <a:rPr lang="en-US" sz="1200" spc="-10" dirty="0">
                          <a:solidFill>
                            <a:schemeClr val="bg1"/>
                          </a:solidFill>
                          <a:effectLst/>
                          <a:latin typeface="Udemy Sans"/>
                          <a:ea typeface="Arial MT"/>
                          <a:cs typeface="Arial MT"/>
                        </a:rPr>
                        <a:t>(value)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spc="-20">
                          <a:solidFill>
                            <a:schemeClr val="bg1"/>
                          </a:solidFill>
                          <a:effectLst/>
                          <a:latin typeface="Udemy Sans"/>
                          <a:ea typeface="Arial MT"/>
                          <a:cs typeface="Arial MT"/>
                        </a:rPr>
                        <a:t>It</a:t>
                      </a:r>
                      <a:r>
                        <a:rPr lang="en-US" sz="1200" spc="-4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converts</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and</a:t>
                      </a:r>
                      <a:r>
                        <a:rPr lang="en-US" sz="1200" spc="-5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returns</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the</a:t>
                      </a:r>
                      <a:r>
                        <a:rPr lang="en-US" sz="1200" spc="-6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given</a:t>
                      </a:r>
                      <a:endParaRPr lang="en-IN" sz="1200">
                        <a:solidFill>
                          <a:schemeClr val="bg1"/>
                        </a:solidFill>
                        <a:effectLst/>
                        <a:latin typeface="Udemy Sans"/>
                        <a:ea typeface="Arial MT"/>
                        <a:cs typeface="Arial MT"/>
                      </a:endParaRPr>
                    </a:p>
                    <a:p>
                      <a:pPr marL="66675">
                        <a:spcBef>
                          <a:spcPts val="870"/>
                        </a:spcBef>
                        <a:spcAft>
                          <a:spcPts val="0"/>
                        </a:spcAft>
                      </a:pPr>
                      <a:r>
                        <a:rPr lang="en-US" sz="1200" spc="-30">
                          <a:solidFill>
                            <a:schemeClr val="bg1"/>
                          </a:solidFill>
                          <a:effectLst/>
                          <a:latin typeface="Udemy Sans"/>
                          <a:ea typeface="Arial MT"/>
                          <a:cs typeface="Arial MT"/>
                        </a:rPr>
                        <a:t>value</a:t>
                      </a:r>
                      <a:r>
                        <a:rPr lang="en-US" sz="1200" spc="-35">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into</a:t>
                      </a:r>
                      <a:r>
                        <a:rPr lang="en-US" sz="1200" spc="-40">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“decimal”</a:t>
                      </a:r>
                      <a:r>
                        <a:rPr lang="en-US" sz="1200" spc="-35">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data</a:t>
                      </a:r>
                      <a:r>
                        <a:rPr lang="en-US" sz="1200" spc="-35">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type.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9111004"/>
                  </a:ext>
                </a:extLst>
              </a:tr>
              <a:tr h="676835">
                <a:tc>
                  <a:txBody>
                    <a:bodyPr/>
                    <a:lstStyle/>
                    <a:p>
                      <a:pPr marL="4445" algn="ctr">
                        <a:spcBef>
                          <a:spcPts val="215"/>
                        </a:spcBef>
                      </a:pPr>
                      <a:r>
                        <a:rPr lang="en-US" sz="1200" spc="-25">
                          <a:solidFill>
                            <a:schemeClr val="bg1"/>
                          </a:solidFill>
                          <a:effectLst/>
                          <a:latin typeface="Udemy Sans"/>
                          <a:ea typeface="Arial MT"/>
                          <a:cs typeface="Arial MT"/>
                        </a:rPr>
                        <a:t>12</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dirty="0">
                          <a:solidFill>
                            <a:schemeClr val="bg1"/>
                          </a:solidFill>
                          <a:effectLst/>
                          <a:latin typeface="Udemy Sans"/>
                          <a:ea typeface="Arial MT"/>
                          <a:cs typeface="Arial MT"/>
                        </a:rPr>
                        <a:t>char</a:t>
                      </a:r>
                      <a:r>
                        <a:rPr lang="en-US" sz="1200" spc="-5" dirty="0">
                          <a:solidFill>
                            <a:schemeClr val="bg1"/>
                          </a:solidFill>
                          <a:effectLst/>
                          <a:latin typeface="Udemy Sans"/>
                          <a:ea typeface="Arial MT"/>
                          <a:cs typeface="Arial MT"/>
                        </a:rPr>
                        <a:t> </a:t>
                      </a:r>
                      <a:r>
                        <a:rPr lang="en-US" sz="1200" spc="-10" dirty="0" err="1">
                          <a:solidFill>
                            <a:schemeClr val="bg1"/>
                          </a:solidFill>
                          <a:effectLst/>
                          <a:latin typeface="Udemy Sans"/>
                          <a:ea typeface="Arial MT"/>
                          <a:cs typeface="Arial MT"/>
                        </a:rPr>
                        <a:t>System.Convert.ToChar</a:t>
                      </a:r>
                      <a:r>
                        <a:rPr lang="en-US" sz="1200" spc="-10" dirty="0">
                          <a:solidFill>
                            <a:schemeClr val="bg1"/>
                          </a:solidFill>
                          <a:effectLst/>
                          <a:latin typeface="Udemy Sans"/>
                          <a:ea typeface="Arial MT"/>
                          <a:cs typeface="Arial MT"/>
                        </a:rPr>
                        <a:t>(value)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spc="-20">
                          <a:solidFill>
                            <a:schemeClr val="bg1"/>
                          </a:solidFill>
                          <a:effectLst/>
                          <a:latin typeface="Udemy Sans"/>
                          <a:ea typeface="Arial MT"/>
                          <a:cs typeface="Arial MT"/>
                        </a:rPr>
                        <a:t>It</a:t>
                      </a:r>
                      <a:r>
                        <a:rPr lang="en-US" sz="1200" spc="-4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converts</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and</a:t>
                      </a:r>
                      <a:r>
                        <a:rPr lang="en-US" sz="1200" spc="-50">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returns</a:t>
                      </a:r>
                      <a:r>
                        <a:rPr lang="en-US" sz="1200" spc="-5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the</a:t>
                      </a:r>
                      <a:r>
                        <a:rPr lang="en-US" sz="1200" spc="-55">
                          <a:solidFill>
                            <a:schemeClr val="bg1"/>
                          </a:solidFill>
                          <a:effectLst/>
                          <a:latin typeface="Udemy Sans"/>
                          <a:ea typeface="Arial MT"/>
                          <a:cs typeface="Arial MT"/>
                        </a:rPr>
                        <a:t> </a:t>
                      </a:r>
                      <a:r>
                        <a:rPr lang="en-US" sz="1200" spc="-20">
                          <a:solidFill>
                            <a:schemeClr val="bg1"/>
                          </a:solidFill>
                          <a:effectLst/>
                          <a:latin typeface="Udemy Sans"/>
                          <a:ea typeface="Arial MT"/>
                          <a:cs typeface="Arial MT"/>
                        </a:rPr>
                        <a:t>given</a:t>
                      </a:r>
                      <a:endParaRPr lang="en-IN" sz="1200">
                        <a:solidFill>
                          <a:schemeClr val="bg1"/>
                        </a:solidFill>
                        <a:effectLst/>
                        <a:latin typeface="Udemy Sans"/>
                        <a:ea typeface="Arial MT"/>
                        <a:cs typeface="Arial MT"/>
                      </a:endParaRPr>
                    </a:p>
                    <a:p>
                      <a:pPr marL="66675">
                        <a:spcBef>
                          <a:spcPts val="870"/>
                        </a:spcBef>
                        <a:spcAft>
                          <a:spcPts val="0"/>
                        </a:spcAft>
                      </a:pPr>
                      <a:r>
                        <a:rPr lang="en-US" sz="1200" spc="-30">
                          <a:solidFill>
                            <a:schemeClr val="bg1"/>
                          </a:solidFill>
                          <a:effectLst/>
                          <a:latin typeface="Udemy Sans"/>
                          <a:ea typeface="Arial MT"/>
                          <a:cs typeface="Arial MT"/>
                        </a:rPr>
                        <a:t>value</a:t>
                      </a:r>
                      <a:r>
                        <a:rPr lang="en-US" sz="1200" spc="-15">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into</a:t>
                      </a:r>
                      <a:r>
                        <a:rPr lang="en-US" sz="1200" spc="-20">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“char”</a:t>
                      </a:r>
                      <a:r>
                        <a:rPr lang="en-US" sz="1200" spc="-20">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data</a:t>
                      </a:r>
                      <a:r>
                        <a:rPr lang="en-US" sz="1200" spc="-25">
                          <a:solidFill>
                            <a:schemeClr val="bg1"/>
                          </a:solidFill>
                          <a:effectLst/>
                          <a:latin typeface="Udemy Sans"/>
                          <a:ea typeface="Arial MT"/>
                          <a:cs typeface="Arial MT"/>
                        </a:rPr>
                        <a:t> </a:t>
                      </a:r>
                      <a:r>
                        <a:rPr lang="en-US" sz="1200" spc="-30">
                          <a:solidFill>
                            <a:schemeClr val="bg1"/>
                          </a:solidFill>
                          <a:effectLst/>
                          <a:latin typeface="Udemy Sans"/>
                          <a:ea typeface="Arial MT"/>
                          <a:cs typeface="Arial MT"/>
                        </a:rPr>
                        <a:t>type.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5893460"/>
                  </a:ext>
                </a:extLst>
              </a:tr>
              <a:tr h="903678">
                <a:tc>
                  <a:txBody>
                    <a:bodyPr/>
                    <a:lstStyle/>
                    <a:p>
                      <a:pPr marL="4445" algn="ctr">
                        <a:spcBef>
                          <a:spcPts val="215"/>
                        </a:spcBef>
                      </a:pPr>
                      <a:r>
                        <a:rPr lang="en-US" sz="1200" spc="-25">
                          <a:solidFill>
                            <a:schemeClr val="bg1"/>
                          </a:solidFill>
                          <a:effectLst/>
                          <a:latin typeface="Udemy Sans"/>
                          <a:ea typeface="Arial MT"/>
                          <a:cs typeface="Arial MT"/>
                        </a:rPr>
                        <a:t>13</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dirty="0">
                          <a:solidFill>
                            <a:schemeClr val="bg1"/>
                          </a:solidFill>
                          <a:effectLst/>
                          <a:latin typeface="Udemy Sans"/>
                          <a:ea typeface="Arial MT"/>
                          <a:cs typeface="Arial MT"/>
                        </a:rPr>
                        <a:t>string</a:t>
                      </a:r>
                      <a:r>
                        <a:rPr lang="en-US" sz="1200" spc="-70" dirty="0">
                          <a:solidFill>
                            <a:schemeClr val="bg1"/>
                          </a:solidFill>
                          <a:effectLst/>
                          <a:latin typeface="Udemy Sans"/>
                          <a:ea typeface="Arial MT"/>
                          <a:cs typeface="Arial MT"/>
                        </a:rPr>
                        <a:t> </a:t>
                      </a:r>
                      <a:r>
                        <a:rPr lang="en-US" sz="1200" spc="-10" dirty="0" err="1">
                          <a:solidFill>
                            <a:schemeClr val="bg1"/>
                          </a:solidFill>
                          <a:effectLst/>
                          <a:latin typeface="Udemy Sans"/>
                          <a:ea typeface="Arial MT"/>
                          <a:cs typeface="Arial MT"/>
                        </a:rPr>
                        <a:t>System.Convert.ToString</a:t>
                      </a:r>
                      <a:r>
                        <a:rPr lang="en-US" sz="1200" spc="-10" dirty="0">
                          <a:solidFill>
                            <a:schemeClr val="bg1"/>
                          </a:solidFill>
                          <a:effectLst/>
                          <a:latin typeface="Udemy Sans"/>
                          <a:ea typeface="Arial MT"/>
                          <a:cs typeface="Arial MT"/>
                        </a:rPr>
                        <a:t>(value)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marR="193040">
                        <a:lnSpc>
                          <a:spcPct val="168000"/>
                        </a:lnSpc>
                        <a:spcBef>
                          <a:spcPts val="215"/>
                        </a:spcBef>
                        <a:spcAft>
                          <a:spcPts val="0"/>
                        </a:spcAft>
                      </a:pPr>
                      <a:r>
                        <a:rPr lang="en-US" sz="1200" spc="-20" dirty="0">
                          <a:solidFill>
                            <a:schemeClr val="bg1"/>
                          </a:solidFill>
                          <a:effectLst/>
                          <a:latin typeface="Udemy Sans"/>
                          <a:ea typeface="Arial MT"/>
                          <a:cs typeface="Arial MT"/>
                        </a:rPr>
                        <a:t>It</a:t>
                      </a:r>
                      <a:r>
                        <a:rPr lang="en-US" sz="1200" spc="-6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converts</a:t>
                      </a:r>
                      <a:r>
                        <a:rPr lang="en-US" sz="1200" spc="-6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and</a:t>
                      </a:r>
                      <a:r>
                        <a:rPr lang="en-US" sz="1200" spc="-6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returns</a:t>
                      </a:r>
                      <a:r>
                        <a:rPr lang="en-US" sz="1200" spc="-6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the</a:t>
                      </a:r>
                      <a:r>
                        <a:rPr lang="en-US" sz="1200" spc="-6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given </a:t>
                      </a:r>
                      <a:r>
                        <a:rPr lang="en-US" sz="1200" dirty="0">
                          <a:solidFill>
                            <a:schemeClr val="bg1"/>
                          </a:solidFill>
                          <a:effectLst/>
                          <a:latin typeface="Udemy Sans"/>
                          <a:ea typeface="Arial MT"/>
                          <a:cs typeface="Arial MT"/>
                        </a:rPr>
                        <a:t>value into “string” data type.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1642733"/>
                  </a:ext>
                </a:extLst>
              </a:tr>
              <a:tr h="903678">
                <a:tc>
                  <a:txBody>
                    <a:bodyPr/>
                    <a:lstStyle/>
                    <a:p>
                      <a:pPr marL="4445" algn="ctr">
                        <a:spcBef>
                          <a:spcPts val="215"/>
                        </a:spcBef>
                      </a:pPr>
                      <a:r>
                        <a:rPr lang="en-US" sz="1200" spc="-25">
                          <a:solidFill>
                            <a:schemeClr val="bg1"/>
                          </a:solidFill>
                          <a:effectLst/>
                          <a:latin typeface="Udemy Sans"/>
                          <a:ea typeface="Arial MT"/>
                          <a:cs typeface="Arial MT"/>
                        </a:rPr>
                        <a:t>14</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a:solidFill>
                            <a:schemeClr val="bg1"/>
                          </a:solidFill>
                          <a:effectLst/>
                          <a:latin typeface="Udemy Sans"/>
                          <a:ea typeface="Arial MT"/>
                          <a:cs typeface="Arial MT"/>
                        </a:rPr>
                        <a:t>bool</a:t>
                      </a:r>
                      <a:r>
                        <a:rPr lang="en-US" sz="1200" spc="95">
                          <a:solidFill>
                            <a:schemeClr val="bg1"/>
                          </a:solidFill>
                          <a:effectLst/>
                          <a:latin typeface="Udemy Sans"/>
                          <a:ea typeface="Arial MT"/>
                          <a:cs typeface="Arial MT"/>
                        </a:rPr>
                        <a:t> </a:t>
                      </a:r>
                      <a:r>
                        <a:rPr lang="en-US" sz="1200">
                          <a:solidFill>
                            <a:schemeClr val="bg1"/>
                          </a:solidFill>
                          <a:effectLst/>
                          <a:latin typeface="Udemy Sans"/>
                          <a:ea typeface="Arial MT"/>
                          <a:cs typeface="Arial MT"/>
                        </a:rPr>
                        <a:t>System.Convert.ToBoolean</a:t>
                      </a:r>
                      <a:r>
                        <a:rPr lang="en-US" sz="1200" spc="110">
                          <a:solidFill>
                            <a:schemeClr val="bg1"/>
                          </a:solidFill>
                          <a:effectLst/>
                          <a:latin typeface="Udemy Sans"/>
                          <a:ea typeface="Arial MT"/>
                          <a:cs typeface="Arial MT"/>
                        </a:rPr>
                        <a:t> </a:t>
                      </a:r>
                      <a:r>
                        <a:rPr lang="en-US" sz="1200" spc="-10">
                          <a:solidFill>
                            <a:schemeClr val="bg1"/>
                          </a:solidFill>
                          <a:effectLst/>
                          <a:latin typeface="Udemy Sans"/>
                          <a:ea typeface="Arial MT"/>
                          <a:cs typeface="Arial MT"/>
                        </a:rPr>
                        <a:t>(value)</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marR="192405">
                        <a:lnSpc>
                          <a:spcPct val="168000"/>
                        </a:lnSpc>
                        <a:spcBef>
                          <a:spcPts val="215"/>
                        </a:spcBef>
                        <a:spcAft>
                          <a:spcPts val="0"/>
                        </a:spcAft>
                      </a:pPr>
                      <a:r>
                        <a:rPr lang="en-US" sz="1200" spc="-20" dirty="0">
                          <a:solidFill>
                            <a:schemeClr val="bg1"/>
                          </a:solidFill>
                          <a:effectLst/>
                          <a:latin typeface="Udemy Sans"/>
                          <a:ea typeface="Arial MT"/>
                          <a:cs typeface="Arial MT"/>
                        </a:rPr>
                        <a:t>It</a:t>
                      </a:r>
                      <a:r>
                        <a:rPr lang="en-US" sz="1200" spc="-6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converts</a:t>
                      </a:r>
                      <a:r>
                        <a:rPr lang="en-US" sz="1200" spc="-6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and</a:t>
                      </a:r>
                      <a:r>
                        <a:rPr lang="en-US" sz="1200" spc="-6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returns</a:t>
                      </a:r>
                      <a:r>
                        <a:rPr lang="en-US" sz="1200" spc="-5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the</a:t>
                      </a:r>
                      <a:r>
                        <a:rPr lang="en-US" sz="1200" spc="-6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given </a:t>
                      </a:r>
                      <a:r>
                        <a:rPr lang="en-US" sz="1200" dirty="0">
                          <a:solidFill>
                            <a:schemeClr val="bg1"/>
                          </a:solidFill>
                          <a:effectLst/>
                          <a:latin typeface="Udemy Sans"/>
                          <a:ea typeface="Arial MT"/>
                          <a:cs typeface="Arial MT"/>
                        </a:rPr>
                        <a:t>value into “bool” data type.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2368001"/>
                  </a:ext>
                </a:extLst>
              </a:tr>
              <a:tr h="863548">
                <a:tc>
                  <a:txBody>
                    <a:bodyPr/>
                    <a:lstStyle/>
                    <a:p>
                      <a:pPr marL="4445" algn="ctr">
                        <a:spcBef>
                          <a:spcPts val="215"/>
                        </a:spcBef>
                      </a:pPr>
                      <a:r>
                        <a:rPr lang="en-US" sz="1200" spc="-25">
                          <a:solidFill>
                            <a:schemeClr val="bg1"/>
                          </a:solidFill>
                          <a:effectLst/>
                          <a:latin typeface="Udemy Sans"/>
                          <a:ea typeface="Arial MT"/>
                          <a:cs typeface="Arial MT"/>
                        </a:rPr>
                        <a:t>15</a:t>
                      </a:r>
                      <a:endParaRPr lang="en-IN" sz="120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dirty="0" err="1">
                          <a:solidFill>
                            <a:schemeClr val="bg1"/>
                          </a:solidFill>
                          <a:effectLst/>
                          <a:latin typeface="Udemy Sans"/>
                          <a:ea typeface="Arial MT"/>
                          <a:cs typeface="Arial MT"/>
                        </a:rPr>
                        <a:t>DateTime</a:t>
                      </a:r>
                      <a:r>
                        <a:rPr lang="en-US" sz="1200" spc="100" dirty="0">
                          <a:solidFill>
                            <a:schemeClr val="bg1"/>
                          </a:solidFill>
                          <a:effectLst/>
                          <a:latin typeface="Udemy Sans"/>
                          <a:ea typeface="Arial MT"/>
                          <a:cs typeface="Arial MT"/>
                        </a:rPr>
                        <a:t> </a:t>
                      </a:r>
                      <a:r>
                        <a:rPr lang="en-US" sz="1200" spc="-10" dirty="0" err="1">
                          <a:solidFill>
                            <a:schemeClr val="bg1"/>
                          </a:solidFill>
                          <a:effectLst/>
                          <a:latin typeface="Udemy Sans"/>
                          <a:ea typeface="Arial MT"/>
                          <a:cs typeface="Arial MT"/>
                        </a:rPr>
                        <a:t>System.Convert.ToDateTime</a:t>
                      </a:r>
                      <a:r>
                        <a:rPr lang="en-US" sz="1200" spc="-10" dirty="0">
                          <a:solidFill>
                            <a:schemeClr val="bg1"/>
                          </a:solidFill>
                          <a:effectLst/>
                          <a:latin typeface="Udemy Sans"/>
                          <a:ea typeface="Arial MT"/>
                          <a:cs typeface="Arial MT"/>
                        </a:rPr>
                        <a:t>(value)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spcBef>
                          <a:spcPts val="215"/>
                        </a:spcBef>
                      </a:pPr>
                      <a:r>
                        <a:rPr lang="en-US" sz="1200" spc="-20" dirty="0">
                          <a:solidFill>
                            <a:schemeClr val="bg1"/>
                          </a:solidFill>
                          <a:effectLst/>
                          <a:latin typeface="Udemy Sans"/>
                          <a:ea typeface="Arial MT"/>
                          <a:cs typeface="Arial MT"/>
                        </a:rPr>
                        <a:t>It</a:t>
                      </a:r>
                      <a:r>
                        <a:rPr lang="en-US" sz="1200" spc="-4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converts</a:t>
                      </a:r>
                      <a:r>
                        <a:rPr lang="en-US" sz="1200" spc="-5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and</a:t>
                      </a:r>
                      <a:r>
                        <a:rPr lang="en-US" sz="1200" spc="-50"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returns</a:t>
                      </a:r>
                      <a:r>
                        <a:rPr lang="en-US" sz="1200" spc="-5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the</a:t>
                      </a:r>
                      <a:r>
                        <a:rPr lang="en-US" sz="1200" spc="-55" dirty="0">
                          <a:solidFill>
                            <a:schemeClr val="bg1"/>
                          </a:solidFill>
                          <a:effectLst/>
                          <a:latin typeface="Udemy Sans"/>
                          <a:ea typeface="Arial MT"/>
                          <a:cs typeface="Arial MT"/>
                        </a:rPr>
                        <a:t> </a:t>
                      </a:r>
                      <a:r>
                        <a:rPr lang="en-US" sz="1200" spc="-20" dirty="0">
                          <a:solidFill>
                            <a:schemeClr val="bg1"/>
                          </a:solidFill>
                          <a:effectLst/>
                          <a:latin typeface="Udemy Sans"/>
                          <a:ea typeface="Arial MT"/>
                          <a:cs typeface="Arial MT"/>
                        </a:rPr>
                        <a:t>given</a:t>
                      </a:r>
                      <a:endParaRPr lang="en-IN" sz="1200" dirty="0">
                        <a:solidFill>
                          <a:schemeClr val="bg1"/>
                        </a:solidFill>
                        <a:effectLst/>
                        <a:latin typeface="Udemy Sans"/>
                        <a:ea typeface="Arial MT"/>
                        <a:cs typeface="Arial MT"/>
                      </a:endParaRPr>
                    </a:p>
                    <a:p>
                      <a:pPr marL="66675">
                        <a:spcBef>
                          <a:spcPts val="870"/>
                        </a:spcBef>
                        <a:spcAft>
                          <a:spcPts val="0"/>
                        </a:spcAft>
                      </a:pPr>
                      <a:r>
                        <a:rPr lang="en-US" sz="1200" spc="-30" dirty="0">
                          <a:solidFill>
                            <a:schemeClr val="bg1"/>
                          </a:solidFill>
                          <a:effectLst/>
                          <a:latin typeface="Udemy Sans"/>
                          <a:ea typeface="Arial MT"/>
                          <a:cs typeface="Arial MT"/>
                        </a:rPr>
                        <a:t>value</a:t>
                      </a:r>
                      <a:r>
                        <a:rPr lang="en-US" sz="1200" spc="-35" dirty="0">
                          <a:solidFill>
                            <a:schemeClr val="bg1"/>
                          </a:solidFill>
                          <a:effectLst/>
                          <a:latin typeface="Udemy Sans"/>
                          <a:ea typeface="Arial MT"/>
                          <a:cs typeface="Arial MT"/>
                        </a:rPr>
                        <a:t> </a:t>
                      </a:r>
                      <a:r>
                        <a:rPr lang="en-US" sz="1200" spc="-30" dirty="0">
                          <a:solidFill>
                            <a:schemeClr val="bg1"/>
                          </a:solidFill>
                          <a:effectLst/>
                          <a:latin typeface="Udemy Sans"/>
                          <a:ea typeface="Arial MT"/>
                          <a:cs typeface="Arial MT"/>
                        </a:rPr>
                        <a:t>into</a:t>
                      </a:r>
                      <a:r>
                        <a:rPr lang="en-US" sz="1200" spc="-35" dirty="0">
                          <a:solidFill>
                            <a:schemeClr val="bg1"/>
                          </a:solidFill>
                          <a:effectLst/>
                          <a:latin typeface="Udemy Sans"/>
                          <a:ea typeface="Arial MT"/>
                          <a:cs typeface="Arial MT"/>
                        </a:rPr>
                        <a:t> </a:t>
                      </a:r>
                      <a:r>
                        <a:rPr lang="en-US" sz="1200" spc="-30" dirty="0">
                          <a:solidFill>
                            <a:schemeClr val="bg1"/>
                          </a:solidFill>
                          <a:effectLst/>
                          <a:latin typeface="Udemy Sans"/>
                          <a:ea typeface="Arial MT"/>
                          <a:cs typeface="Arial MT"/>
                        </a:rPr>
                        <a:t>“</a:t>
                      </a:r>
                      <a:r>
                        <a:rPr lang="en-US" sz="1200" spc="-30" dirty="0" err="1">
                          <a:solidFill>
                            <a:schemeClr val="bg1"/>
                          </a:solidFill>
                          <a:effectLst/>
                          <a:latin typeface="Udemy Sans"/>
                          <a:ea typeface="Arial MT"/>
                          <a:cs typeface="Arial MT"/>
                        </a:rPr>
                        <a:t>DateTime</a:t>
                      </a:r>
                      <a:r>
                        <a:rPr lang="en-US" sz="1200" spc="-30" dirty="0">
                          <a:solidFill>
                            <a:schemeClr val="bg1"/>
                          </a:solidFill>
                          <a:effectLst/>
                          <a:latin typeface="Udemy Sans"/>
                          <a:ea typeface="Arial MT"/>
                          <a:cs typeface="Arial MT"/>
                        </a:rPr>
                        <a:t>” data</a:t>
                      </a:r>
                      <a:r>
                        <a:rPr lang="en-US" sz="1200" spc="-35" dirty="0">
                          <a:solidFill>
                            <a:schemeClr val="bg1"/>
                          </a:solidFill>
                          <a:effectLst/>
                          <a:latin typeface="Udemy Sans"/>
                          <a:ea typeface="Arial MT"/>
                          <a:cs typeface="Arial MT"/>
                        </a:rPr>
                        <a:t> </a:t>
                      </a:r>
                      <a:r>
                        <a:rPr lang="en-US" sz="1200" spc="-30" dirty="0">
                          <a:solidFill>
                            <a:schemeClr val="bg1"/>
                          </a:solidFill>
                          <a:effectLst/>
                          <a:latin typeface="Udemy Sans"/>
                          <a:ea typeface="Arial MT"/>
                          <a:cs typeface="Arial MT"/>
                        </a:rPr>
                        <a:t>type.</a:t>
                      </a:r>
                      <a:endParaRPr lang="en-IN" sz="1200" dirty="0">
                        <a:solidFill>
                          <a:schemeClr val="bg1"/>
                        </a:solidFill>
                        <a:effectLst/>
                        <a:latin typeface="Udemy Sans"/>
                        <a:ea typeface="Arial MT"/>
                        <a:cs typeface="Arial MT"/>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7416011"/>
                  </a:ext>
                </a:extLst>
              </a:tr>
            </a:tbl>
          </a:graphicData>
        </a:graphic>
      </p:graphicFrame>
    </p:spTree>
    <p:extLst>
      <p:ext uri="{BB962C8B-B14F-4D97-AF65-F5344CB8AC3E}">
        <p14:creationId xmlns:p14="http://schemas.microsoft.com/office/powerpoint/2010/main" val="3982234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03D9B-8B44-49F1-927F-F9EA94856A18}"/>
              </a:ext>
            </a:extLst>
          </p:cNvPr>
          <p:cNvSpPr>
            <a:spLocks noGrp="1"/>
          </p:cNvSpPr>
          <p:nvPr>
            <p:ph type="title"/>
          </p:nvPr>
        </p:nvSpPr>
        <p:spPr>
          <a:xfrm>
            <a:off x="1143001" y="395234"/>
            <a:ext cx="9905998" cy="476635"/>
          </a:xfrm>
        </p:spPr>
        <p:txBody>
          <a:bodyPr>
            <a:normAutofit/>
          </a:bodyPr>
          <a:lstStyle/>
          <a:p>
            <a:r>
              <a:rPr lang="en-IN" sz="2800" dirty="0">
                <a:solidFill>
                  <a:schemeClr val="bg1"/>
                </a:solidFill>
                <a:latin typeface="Udemy Sans"/>
              </a:rPr>
              <a:t>Constructors</a:t>
            </a:r>
          </a:p>
        </p:txBody>
      </p:sp>
      <p:sp>
        <p:nvSpPr>
          <p:cNvPr id="3" name="Content Placeholder 2">
            <a:extLst>
              <a:ext uri="{FF2B5EF4-FFF2-40B4-BE49-F238E27FC236}">
                <a16:creationId xmlns:a16="http://schemas.microsoft.com/office/drawing/2014/main" id="{6B05E06C-803E-47BD-AA23-F9DBED411FD2}"/>
              </a:ext>
            </a:extLst>
          </p:cNvPr>
          <p:cNvSpPr>
            <a:spLocks noGrp="1"/>
          </p:cNvSpPr>
          <p:nvPr>
            <p:ph sz="half" idx="1"/>
          </p:nvPr>
        </p:nvSpPr>
        <p:spPr>
          <a:xfrm>
            <a:off x="822618" y="1127052"/>
            <a:ext cx="10975977" cy="5007934"/>
          </a:xfrm>
          <a:solidFill>
            <a:schemeClr val="tx1"/>
          </a:solidFill>
        </p:spPr>
        <p:txBody>
          <a:bodyPr>
            <a:normAutofit fontScale="85000" lnSpcReduction="20000"/>
          </a:bodyPr>
          <a:lstStyle/>
          <a:p>
            <a:r>
              <a:rPr lang="en-US" sz="1800" dirty="0">
                <a:solidFill>
                  <a:schemeClr val="bg1"/>
                </a:solidFill>
                <a:latin typeface="Udemy Sans"/>
              </a:rPr>
              <a:t>Constructors are special methods of the class, which initializes the Fields and perform any initialization process, which will be called automatically when an object is created for the class.</a:t>
            </a:r>
          </a:p>
          <a:p>
            <a:r>
              <a:rPr lang="en-US" sz="1800" dirty="0">
                <a:solidFill>
                  <a:schemeClr val="bg1"/>
                </a:solidFill>
                <a:latin typeface="Udemy Sans"/>
              </a:rPr>
              <a:t>Constructors are used to receive a set of parameters and initialize those parameters into respective Fields.</a:t>
            </a:r>
          </a:p>
          <a:p>
            <a:r>
              <a:rPr lang="en-US" sz="1800" dirty="0">
                <a:solidFill>
                  <a:schemeClr val="bg1"/>
                </a:solidFill>
                <a:latin typeface="Udemy Sans"/>
              </a:rPr>
              <a:t>For example, you have a class with Fields. So your constructor can receive 3 arguments and assign those arguments into Fields respectively. However, if you don’t want to initialize all the Fields, you can receive less no. of arguments also. For example, you can initialize 1 or 2 Fields also.</a:t>
            </a:r>
          </a:p>
          <a:p>
            <a:r>
              <a:rPr lang="en-US" sz="1800" dirty="0">
                <a:solidFill>
                  <a:schemeClr val="bg1"/>
                </a:solidFill>
                <a:latin typeface="Udemy Sans"/>
              </a:rPr>
              <a:t>When an object is created, the following process happens internally:</a:t>
            </a:r>
          </a:p>
          <a:p>
            <a:pPr lvl="1">
              <a:buFont typeface="Wingdings" panose="05000000000000000000" pitchFamily="2" charset="2"/>
              <a:buChar char="ü"/>
            </a:pPr>
            <a:r>
              <a:rPr lang="en-US" sz="1800" dirty="0">
                <a:solidFill>
                  <a:schemeClr val="bg1"/>
                </a:solidFill>
                <a:latin typeface="Udemy Sans"/>
              </a:rPr>
              <a:t>Memory will be allocated for the object in RAM (in Heap of RAM).</a:t>
            </a:r>
          </a:p>
          <a:p>
            <a:pPr lvl="1">
              <a:buFont typeface="Wingdings" panose="05000000000000000000" pitchFamily="2" charset="2"/>
              <a:buChar char="ü"/>
            </a:pPr>
            <a:r>
              <a:rPr lang="en-US" sz="1800" dirty="0">
                <a:solidFill>
                  <a:schemeClr val="bg1"/>
                </a:solidFill>
                <a:latin typeface="Udemy Sans"/>
              </a:rPr>
              <a:t>Default values will be initialized (based on the data type).</a:t>
            </a:r>
          </a:p>
          <a:p>
            <a:pPr lvl="1">
              <a:buFont typeface="Wingdings" panose="05000000000000000000" pitchFamily="2" charset="2"/>
              <a:buChar char="ü"/>
            </a:pPr>
            <a:r>
              <a:rPr lang="en-US" sz="1800" dirty="0">
                <a:solidFill>
                  <a:schemeClr val="bg1"/>
                </a:solidFill>
                <a:latin typeface="Udemy Sans"/>
              </a:rPr>
              <a:t>Constructor will be called automatically</a:t>
            </a:r>
            <a:r>
              <a:rPr lang="en-US" sz="1400" dirty="0">
                <a:solidFill>
                  <a:schemeClr val="bg1"/>
                </a:solidFill>
                <a:latin typeface="Udemy Sans"/>
              </a:rPr>
              <a:t>.</a:t>
            </a:r>
          </a:p>
          <a:p>
            <a:pPr lvl="1">
              <a:buFont typeface="Wingdings" panose="05000000000000000000" pitchFamily="2" charset="2"/>
              <a:buChar char="ü"/>
            </a:pPr>
            <a:endParaRPr lang="en-US" sz="1400" dirty="0">
              <a:solidFill>
                <a:schemeClr val="bg1"/>
              </a:solidFill>
              <a:latin typeface="Udemy Sans"/>
            </a:endParaRPr>
          </a:p>
          <a:p>
            <a:pPr marL="1371600" lvl="3" indent="0">
              <a:buNone/>
            </a:pPr>
            <a:r>
              <a:rPr lang="en-US" sz="1500" b="1" dirty="0">
                <a:solidFill>
                  <a:schemeClr val="bg1"/>
                </a:solidFill>
                <a:latin typeface="Udemy Sans"/>
              </a:rPr>
              <a:t>Syntax of Constructor</a:t>
            </a:r>
          </a:p>
          <a:p>
            <a:pPr marL="1371600" lvl="3" indent="0">
              <a:buNone/>
            </a:pPr>
            <a:r>
              <a:rPr lang="en-US" sz="1500" dirty="0">
                <a:solidFill>
                  <a:srgbClr val="0070C0"/>
                </a:solidFill>
                <a:latin typeface="Udemy Sans"/>
              </a:rPr>
              <a:t>public</a:t>
            </a:r>
            <a:r>
              <a:rPr lang="en-US" sz="1500" dirty="0">
                <a:solidFill>
                  <a:schemeClr val="bg1"/>
                </a:solidFill>
                <a:latin typeface="Udemy Sans"/>
              </a:rPr>
              <a:t> </a:t>
            </a:r>
            <a:r>
              <a:rPr lang="en-US" sz="1500" dirty="0" err="1">
                <a:solidFill>
                  <a:schemeClr val="bg1"/>
                </a:solidFill>
                <a:latin typeface="Udemy Sans"/>
              </a:rPr>
              <a:t>Classname</a:t>
            </a:r>
            <a:r>
              <a:rPr lang="en-US" sz="1500" dirty="0">
                <a:solidFill>
                  <a:schemeClr val="bg1"/>
                </a:solidFill>
                <a:latin typeface="Udemy Sans"/>
              </a:rPr>
              <a:t>(datatype variable1, datatype variable2, …)</a:t>
            </a:r>
          </a:p>
          <a:p>
            <a:pPr marL="1371600" lvl="3" indent="0">
              <a:buNone/>
            </a:pPr>
            <a:r>
              <a:rPr lang="en-US" sz="1500" dirty="0">
                <a:solidFill>
                  <a:schemeClr val="bg1"/>
                </a:solidFill>
                <a:latin typeface="Udemy Sans"/>
              </a:rPr>
              <a:t>{</a:t>
            </a:r>
          </a:p>
          <a:p>
            <a:pPr marL="1371600" lvl="3" indent="0">
              <a:buNone/>
            </a:pPr>
            <a:r>
              <a:rPr lang="en-US" sz="1500" dirty="0">
                <a:solidFill>
                  <a:schemeClr val="bg1"/>
                </a:solidFill>
                <a:latin typeface="Udemy Sans"/>
              </a:rPr>
              <a:t>Field1 = variable1; Field2 = variable2;</a:t>
            </a:r>
          </a:p>
          <a:p>
            <a:pPr marL="1371600" lvl="3" indent="0">
              <a:buNone/>
            </a:pPr>
            <a:r>
              <a:rPr lang="en-US" sz="1500" dirty="0">
                <a:solidFill>
                  <a:schemeClr val="bg1"/>
                </a:solidFill>
                <a:latin typeface="Udemy Sans"/>
              </a:rPr>
              <a:t>…</a:t>
            </a:r>
          </a:p>
          <a:p>
            <a:pPr marL="1371600" lvl="3" indent="0">
              <a:buNone/>
            </a:pPr>
            <a:r>
              <a:rPr lang="en-US" sz="1500" dirty="0">
                <a:solidFill>
                  <a:schemeClr val="bg1"/>
                </a:solidFill>
                <a:latin typeface="Udemy Sans"/>
              </a:rPr>
              <a:t>}</a:t>
            </a:r>
          </a:p>
          <a:p>
            <a:endParaRPr lang="en-IN" sz="1800" dirty="0">
              <a:solidFill>
                <a:schemeClr val="bg1"/>
              </a:solidFill>
              <a:latin typeface="Udemy Sans"/>
            </a:endParaRPr>
          </a:p>
        </p:txBody>
      </p:sp>
    </p:spTree>
    <p:extLst>
      <p:ext uri="{BB962C8B-B14F-4D97-AF65-F5344CB8AC3E}">
        <p14:creationId xmlns:p14="http://schemas.microsoft.com/office/powerpoint/2010/main" val="32285341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ECB74-77BE-48B1-94FA-E74F5CB839DE}"/>
              </a:ext>
            </a:extLst>
          </p:cNvPr>
          <p:cNvSpPr>
            <a:spLocks noGrp="1"/>
          </p:cNvSpPr>
          <p:nvPr>
            <p:ph type="title"/>
          </p:nvPr>
        </p:nvSpPr>
        <p:spPr>
          <a:xfrm>
            <a:off x="1141410" y="373970"/>
            <a:ext cx="9905998" cy="327780"/>
          </a:xfrm>
        </p:spPr>
        <p:txBody>
          <a:bodyPr>
            <a:noAutofit/>
          </a:bodyPr>
          <a:lstStyle/>
          <a:p>
            <a:r>
              <a:rPr lang="en-IN" sz="2800" dirty="0">
                <a:solidFill>
                  <a:schemeClr val="bg1"/>
                </a:solidFill>
                <a:latin typeface="Udemy Sans"/>
              </a:rPr>
              <a:t>Object Initializer</a:t>
            </a:r>
          </a:p>
        </p:txBody>
      </p:sp>
      <p:sp>
        <p:nvSpPr>
          <p:cNvPr id="3" name="Content Placeholder 2">
            <a:extLst>
              <a:ext uri="{FF2B5EF4-FFF2-40B4-BE49-F238E27FC236}">
                <a16:creationId xmlns:a16="http://schemas.microsoft.com/office/drawing/2014/main" id="{59940570-91AF-45DC-92C7-134700CC518B}"/>
              </a:ext>
            </a:extLst>
          </p:cNvPr>
          <p:cNvSpPr>
            <a:spLocks noGrp="1"/>
          </p:cNvSpPr>
          <p:nvPr>
            <p:ph sz="half" idx="1"/>
          </p:nvPr>
        </p:nvSpPr>
        <p:spPr>
          <a:xfrm>
            <a:off x="712381" y="931049"/>
            <a:ext cx="11206717" cy="5255270"/>
          </a:xfrm>
        </p:spPr>
        <p:txBody>
          <a:bodyPr>
            <a:noAutofit/>
          </a:bodyPr>
          <a:lstStyle/>
          <a:p>
            <a:endParaRPr lang="en-US" sz="1600" dirty="0">
              <a:latin typeface="Udemy Sans"/>
            </a:endParaRPr>
          </a:p>
          <a:p>
            <a:r>
              <a:rPr lang="en-US" sz="1800" dirty="0">
                <a:solidFill>
                  <a:schemeClr val="bg1"/>
                </a:solidFill>
                <a:latin typeface="Udemy Sans"/>
              </a:rPr>
              <a:t>Drawback of constructor: Once we have created a constructor with some set of arguments, every time we call it, you must pass the same no. of values; we can't initialize desired Fields; so there is no flexibility in the constructor.</a:t>
            </a:r>
          </a:p>
          <a:p>
            <a:r>
              <a:rPr lang="en-US" sz="1800" dirty="0">
                <a:solidFill>
                  <a:schemeClr val="bg1"/>
                </a:solidFill>
                <a:latin typeface="Udemy Sans"/>
              </a:rPr>
              <a:t>Object initializer solves the above problem.</a:t>
            </a:r>
          </a:p>
          <a:p>
            <a:r>
              <a:rPr lang="en-US" sz="1800" dirty="0">
                <a:solidFill>
                  <a:schemeClr val="bg1"/>
                </a:solidFill>
                <a:latin typeface="Udemy Sans"/>
              </a:rPr>
              <a:t>“Object initializer” is a syntax, which is used to initialize “desired” Fields.</a:t>
            </a:r>
          </a:p>
          <a:p>
            <a:r>
              <a:rPr lang="en-US" sz="1800" dirty="0">
                <a:solidFill>
                  <a:schemeClr val="bg1"/>
                </a:solidFill>
                <a:latin typeface="Udemy Sans"/>
              </a:rPr>
              <a:t>"Object initializer" concept introduced in c#.net 3.0.</a:t>
            </a:r>
          </a:p>
          <a:p>
            <a:r>
              <a:rPr lang="en-US" sz="1800" dirty="0">
                <a:solidFill>
                  <a:schemeClr val="bg1"/>
                </a:solidFill>
                <a:latin typeface="Udemy Sans"/>
              </a:rPr>
              <a:t>"Object initializer" will be called after constructor.</a:t>
            </a:r>
          </a:p>
          <a:p>
            <a:r>
              <a:rPr lang="en-US" sz="1800" dirty="0">
                <a:solidFill>
                  <a:schemeClr val="bg1"/>
                </a:solidFill>
                <a:latin typeface="Udemy Sans"/>
              </a:rPr>
              <a:t>Syntax of creating object based on a class using Object Initializer:</a:t>
            </a:r>
            <a:endParaRPr lang="en-IN" sz="1800" dirty="0">
              <a:solidFill>
                <a:schemeClr val="bg1"/>
              </a:solidFill>
              <a:latin typeface="Udemy Sans"/>
            </a:endParaRPr>
          </a:p>
        </p:txBody>
      </p:sp>
    </p:spTree>
    <p:extLst>
      <p:ext uri="{BB962C8B-B14F-4D97-AF65-F5344CB8AC3E}">
        <p14:creationId xmlns:p14="http://schemas.microsoft.com/office/powerpoint/2010/main" val="22975354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38B81DA-26D5-D4B5-39C6-F6006D22C6BE}"/>
              </a:ext>
            </a:extLst>
          </p:cNvPr>
          <p:cNvSpPr>
            <a:spLocks noGrp="1"/>
          </p:cNvSpPr>
          <p:nvPr>
            <p:ph type="title"/>
          </p:nvPr>
        </p:nvSpPr>
        <p:spPr>
          <a:xfrm>
            <a:off x="1141413" y="618518"/>
            <a:ext cx="9905998" cy="582961"/>
          </a:xfrm>
        </p:spPr>
        <p:txBody>
          <a:bodyPr>
            <a:normAutofit/>
          </a:bodyPr>
          <a:lstStyle/>
          <a:p>
            <a:r>
              <a:rPr lang="en-IN" sz="2400" b="1" dirty="0">
                <a:solidFill>
                  <a:schemeClr val="bg1"/>
                </a:solidFill>
                <a:latin typeface="Udemy Sans"/>
              </a:rPr>
              <a:t>Static Constructor </a:t>
            </a:r>
          </a:p>
        </p:txBody>
      </p:sp>
      <p:sp>
        <p:nvSpPr>
          <p:cNvPr id="6" name="Content Placeholder 2">
            <a:extLst>
              <a:ext uri="{FF2B5EF4-FFF2-40B4-BE49-F238E27FC236}">
                <a16:creationId xmlns:a16="http://schemas.microsoft.com/office/drawing/2014/main" id="{C510EFD1-2933-50EA-4D14-DAFF629AA2A2}"/>
              </a:ext>
            </a:extLst>
          </p:cNvPr>
          <p:cNvSpPr>
            <a:spLocks noGrp="1"/>
          </p:cNvSpPr>
          <p:nvPr>
            <p:ph sz="half" idx="1"/>
          </p:nvPr>
        </p:nvSpPr>
        <p:spPr>
          <a:xfrm>
            <a:off x="829056" y="1572768"/>
            <a:ext cx="10218352" cy="4218432"/>
          </a:xfrm>
        </p:spPr>
        <p:txBody>
          <a:bodyPr>
            <a:normAutofit/>
          </a:bodyPr>
          <a:lstStyle/>
          <a:p>
            <a:r>
              <a:rPr lang="en-US" sz="1800" dirty="0">
                <a:solidFill>
                  <a:schemeClr val="bg1"/>
                </a:solidFill>
                <a:latin typeface="Udemy Sans"/>
              </a:rPr>
              <a:t>Non-static constructors (normal constructors) initialize non-static Fields and static Fields; Static constructors initialize static Fields only. Static constructors will be called automatically when the class is used for the first time in Main method.</a:t>
            </a:r>
          </a:p>
          <a:p>
            <a:r>
              <a:rPr lang="en-US" sz="1800" dirty="0">
                <a:solidFill>
                  <a:schemeClr val="bg1"/>
                </a:solidFill>
                <a:latin typeface="Udemy Sans"/>
              </a:rPr>
              <a:t>Constructors are two types:</a:t>
            </a:r>
          </a:p>
          <a:p>
            <a:pPr marL="457200" lvl="1" indent="0">
              <a:buNone/>
            </a:pPr>
            <a:r>
              <a:rPr lang="en-US" sz="1400" dirty="0">
                <a:solidFill>
                  <a:schemeClr val="bg1"/>
                </a:solidFill>
                <a:latin typeface="Udemy Sans"/>
              </a:rPr>
              <a:t>1.</a:t>
            </a:r>
            <a:r>
              <a:rPr lang="en-US" sz="1800" dirty="0">
                <a:solidFill>
                  <a:schemeClr val="bg1"/>
                </a:solidFill>
                <a:latin typeface="Udemy Sans"/>
              </a:rPr>
              <a:t>Non-static constructors (or) instance constructors</a:t>
            </a:r>
          </a:p>
          <a:p>
            <a:pPr marL="457200" lvl="1" indent="0">
              <a:buNone/>
            </a:pPr>
            <a:r>
              <a:rPr lang="en-US" sz="1800" dirty="0">
                <a:solidFill>
                  <a:schemeClr val="bg1"/>
                </a:solidFill>
                <a:latin typeface="Udemy Sans"/>
              </a:rPr>
              <a:t>2.Static constructors (or) shared constructors</a:t>
            </a:r>
          </a:p>
          <a:p>
            <a:endParaRPr lang="en-IN" dirty="0"/>
          </a:p>
        </p:txBody>
      </p:sp>
    </p:spTree>
    <p:extLst>
      <p:ext uri="{BB962C8B-B14F-4D97-AF65-F5344CB8AC3E}">
        <p14:creationId xmlns:p14="http://schemas.microsoft.com/office/powerpoint/2010/main" val="38698275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E132AE7-56B1-E5E9-C890-D63657352C89}"/>
              </a:ext>
            </a:extLst>
          </p:cNvPr>
          <p:cNvSpPr>
            <a:spLocks noGrp="1"/>
          </p:cNvSpPr>
          <p:nvPr>
            <p:ph type="title"/>
          </p:nvPr>
        </p:nvSpPr>
        <p:spPr>
          <a:xfrm>
            <a:off x="885381" y="399062"/>
            <a:ext cx="9905998" cy="539722"/>
          </a:xfrm>
        </p:spPr>
        <p:txBody>
          <a:bodyPr>
            <a:normAutofit fontScale="90000"/>
          </a:bodyPr>
          <a:lstStyle/>
          <a:p>
            <a:r>
              <a:rPr lang="en-IN" dirty="0">
                <a:solidFill>
                  <a:schemeClr val="bg1"/>
                </a:solidFill>
              </a:rPr>
              <a:t>Static and Non Static Constructor</a:t>
            </a:r>
          </a:p>
        </p:txBody>
      </p:sp>
      <p:graphicFrame>
        <p:nvGraphicFramePr>
          <p:cNvPr id="6" name="Content Placeholder 4">
            <a:extLst>
              <a:ext uri="{FF2B5EF4-FFF2-40B4-BE49-F238E27FC236}">
                <a16:creationId xmlns:a16="http://schemas.microsoft.com/office/drawing/2014/main" id="{AA6A82E6-EF90-D2E2-5C5F-FA11A4921484}"/>
              </a:ext>
            </a:extLst>
          </p:cNvPr>
          <p:cNvGraphicFramePr>
            <a:graphicFrameLocks noGrp="1"/>
          </p:cNvGraphicFramePr>
          <p:nvPr>
            <p:ph sz="half" idx="1"/>
            <p:extLst>
              <p:ext uri="{D42A27DB-BD31-4B8C-83A1-F6EECF244321}">
                <p14:modId xmlns:p14="http://schemas.microsoft.com/office/powerpoint/2010/main" val="564703111"/>
              </p:ext>
            </p:extLst>
          </p:nvPr>
        </p:nvGraphicFramePr>
        <p:xfrm>
          <a:off x="885381" y="938784"/>
          <a:ext cx="10745786" cy="5583469"/>
        </p:xfrm>
        <a:graphic>
          <a:graphicData uri="http://schemas.openxmlformats.org/drawingml/2006/table">
            <a:tbl>
              <a:tblPr firstRow="1" firstCol="1" lastRow="1" lastCol="1" bandRow="1" bandCol="1">
                <a:tableStyleId>{5C22544A-7EE6-4342-B048-85BDC9FD1C3A}</a:tableStyleId>
              </a:tblPr>
              <a:tblGrid>
                <a:gridCol w="1239181">
                  <a:extLst>
                    <a:ext uri="{9D8B030D-6E8A-4147-A177-3AD203B41FA5}">
                      <a16:colId xmlns:a16="http://schemas.microsoft.com/office/drawing/2014/main" val="3909923048"/>
                    </a:ext>
                  </a:extLst>
                </a:gridCol>
                <a:gridCol w="4744002">
                  <a:extLst>
                    <a:ext uri="{9D8B030D-6E8A-4147-A177-3AD203B41FA5}">
                      <a16:colId xmlns:a16="http://schemas.microsoft.com/office/drawing/2014/main" val="2883686426"/>
                    </a:ext>
                  </a:extLst>
                </a:gridCol>
                <a:gridCol w="4762603">
                  <a:extLst>
                    <a:ext uri="{9D8B030D-6E8A-4147-A177-3AD203B41FA5}">
                      <a16:colId xmlns:a16="http://schemas.microsoft.com/office/drawing/2014/main" val="1775966290"/>
                    </a:ext>
                  </a:extLst>
                </a:gridCol>
              </a:tblGrid>
              <a:tr h="87688">
                <a:tc>
                  <a:txBody>
                    <a:bodyPr/>
                    <a:lstStyle/>
                    <a:p>
                      <a:pPr marL="67945">
                        <a:spcBef>
                          <a:spcPts val="215"/>
                        </a:spcBef>
                        <a:buNone/>
                      </a:pPr>
                      <a:r>
                        <a:rPr lang="en-US" sz="1600" dirty="0">
                          <a:solidFill>
                            <a:schemeClr val="bg1"/>
                          </a:solidFill>
                          <a:effectLst/>
                          <a:latin typeface="Udemy Sans"/>
                        </a:rPr>
                        <a:t>Sl.</a:t>
                      </a:r>
                      <a:r>
                        <a:rPr lang="en-US" sz="1600" spc="-15" dirty="0">
                          <a:solidFill>
                            <a:schemeClr val="bg1"/>
                          </a:solidFill>
                          <a:effectLst/>
                          <a:latin typeface="Udemy Sans"/>
                        </a:rPr>
                        <a:t> </a:t>
                      </a:r>
                      <a:r>
                        <a:rPr lang="en-US" sz="1600" spc="-25" dirty="0">
                          <a:solidFill>
                            <a:schemeClr val="bg1"/>
                          </a:solidFill>
                          <a:effectLst/>
                          <a:latin typeface="Udemy Sans"/>
                        </a:rPr>
                        <a:t>No</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a:spcBef>
                          <a:spcPts val="215"/>
                        </a:spcBef>
                        <a:buNone/>
                      </a:pPr>
                      <a:r>
                        <a:rPr lang="en-US" sz="1600" spc="-20">
                          <a:solidFill>
                            <a:schemeClr val="bg1"/>
                          </a:solidFill>
                          <a:effectLst/>
                          <a:latin typeface="Udemy Sans"/>
                        </a:rPr>
                        <a:t>Non-Static</a:t>
                      </a:r>
                      <a:r>
                        <a:rPr lang="en-US" sz="1600" spc="10">
                          <a:solidFill>
                            <a:schemeClr val="bg1"/>
                          </a:solidFill>
                          <a:effectLst/>
                          <a:latin typeface="Udemy Sans"/>
                        </a:rPr>
                        <a:t> </a:t>
                      </a:r>
                      <a:r>
                        <a:rPr lang="en-US" sz="1600" spc="-20">
                          <a:solidFill>
                            <a:schemeClr val="bg1"/>
                          </a:solidFill>
                          <a:effectLst/>
                          <a:latin typeface="Udemy Sans"/>
                        </a:rPr>
                        <a:t>Constructors</a:t>
                      </a:r>
                      <a:endParaRPr lang="en-IN" sz="160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a:spcBef>
                          <a:spcPts val="215"/>
                        </a:spcBef>
                        <a:buNone/>
                      </a:pPr>
                      <a:r>
                        <a:rPr lang="en-US" sz="1600" spc="-20" dirty="0">
                          <a:solidFill>
                            <a:schemeClr val="bg1"/>
                          </a:solidFill>
                          <a:effectLst/>
                          <a:latin typeface="Udemy Sans"/>
                        </a:rPr>
                        <a:t>Static</a:t>
                      </a:r>
                      <a:r>
                        <a:rPr lang="en-US" sz="1600" spc="-25" dirty="0">
                          <a:solidFill>
                            <a:schemeClr val="bg1"/>
                          </a:solidFill>
                          <a:effectLst/>
                          <a:latin typeface="Udemy Sans"/>
                        </a:rPr>
                        <a:t> </a:t>
                      </a:r>
                      <a:r>
                        <a:rPr lang="en-US" sz="1600" spc="-10" dirty="0">
                          <a:solidFill>
                            <a:schemeClr val="bg1"/>
                          </a:solidFill>
                          <a:effectLst/>
                          <a:latin typeface="Udemy Sans"/>
                        </a:rPr>
                        <a:t>Constructors</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extLst>
                  <a:ext uri="{0D108BD9-81ED-4DB2-BD59-A6C34878D82A}">
                    <a16:rowId xmlns:a16="http://schemas.microsoft.com/office/drawing/2014/main" val="593590629"/>
                  </a:ext>
                </a:extLst>
              </a:tr>
              <a:tr h="1177600">
                <a:tc>
                  <a:txBody>
                    <a:bodyPr/>
                    <a:lstStyle/>
                    <a:p>
                      <a:pPr marL="67945">
                        <a:spcBef>
                          <a:spcPts val="215"/>
                        </a:spcBef>
                        <a:buNone/>
                      </a:pPr>
                      <a:r>
                        <a:rPr lang="en-US" sz="1600" spc="-50" dirty="0">
                          <a:solidFill>
                            <a:schemeClr val="bg1"/>
                          </a:solidFill>
                          <a:effectLst/>
                          <a:latin typeface="Udemy Sans"/>
                        </a:rPr>
                        <a:t>1</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a:lnSpc>
                          <a:spcPct val="168000"/>
                        </a:lnSpc>
                        <a:spcBef>
                          <a:spcPts val="215"/>
                        </a:spcBef>
                        <a:buNone/>
                      </a:pPr>
                      <a:r>
                        <a:rPr lang="en-US" sz="1600" b="1" dirty="0">
                          <a:solidFill>
                            <a:schemeClr val="bg1"/>
                          </a:solidFill>
                          <a:effectLst/>
                          <a:latin typeface="Udemy Sans"/>
                        </a:rPr>
                        <a:t>By</a:t>
                      </a:r>
                      <a:r>
                        <a:rPr lang="en-US" sz="1600" b="1" spc="-55" dirty="0">
                          <a:solidFill>
                            <a:schemeClr val="bg1"/>
                          </a:solidFill>
                          <a:effectLst/>
                          <a:latin typeface="Udemy Sans"/>
                        </a:rPr>
                        <a:t> </a:t>
                      </a:r>
                      <a:r>
                        <a:rPr lang="en-US" sz="1600" b="1" dirty="0">
                          <a:solidFill>
                            <a:schemeClr val="bg1"/>
                          </a:solidFill>
                          <a:effectLst/>
                          <a:latin typeface="Udemy Sans"/>
                        </a:rPr>
                        <a:t>default,</a:t>
                      </a:r>
                      <a:r>
                        <a:rPr lang="en-US" sz="1600" b="1" spc="-50" dirty="0">
                          <a:solidFill>
                            <a:schemeClr val="bg1"/>
                          </a:solidFill>
                          <a:effectLst/>
                          <a:latin typeface="Udemy Sans"/>
                        </a:rPr>
                        <a:t> </a:t>
                      </a:r>
                      <a:r>
                        <a:rPr lang="en-US" sz="1600" b="1" dirty="0">
                          <a:solidFill>
                            <a:schemeClr val="bg1"/>
                          </a:solidFill>
                          <a:effectLst/>
                          <a:latin typeface="Udemy Sans"/>
                        </a:rPr>
                        <a:t>all</a:t>
                      </a:r>
                      <a:r>
                        <a:rPr lang="en-US" sz="1600" b="1" spc="-50" dirty="0">
                          <a:solidFill>
                            <a:schemeClr val="bg1"/>
                          </a:solidFill>
                          <a:effectLst/>
                          <a:latin typeface="Udemy Sans"/>
                        </a:rPr>
                        <a:t> </a:t>
                      </a:r>
                      <a:r>
                        <a:rPr lang="en-US" sz="1600" b="1" dirty="0">
                          <a:solidFill>
                            <a:schemeClr val="bg1"/>
                          </a:solidFill>
                          <a:effectLst/>
                          <a:latin typeface="Udemy Sans"/>
                        </a:rPr>
                        <a:t>the</a:t>
                      </a:r>
                      <a:r>
                        <a:rPr lang="en-US" sz="1600" b="1" spc="-45" dirty="0">
                          <a:solidFill>
                            <a:schemeClr val="bg1"/>
                          </a:solidFill>
                          <a:effectLst/>
                          <a:latin typeface="Udemy Sans"/>
                        </a:rPr>
                        <a:t> </a:t>
                      </a:r>
                      <a:r>
                        <a:rPr lang="en-US" sz="1600" b="1" dirty="0">
                          <a:solidFill>
                            <a:schemeClr val="bg1"/>
                          </a:solidFill>
                          <a:effectLst/>
                          <a:latin typeface="Udemy Sans"/>
                        </a:rPr>
                        <a:t>constructors</a:t>
                      </a:r>
                      <a:r>
                        <a:rPr lang="en-US" sz="1600" b="1" spc="-60" dirty="0">
                          <a:solidFill>
                            <a:schemeClr val="bg1"/>
                          </a:solidFill>
                          <a:effectLst/>
                          <a:latin typeface="Udemy Sans"/>
                        </a:rPr>
                        <a:t> </a:t>
                      </a:r>
                      <a:r>
                        <a:rPr lang="en-US" sz="1600" b="1" dirty="0">
                          <a:solidFill>
                            <a:schemeClr val="bg1"/>
                          </a:solidFill>
                          <a:effectLst/>
                          <a:latin typeface="Udemy Sans"/>
                        </a:rPr>
                        <a:t>are</a:t>
                      </a:r>
                      <a:r>
                        <a:rPr lang="en-US" sz="1600" b="1" spc="-45" dirty="0">
                          <a:solidFill>
                            <a:schemeClr val="bg1"/>
                          </a:solidFill>
                          <a:effectLst/>
                          <a:latin typeface="Udemy Sans"/>
                        </a:rPr>
                        <a:t> </a:t>
                      </a:r>
                      <a:r>
                        <a:rPr lang="en-US" sz="1600" b="1" dirty="0">
                          <a:solidFill>
                            <a:schemeClr val="bg1"/>
                          </a:solidFill>
                          <a:effectLst/>
                          <a:latin typeface="Udemy Sans"/>
                        </a:rPr>
                        <a:t>non- </a:t>
                      </a:r>
                      <a:r>
                        <a:rPr lang="en-US" sz="1600" b="1" spc="-30" dirty="0">
                          <a:solidFill>
                            <a:schemeClr val="bg1"/>
                          </a:solidFill>
                          <a:effectLst/>
                          <a:latin typeface="Udemy Sans"/>
                        </a:rPr>
                        <a:t>static</a:t>
                      </a:r>
                      <a:r>
                        <a:rPr lang="en-US" sz="1600" b="1" spc="-70" dirty="0">
                          <a:solidFill>
                            <a:schemeClr val="bg1"/>
                          </a:solidFill>
                          <a:effectLst/>
                          <a:latin typeface="Udemy Sans"/>
                        </a:rPr>
                        <a:t> </a:t>
                      </a:r>
                      <a:r>
                        <a:rPr lang="en-US" sz="1600" b="1" spc="-30" dirty="0">
                          <a:solidFill>
                            <a:schemeClr val="bg1"/>
                          </a:solidFill>
                          <a:effectLst/>
                          <a:latin typeface="Udemy Sans"/>
                        </a:rPr>
                        <a:t>constructors.</a:t>
                      </a:r>
                      <a:r>
                        <a:rPr lang="en-US" sz="1600" b="1" spc="-55" dirty="0">
                          <a:solidFill>
                            <a:schemeClr val="bg1"/>
                          </a:solidFill>
                          <a:effectLst/>
                          <a:latin typeface="Udemy Sans"/>
                        </a:rPr>
                        <a:t> </a:t>
                      </a:r>
                      <a:r>
                        <a:rPr lang="en-US" sz="1600" b="1" spc="-30" dirty="0">
                          <a:solidFill>
                            <a:schemeClr val="bg1"/>
                          </a:solidFill>
                          <a:effectLst/>
                          <a:latin typeface="Udemy Sans"/>
                        </a:rPr>
                        <a:t>These</a:t>
                      </a:r>
                      <a:r>
                        <a:rPr lang="en-US" sz="1600" b="1" spc="-50" dirty="0">
                          <a:solidFill>
                            <a:schemeClr val="bg1"/>
                          </a:solidFill>
                          <a:effectLst/>
                          <a:latin typeface="Udemy Sans"/>
                        </a:rPr>
                        <a:t> </a:t>
                      </a:r>
                      <a:r>
                        <a:rPr lang="en-US" sz="1600" b="1" spc="-30" dirty="0">
                          <a:solidFill>
                            <a:schemeClr val="bg1"/>
                          </a:solidFill>
                          <a:effectLst/>
                          <a:latin typeface="Udemy Sans"/>
                        </a:rPr>
                        <a:t>are</a:t>
                      </a:r>
                      <a:r>
                        <a:rPr lang="en-US" sz="1600" b="1" spc="-50" dirty="0">
                          <a:solidFill>
                            <a:schemeClr val="bg1"/>
                          </a:solidFill>
                          <a:effectLst/>
                          <a:latin typeface="Udemy Sans"/>
                        </a:rPr>
                        <a:t> </a:t>
                      </a:r>
                      <a:r>
                        <a:rPr lang="en-US" sz="1600" b="1" spc="-30" dirty="0">
                          <a:solidFill>
                            <a:schemeClr val="bg1"/>
                          </a:solidFill>
                          <a:effectLst/>
                          <a:latin typeface="Udemy Sans"/>
                        </a:rPr>
                        <a:t>not</a:t>
                      </a:r>
                      <a:r>
                        <a:rPr lang="en-US" sz="1600" b="1" spc="-55" dirty="0">
                          <a:solidFill>
                            <a:schemeClr val="bg1"/>
                          </a:solidFill>
                          <a:effectLst/>
                          <a:latin typeface="Udemy Sans"/>
                        </a:rPr>
                        <a:t> </a:t>
                      </a:r>
                      <a:r>
                        <a:rPr lang="en-US" sz="1600" b="1" spc="-30" dirty="0">
                          <a:solidFill>
                            <a:schemeClr val="bg1"/>
                          </a:solidFill>
                          <a:effectLst/>
                          <a:latin typeface="Udemy Sans"/>
                        </a:rPr>
                        <a:t>created </a:t>
                      </a:r>
                      <a:r>
                        <a:rPr lang="en-US" sz="1600" b="1" dirty="0">
                          <a:solidFill>
                            <a:schemeClr val="bg1"/>
                          </a:solidFill>
                          <a:effectLst/>
                          <a:latin typeface="Udemy Sans"/>
                        </a:rPr>
                        <a:t>with a keyword</a:t>
                      </a:r>
                      <a:r>
                        <a:rPr lang="en-US" sz="1600" b="1" spc="-10" dirty="0">
                          <a:solidFill>
                            <a:schemeClr val="bg1"/>
                          </a:solidFill>
                          <a:effectLst/>
                          <a:latin typeface="Udemy Sans"/>
                        </a:rPr>
                        <a:t> </a:t>
                      </a:r>
                      <a:r>
                        <a:rPr lang="en-US" sz="1600" b="1" dirty="0">
                          <a:solidFill>
                            <a:schemeClr val="bg1"/>
                          </a:solidFill>
                          <a:effectLst/>
                          <a:latin typeface="Udemy Sans"/>
                        </a:rPr>
                        <a:t>called</a:t>
                      </a:r>
                      <a:r>
                        <a:rPr lang="en-US" sz="1600" b="1" spc="-10" dirty="0">
                          <a:solidFill>
                            <a:schemeClr val="bg1"/>
                          </a:solidFill>
                          <a:effectLst/>
                          <a:latin typeface="Udemy Sans"/>
                        </a:rPr>
                        <a:t> </a:t>
                      </a:r>
                      <a:r>
                        <a:rPr lang="en-US" sz="1600" b="1" dirty="0">
                          <a:solidFill>
                            <a:schemeClr val="bg1"/>
                          </a:solidFill>
                          <a:effectLst/>
                          <a:latin typeface="Udemy Sans"/>
                        </a:rPr>
                        <a:t>“static”.</a:t>
                      </a:r>
                      <a:endParaRPr lang="en-IN" sz="1600" b="1"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a:spcBef>
                          <a:spcPts val="215"/>
                        </a:spcBef>
                        <a:buNone/>
                      </a:pPr>
                      <a:r>
                        <a:rPr lang="en-US" sz="1600" spc="-30" dirty="0">
                          <a:solidFill>
                            <a:schemeClr val="bg1"/>
                          </a:solidFill>
                          <a:effectLst/>
                          <a:latin typeface="Udemy Sans"/>
                        </a:rPr>
                        <a:t>Static</a:t>
                      </a:r>
                      <a:r>
                        <a:rPr lang="en-US" sz="1600" spc="-10" dirty="0">
                          <a:solidFill>
                            <a:schemeClr val="bg1"/>
                          </a:solidFill>
                          <a:effectLst/>
                          <a:latin typeface="Udemy Sans"/>
                        </a:rPr>
                        <a:t> </a:t>
                      </a:r>
                      <a:r>
                        <a:rPr lang="en-US" sz="1600" spc="-30" dirty="0">
                          <a:solidFill>
                            <a:schemeClr val="bg1"/>
                          </a:solidFill>
                          <a:effectLst/>
                          <a:latin typeface="Udemy Sans"/>
                        </a:rPr>
                        <a:t>constructors are</a:t>
                      </a:r>
                      <a:r>
                        <a:rPr lang="en-US" sz="1600" spc="-5" dirty="0">
                          <a:solidFill>
                            <a:schemeClr val="bg1"/>
                          </a:solidFill>
                          <a:effectLst/>
                          <a:latin typeface="Udemy Sans"/>
                        </a:rPr>
                        <a:t> </a:t>
                      </a:r>
                      <a:r>
                        <a:rPr lang="en-US" sz="1600" spc="-30" dirty="0">
                          <a:solidFill>
                            <a:schemeClr val="bg1"/>
                          </a:solidFill>
                          <a:effectLst/>
                          <a:latin typeface="Udemy Sans"/>
                        </a:rPr>
                        <a:t>created</a:t>
                      </a:r>
                      <a:r>
                        <a:rPr lang="en-US" sz="1600" spc="-25" dirty="0">
                          <a:solidFill>
                            <a:schemeClr val="bg1"/>
                          </a:solidFill>
                          <a:effectLst/>
                          <a:latin typeface="Udemy Sans"/>
                        </a:rPr>
                        <a:t> </a:t>
                      </a:r>
                      <a:r>
                        <a:rPr lang="en-US" sz="1600" spc="-30" dirty="0">
                          <a:solidFill>
                            <a:schemeClr val="bg1"/>
                          </a:solidFill>
                          <a:effectLst/>
                          <a:latin typeface="Udemy Sans"/>
                        </a:rPr>
                        <a:t>using</a:t>
                      </a:r>
                      <a:endParaRPr lang="en-IN" sz="1600" dirty="0">
                        <a:solidFill>
                          <a:schemeClr val="bg1"/>
                        </a:solidFill>
                        <a:effectLst/>
                        <a:latin typeface="Udemy Sans"/>
                      </a:endParaRPr>
                    </a:p>
                    <a:p>
                      <a:pPr marL="67945">
                        <a:spcBef>
                          <a:spcPts val="870"/>
                        </a:spcBef>
                        <a:buNone/>
                      </a:pPr>
                      <a:r>
                        <a:rPr lang="en-US" sz="1600" dirty="0">
                          <a:solidFill>
                            <a:schemeClr val="bg1"/>
                          </a:solidFill>
                          <a:effectLst/>
                          <a:latin typeface="Udemy Sans"/>
                        </a:rPr>
                        <a:t>“static”</a:t>
                      </a:r>
                      <a:r>
                        <a:rPr lang="en-US" sz="1600" spc="-45" dirty="0">
                          <a:solidFill>
                            <a:schemeClr val="bg1"/>
                          </a:solidFill>
                          <a:effectLst/>
                          <a:latin typeface="Udemy Sans"/>
                        </a:rPr>
                        <a:t> </a:t>
                      </a:r>
                      <a:r>
                        <a:rPr lang="en-US" sz="1600" spc="-10" dirty="0">
                          <a:solidFill>
                            <a:schemeClr val="bg1"/>
                          </a:solidFill>
                          <a:effectLst/>
                          <a:latin typeface="Udemy Sans"/>
                        </a:rPr>
                        <a:t>keyword.</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extLst>
                  <a:ext uri="{0D108BD9-81ED-4DB2-BD59-A6C34878D82A}">
                    <a16:rowId xmlns:a16="http://schemas.microsoft.com/office/drawing/2014/main" val="3958770473"/>
                  </a:ext>
                </a:extLst>
              </a:tr>
              <a:tr h="2160056">
                <a:tc>
                  <a:txBody>
                    <a:bodyPr/>
                    <a:lstStyle/>
                    <a:p>
                      <a:pPr marL="67945">
                        <a:spcBef>
                          <a:spcPts val="215"/>
                        </a:spcBef>
                        <a:buNone/>
                      </a:pPr>
                      <a:r>
                        <a:rPr lang="en-US" sz="1600" b="1" spc="-50" dirty="0">
                          <a:solidFill>
                            <a:schemeClr val="bg1"/>
                          </a:solidFill>
                          <a:effectLst/>
                          <a:latin typeface="Udemy Sans"/>
                        </a:rPr>
                        <a:t>2</a:t>
                      </a:r>
                      <a:endParaRPr lang="en-IN" sz="1600" b="1"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marR="180340">
                        <a:lnSpc>
                          <a:spcPct val="168000"/>
                        </a:lnSpc>
                        <a:spcBef>
                          <a:spcPts val="215"/>
                        </a:spcBef>
                        <a:buNone/>
                      </a:pPr>
                      <a:r>
                        <a:rPr lang="en-US" sz="1600" b="1" spc="-30" dirty="0">
                          <a:solidFill>
                            <a:schemeClr val="bg1"/>
                          </a:solidFill>
                          <a:effectLst/>
                          <a:latin typeface="Udemy Sans"/>
                        </a:rPr>
                        <a:t>Non-static</a:t>
                      </a:r>
                      <a:r>
                        <a:rPr lang="en-US" sz="1600" b="1" spc="-60" dirty="0">
                          <a:solidFill>
                            <a:schemeClr val="bg1"/>
                          </a:solidFill>
                          <a:effectLst/>
                          <a:latin typeface="Udemy Sans"/>
                        </a:rPr>
                        <a:t> </a:t>
                      </a:r>
                      <a:r>
                        <a:rPr lang="en-US" sz="1600" b="1" spc="-30" dirty="0">
                          <a:solidFill>
                            <a:schemeClr val="bg1"/>
                          </a:solidFill>
                          <a:effectLst/>
                          <a:latin typeface="Udemy Sans"/>
                        </a:rPr>
                        <a:t>constructors</a:t>
                      </a:r>
                      <a:r>
                        <a:rPr lang="en-US" sz="1600" b="1" spc="-65" dirty="0">
                          <a:solidFill>
                            <a:schemeClr val="bg1"/>
                          </a:solidFill>
                          <a:effectLst/>
                          <a:latin typeface="Udemy Sans"/>
                        </a:rPr>
                        <a:t> </a:t>
                      </a:r>
                      <a:r>
                        <a:rPr lang="en-US" sz="1600" b="1" spc="-30" dirty="0">
                          <a:solidFill>
                            <a:schemeClr val="bg1"/>
                          </a:solidFill>
                          <a:effectLst/>
                          <a:latin typeface="Udemy Sans"/>
                        </a:rPr>
                        <a:t>can</a:t>
                      </a:r>
                      <a:r>
                        <a:rPr lang="en-US" sz="1600" b="1" spc="-50" dirty="0">
                          <a:solidFill>
                            <a:schemeClr val="bg1"/>
                          </a:solidFill>
                          <a:effectLst/>
                          <a:latin typeface="Udemy Sans"/>
                        </a:rPr>
                        <a:t> </a:t>
                      </a:r>
                      <a:r>
                        <a:rPr lang="en-US" sz="1600" b="1" spc="-30" dirty="0">
                          <a:solidFill>
                            <a:schemeClr val="bg1"/>
                          </a:solidFill>
                          <a:effectLst/>
                          <a:latin typeface="Udemy Sans"/>
                        </a:rPr>
                        <a:t>access</a:t>
                      </a:r>
                      <a:r>
                        <a:rPr lang="en-US" sz="1600" b="1" spc="-65" dirty="0">
                          <a:solidFill>
                            <a:schemeClr val="bg1"/>
                          </a:solidFill>
                          <a:effectLst/>
                          <a:latin typeface="Udemy Sans"/>
                        </a:rPr>
                        <a:t> </a:t>
                      </a:r>
                      <a:r>
                        <a:rPr lang="en-US" sz="1600" b="1" spc="-30" dirty="0">
                          <a:solidFill>
                            <a:schemeClr val="bg1"/>
                          </a:solidFill>
                          <a:effectLst/>
                          <a:latin typeface="Udemy Sans"/>
                        </a:rPr>
                        <a:t>both </a:t>
                      </a:r>
                      <a:r>
                        <a:rPr lang="en-US" sz="1600" b="1" dirty="0">
                          <a:solidFill>
                            <a:schemeClr val="bg1"/>
                          </a:solidFill>
                          <a:effectLst/>
                          <a:latin typeface="Udemy Sans"/>
                        </a:rPr>
                        <a:t>non-static</a:t>
                      </a:r>
                      <a:r>
                        <a:rPr lang="en-US" sz="1600" b="1" spc="-5" dirty="0">
                          <a:solidFill>
                            <a:schemeClr val="bg1"/>
                          </a:solidFill>
                          <a:effectLst/>
                          <a:latin typeface="Udemy Sans"/>
                        </a:rPr>
                        <a:t> </a:t>
                      </a:r>
                      <a:r>
                        <a:rPr lang="en-US" sz="1600" b="1" dirty="0">
                          <a:solidFill>
                            <a:schemeClr val="bg1"/>
                          </a:solidFill>
                          <a:effectLst/>
                          <a:latin typeface="Udemy Sans"/>
                        </a:rPr>
                        <a:t>members</a:t>
                      </a:r>
                      <a:r>
                        <a:rPr lang="en-US" sz="1600" b="1" spc="-20" dirty="0">
                          <a:solidFill>
                            <a:schemeClr val="bg1"/>
                          </a:solidFill>
                          <a:effectLst/>
                          <a:latin typeface="Udemy Sans"/>
                        </a:rPr>
                        <a:t> </a:t>
                      </a:r>
                      <a:r>
                        <a:rPr lang="en-US" sz="1600" b="1" dirty="0">
                          <a:solidFill>
                            <a:schemeClr val="bg1"/>
                          </a:solidFill>
                          <a:effectLst/>
                          <a:latin typeface="Udemy Sans"/>
                        </a:rPr>
                        <a:t>and</a:t>
                      </a:r>
                      <a:r>
                        <a:rPr lang="en-US" sz="1600" b="1" spc="-20" dirty="0">
                          <a:solidFill>
                            <a:schemeClr val="bg1"/>
                          </a:solidFill>
                          <a:effectLst/>
                          <a:latin typeface="Udemy Sans"/>
                        </a:rPr>
                        <a:t> </a:t>
                      </a:r>
                      <a:r>
                        <a:rPr lang="en-US" sz="1600" b="1" dirty="0">
                          <a:solidFill>
                            <a:schemeClr val="bg1"/>
                          </a:solidFill>
                          <a:effectLst/>
                          <a:latin typeface="Udemy Sans"/>
                        </a:rPr>
                        <a:t>non-static </a:t>
                      </a:r>
                      <a:r>
                        <a:rPr lang="en-US" sz="1600" b="1" spc="-10" dirty="0">
                          <a:solidFill>
                            <a:schemeClr val="bg1"/>
                          </a:solidFill>
                          <a:effectLst/>
                          <a:latin typeface="Udemy Sans"/>
                        </a:rPr>
                        <a:t>members.</a:t>
                      </a:r>
                      <a:endParaRPr lang="en-IN" sz="1600" b="1"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marR="95885">
                        <a:lnSpc>
                          <a:spcPct val="168000"/>
                        </a:lnSpc>
                        <a:spcBef>
                          <a:spcPts val="215"/>
                        </a:spcBef>
                        <a:buNone/>
                      </a:pPr>
                      <a:r>
                        <a:rPr lang="en-US" sz="1600" spc="-20" dirty="0">
                          <a:solidFill>
                            <a:schemeClr val="bg1"/>
                          </a:solidFill>
                          <a:effectLst/>
                          <a:latin typeface="Udemy Sans"/>
                        </a:rPr>
                        <a:t>Static</a:t>
                      </a:r>
                      <a:r>
                        <a:rPr lang="en-US" sz="1600" spc="-60" dirty="0">
                          <a:solidFill>
                            <a:schemeClr val="bg1"/>
                          </a:solidFill>
                          <a:effectLst/>
                          <a:latin typeface="Udemy Sans"/>
                        </a:rPr>
                        <a:t> </a:t>
                      </a:r>
                      <a:r>
                        <a:rPr lang="en-US" sz="1600" spc="-20" dirty="0">
                          <a:solidFill>
                            <a:schemeClr val="bg1"/>
                          </a:solidFill>
                          <a:effectLst/>
                          <a:latin typeface="Udemy Sans"/>
                        </a:rPr>
                        <a:t>constructors</a:t>
                      </a:r>
                      <a:r>
                        <a:rPr lang="en-US" sz="1600" spc="-65" dirty="0">
                          <a:solidFill>
                            <a:schemeClr val="bg1"/>
                          </a:solidFill>
                          <a:effectLst/>
                          <a:latin typeface="Udemy Sans"/>
                        </a:rPr>
                        <a:t> </a:t>
                      </a:r>
                      <a:r>
                        <a:rPr lang="en-US" sz="1600" spc="-20" dirty="0">
                          <a:solidFill>
                            <a:schemeClr val="bg1"/>
                          </a:solidFill>
                          <a:effectLst/>
                          <a:latin typeface="Udemy Sans"/>
                        </a:rPr>
                        <a:t>can</a:t>
                      </a:r>
                      <a:r>
                        <a:rPr lang="en-US" sz="1600" spc="-55" dirty="0">
                          <a:solidFill>
                            <a:schemeClr val="bg1"/>
                          </a:solidFill>
                          <a:effectLst/>
                          <a:latin typeface="Udemy Sans"/>
                        </a:rPr>
                        <a:t> </a:t>
                      </a:r>
                      <a:r>
                        <a:rPr lang="en-US" sz="1600" spc="-20" dirty="0">
                          <a:solidFill>
                            <a:schemeClr val="bg1"/>
                          </a:solidFill>
                          <a:effectLst/>
                          <a:latin typeface="Udemy Sans"/>
                        </a:rPr>
                        <a:t>access</a:t>
                      </a:r>
                      <a:r>
                        <a:rPr lang="en-US" sz="1600" spc="-65" dirty="0">
                          <a:solidFill>
                            <a:schemeClr val="bg1"/>
                          </a:solidFill>
                          <a:effectLst/>
                          <a:latin typeface="Udemy Sans"/>
                        </a:rPr>
                        <a:t> </a:t>
                      </a:r>
                      <a:r>
                        <a:rPr lang="en-US" sz="1600" spc="-20" dirty="0">
                          <a:solidFill>
                            <a:schemeClr val="bg1"/>
                          </a:solidFill>
                          <a:effectLst/>
                          <a:latin typeface="Udemy Sans"/>
                        </a:rPr>
                        <a:t>only</a:t>
                      </a:r>
                      <a:r>
                        <a:rPr lang="en-US" sz="1600" spc="-60" dirty="0">
                          <a:solidFill>
                            <a:schemeClr val="bg1"/>
                          </a:solidFill>
                          <a:effectLst/>
                          <a:latin typeface="Udemy Sans"/>
                        </a:rPr>
                        <a:t> </a:t>
                      </a:r>
                      <a:r>
                        <a:rPr lang="en-US" sz="1600" spc="-20" dirty="0">
                          <a:solidFill>
                            <a:schemeClr val="bg1"/>
                          </a:solidFill>
                          <a:effectLst/>
                          <a:latin typeface="Udemy Sans"/>
                        </a:rPr>
                        <a:t>static </a:t>
                      </a:r>
                      <a:r>
                        <a:rPr lang="en-US" sz="1600" dirty="0">
                          <a:solidFill>
                            <a:schemeClr val="bg1"/>
                          </a:solidFill>
                          <a:effectLst/>
                          <a:latin typeface="Udemy Sans"/>
                        </a:rPr>
                        <a:t>members. Static constructors can’t access non-static</a:t>
                      </a:r>
                      <a:r>
                        <a:rPr lang="en-US" sz="1600" spc="-80" dirty="0">
                          <a:solidFill>
                            <a:schemeClr val="bg1"/>
                          </a:solidFill>
                          <a:effectLst/>
                          <a:latin typeface="Udemy Sans"/>
                        </a:rPr>
                        <a:t> </a:t>
                      </a:r>
                      <a:r>
                        <a:rPr lang="en-US" sz="1600" dirty="0">
                          <a:solidFill>
                            <a:schemeClr val="bg1"/>
                          </a:solidFill>
                          <a:effectLst/>
                          <a:latin typeface="Udemy Sans"/>
                        </a:rPr>
                        <a:t>members.</a:t>
                      </a:r>
                      <a:r>
                        <a:rPr lang="en-US" sz="1600" spc="-75" dirty="0">
                          <a:solidFill>
                            <a:schemeClr val="bg1"/>
                          </a:solidFill>
                          <a:effectLst/>
                          <a:latin typeface="Udemy Sans"/>
                        </a:rPr>
                        <a:t> </a:t>
                      </a:r>
                      <a:r>
                        <a:rPr lang="en-US" sz="1600" dirty="0">
                          <a:solidFill>
                            <a:schemeClr val="bg1"/>
                          </a:solidFill>
                          <a:effectLst/>
                          <a:latin typeface="Udemy Sans"/>
                        </a:rPr>
                        <a:t>However,</a:t>
                      </a:r>
                      <a:r>
                        <a:rPr lang="en-US" sz="1600" spc="-75" dirty="0">
                          <a:solidFill>
                            <a:schemeClr val="bg1"/>
                          </a:solidFill>
                          <a:effectLst/>
                          <a:latin typeface="Udemy Sans"/>
                        </a:rPr>
                        <a:t> </a:t>
                      </a:r>
                      <a:r>
                        <a:rPr lang="en-US" sz="1600" dirty="0">
                          <a:solidFill>
                            <a:schemeClr val="bg1"/>
                          </a:solidFill>
                          <a:effectLst/>
                          <a:latin typeface="Udemy Sans"/>
                        </a:rPr>
                        <a:t>if</a:t>
                      </a:r>
                      <a:r>
                        <a:rPr lang="en-US" sz="1600" spc="-80" dirty="0">
                          <a:solidFill>
                            <a:schemeClr val="bg1"/>
                          </a:solidFill>
                          <a:effectLst/>
                          <a:latin typeface="Udemy Sans"/>
                        </a:rPr>
                        <a:t> </a:t>
                      </a:r>
                      <a:r>
                        <a:rPr lang="en-US" sz="1600" dirty="0">
                          <a:solidFill>
                            <a:schemeClr val="bg1"/>
                          </a:solidFill>
                          <a:effectLst/>
                          <a:latin typeface="Udemy Sans"/>
                        </a:rPr>
                        <a:t>you </a:t>
                      </a:r>
                      <a:r>
                        <a:rPr lang="en-US" sz="1600" spc="-10" dirty="0">
                          <a:solidFill>
                            <a:schemeClr val="bg1"/>
                          </a:solidFill>
                          <a:effectLst/>
                          <a:latin typeface="Udemy Sans"/>
                        </a:rPr>
                        <a:t>create</a:t>
                      </a:r>
                      <a:r>
                        <a:rPr lang="en-US" sz="1600" spc="-70" dirty="0">
                          <a:solidFill>
                            <a:schemeClr val="bg1"/>
                          </a:solidFill>
                          <a:effectLst/>
                          <a:latin typeface="Udemy Sans"/>
                        </a:rPr>
                        <a:t> </a:t>
                      </a:r>
                      <a:r>
                        <a:rPr lang="en-US" sz="1600" spc="-10" dirty="0">
                          <a:solidFill>
                            <a:schemeClr val="bg1"/>
                          </a:solidFill>
                          <a:effectLst/>
                          <a:latin typeface="Udemy Sans"/>
                        </a:rPr>
                        <a:t>an</a:t>
                      </a:r>
                      <a:r>
                        <a:rPr lang="en-US" sz="1600" spc="-65" dirty="0">
                          <a:solidFill>
                            <a:schemeClr val="bg1"/>
                          </a:solidFill>
                          <a:effectLst/>
                          <a:latin typeface="Udemy Sans"/>
                        </a:rPr>
                        <a:t> </a:t>
                      </a:r>
                      <a:r>
                        <a:rPr lang="en-US" sz="1600" spc="-10" dirty="0">
                          <a:solidFill>
                            <a:schemeClr val="bg1"/>
                          </a:solidFill>
                          <a:effectLst/>
                          <a:latin typeface="Udemy Sans"/>
                        </a:rPr>
                        <a:t>object</a:t>
                      </a:r>
                      <a:r>
                        <a:rPr lang="en-US" sz="1600" spc="-65" dirty="0">
                          <a:solidFill>
                            <a:schemeClr val="bg1"/>
                          </a:solidFill>
                          <a:effectLst/>
                          <a:latin typeface="Udemy Sans"/>
                        </a:rPr>
                        <a:t> </a:t>
                      </a:r>
                      <a:r>
                        <a:rPr lang="en-US" sz="1600" spc="-10" dirty="0">
                          <a:solidFill>
                            <a:schemeClr val="bg1"/>
                          </a:solidFill>
                          <a:effectLst/>
                          <a:latin typeface="Udemy Sans"/>
                        </a:rPr>
                        <a:t>for</a:t>
                      </a:r>
                      <a:r>
                        <a:rPr lang="en-US" sz="1600" spc="-70" dirty="0">
                          <a:solidFill>
                            <a:schemeClr val="bg1"/>
                          </a:solidFill>
                          <a:effectLst/>
                          <a:latin typeface="Udemy Sans"/>
                        </a:rPr>
                        <a:t> </a:t>
                      </a:r>
                      <a:r>
                        <a:rPr lang="en-US" sz="1600" spc="-10" dirty="0">
                          <a:solidFill>
                            <a:schemeClr val="bg1"/>
                          </a:solidFill>
                          <a:effectLst/>
                          <a:latin typeface="Udemy Sans"/>
                        </a:rPr>
                        <a:t>the</a:t>
                      </a:r>
                      <a:r>
                        <a:rPr lang="en-US" sz="1600" spc="-65" dirty="0">
                          <a:solidFill>
                            <a:schemeClr val="bg1"/>
                          </a:solidFill>
                          <a:effectLst/>
                          <a:latin typeface="Udemy Sans"/>
                        </a:rPr>
                        <a:t> </a:t>
                      </a:r>
                      <a:r>
                        <a:rPr lang="en-US" sz="1600" spc="-10" dirty="0">
                          <a:solidFill>
                            <a:schemeClr val="bg1"/>
                          </a:solidFill>
                          <a:effectLst/>
                          <a:latin typeface="Udemy Sans"/>
                        </a:rPr>
                        <a:t>class</a:t>
                      </a:r>
                      <a:r>
                        <a:rPr lang="en-US" sz="1600" spc="-65" dirty="0">
                          <a:solidFill>
                            <a:schemeClr val="bg1"/>
                          </a:solidFill>
                          <a:effectLst/>
                          <a:latin typeface="Udemy Sans"/>
                        </a:rPr>
                        <a:t> </a:t>
                      </a:r>
                      <a:r>
                        <a:rPr lang="en-US" sz="1600" spc="-10" dirty="0">
                          <a:solidFill>
                            <a:schemeClr val="bg1"/>
                          </a:solidFill>
                          <a:effectLst/>
                          <a:latin typeface="Udemy Sans"/>
                        </a:rPr>
                        <a:t>in</a:t>
                      </a:r>
                      <a:r>
                        <a:rPr lang="en-US" sz="1600" spc="-65" dirty="0">
                          <a:solidFill>
                            <a:schemeClr val="bg1"/>
                          </a:solidFill>
                          <a:effectLst/>
                          <a:latin typeface="Udemy Sans"/>
                        </a:rPr>
                        <a:t> </a:t>
                      </a:r>
                      <a:r>
                        <a:rPr lang="en-US" sz="1600" spc="-10" dirty="0">
                          <a:solidFill>
                            <a:schemeClr val="bg1"/>
                          </a:solidFill>
                          <a:effectLst/>
                          <a:latin typeface="Udemy Sans"/>
                        </a:rPr>
                        <a:t>the</a:t>
                      </a:r>
                      <a:r>
                        <a:rPr lang="en-US" sz="1600" spc="-70" dirty="0">
                          <a:solidFill>
                            <a:schemeClr val="bg1"/>
                          </a:solidFill>
                          <a:effectLst/>
                          <a:latin typeface="Udemy Sans"/>
                        </a:rPr>
                        <a:t> </a:t>
                      </a:r>
                      <a:r>
                        <a:rPr lang="en-US" sz="1600" spc="-10" dirty="0">
                          <a:solidFill>
                            <a:schemeClr val="bg1"/>
                          </a:solidFill>
                          <a:effectLst/>
                          <a:latin typeface="Udemy Sans"/>
                        </a:rPr>
                        <a:t>static </a:t>
                      </a:r>
                      <a:r>
                        <a:rPr lang="en-US" sz="1600" dirty="0">
                          <a:solidFill>
                            <a:schemeClr val="bg1"/>
                          </a:solidFill>
                          <a:effectLst/>
                          <a:latin typeface="Udemy Sans"/>
                        </a:rPr>
                        <a:t>constructor, then you can access any non- static</a:t>
                      </a:r>
                      <a:r>
                        <a:rPr lang="en-US" sz="1600" spc="-80" dirty="0">
                          <a:solidFill>
                            <a:schemeClr val="bg1"/>
                          </a:solidFill>
                          <a:effectLst/>
                          <a:latin typeface="Udemy Sans"/>
                        </a:rPr>
                        <a:t> </a:t>
                      </a:r>
                      <a:r>
                        <a:rPr lang="en-US" sz="1600" dirty="0">
                          <a:solidFill>
                            <a:schemeClr val="bg1"/>
                          </a:solidFill>
                          <a:effectLst/>
                          <a:latin typeface="Udemy Sans"/>
                        </a:rPr>
                        <a:t>members</a:t>
                      </a:r>
                      <a:r>
                        <a:rPr lang="en-US" sz="1600" spc="-75" dirty="0">
                          <a:solidFill>
                            <a:schemeClr val="bg1"/>
                          </a:solidFill>
                          <a:effectLst/>
                          <a:latin typeface="Udemy Sans"/>
                        </a:rPr>
                        <a:t> </a:t>
                      </a:r>
                      <a:r>
                        <a:rPr lang="en-US" sz="1600" dirty="0">
                          <a:solidFill>
                            <a:schemeClr val="bg1"/>
                          </a:solidFill>
                          <a:effectLst/>
                          <a:latin typeface="Udemy Sans"/>
                        </a:rPr>
                        <a:t>though</a:t>
                      </a:r>
                      <a:r>
                        <a:rPr lang="en-US" sz="1600" spc="-75" dirty="0">
                          <a:solidFill>
                            <a:schemeClr val="bg1"/>
                          </a:solidFill>
                          <a:effectLst/>
                          <a:latin typeface="Udemy Sans"/>
                        </a:rPr>
                        <a:t> </a:t>
                      </a:r>
                      <a:r>
                        <a:rPr lang="en-US" sz="1600" dirty="0">
                          <a:solidFill>
                            <a:schemeClr val="bg1"/>
                          </a:solidFill>
                          <a:effectLst/>
                          <a:latin typeface="Udemy Sans"/>
                        </a:rPr>
                        <a:t>the</a:t>
                      </a:r>
                      <a:r>
                        <a:rPr lang="en-US" sz="1600" spc="-80" dirty="0">
                          <a:solidFill>
                            <a:schemeClr val="bg1"/>
                          </a:solidFill>
                          <a:effectLst/>
                          <a:latin typeface="Udemy Sans"/>
                        </a:rPr>
                        <a:t> </a:t>
                      </a:r>
                      <a:r>
                        <a:rPr lang="en-US" sz="1600" dirty="0">
                          <a:solidFill>
                            <a:schemeClr val="bg1"/>
                          </a:solidFill>
                          <a:effectLst/>
                          <a:latin typeface="Udemy Sans"/>
                        </a:rPr>
                        <a:t>object,</a:t>
                      </a:r>
                      <a:r>
                        <a:rPr lang="en-US" sz="1600" spc="-75" dirty="0">
                          <a:solidFill>
                            <a:schemeClr val="bg1"/>
                          </a:solidFill>
                          <a:effectLst/>
                          <a:latin typeface="Udemy Sans"/>
                        </a:rPr>
                        <a:t> </a:t>
                      </a:r>
                      <a:r>
                        <a:rPr lang="en-US" sz="1600" dirty="0">
                          <a:solidFill>
                            <a:schemeClr val="bg1"/>
                          </a:solidFill>
                          <a:effectLst/>
                          <a:latin typeface="Udemy Sans"/>
                        </a:rPr>
                        <a:t>in</a:t>
                      </a:r>
                      <a:r>
                        <a:rPr lang="en-US" sz="1600" spc="-75" dirty="0">
                          <a:solidFill>
                            <a:schemeClr val="bg1"/>
                          </a:solidFill>
                          <a:effectLst/>
                          <a:latin typeface="Udemy Sans"/>
                        </a:rPr>
                        <a:t> </a:t>
                      </a:r>
                      <a:r>
                        <a:rPr lang="en-US" sz="1600" dirty="0">
                          <a:solidFill>
                            <a:schemeClr val="bg1"/>
                          </a:solidFill>
                          <a:effectLst/>
                          <a:latin typeface="Udemy Sans"/>
                        </a:rPr>
                        <a:t>the static</a:t>
                      </a:r>
                      <a:r>
                        <a:rPr lang="en-US" sz="1600" spc="-20" dirty="0">
                          <a:solidFill>
                            <a:schemeClr val="bg1"/>
                          </a:solidFill>
                          <a:effectLst/>
                          <a:latin typeface="Udemy Sans"/>
                        </a:rPr>
                        <a:t> </a:t>
                      </a:r>
                      <a:r>
                        <a:rPr lang="en-US" sz="1600" dirty="0">
                          <a:solidFill>
                            <a:schemeClr val="bg1"/>
                          </a:solidFill>
                          <a:effectLst/>
                          <a:latin typeface="Udemy Sans"/>
                        </a:rPr>
                        <a:t>constructor.</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extLst>
                  <a:ext uri="{0D108BD9-81ED-4DB2-BD59-A6C34878D82A}">
                    <a16:rowId xmlns:a16="http://schemas.microsoft.com/office/drawing/2014/main" val="3180402722"/>
                  </a:ext>
                </a:extLst>
              </a:tr>
              <a:tr h="1995109">
                <a:tc>
                  <a:txBody>
                    <a:bodyPr/>
                    <a:lstStyle/>
                    <a:p>
                      <a:pPr marL="67945">
                        <a:spcBef>
                          <a:spcPts val="215"/>
                        </a:spcBef>
                        <a:buNone/>
                      </a:pPr>
                      <a:r>
                        <a:rPr lang="en-US" sz="1600" spc="-50">
                          <a:solidFill>
                            <a:schemeClr val="bg1"/>
                          </a:solidFill>
                          <a:effectLst/>
                          <a:latin typeface="Udemy Sans"/>
                        </a:rPr>
                        <a:t>3</a:t>
                      </a:r>
                      <a:endParaRPr lang="en-IN" sz="160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a:lnSpc>
                          <a:spcPct val="168000"/>
                        </a:lnSpc>
                        <a:spcBef>
                          <a:spcPts val="215"/>
                        </a:spcBef>
                        <a:buNone/>
                      </a:pPr>
                      <a:r>
                        <a:rPr lang="en-US" sz="1600" dirty="0">
                          <a:solidFill>
                            <a:schemeClr val="bg1"/>
                          </a:solidFill>
                          <a:effectLst/>
                          <a:latin typeface="Udemy Sans"/>
                        </a:rPr>
                        <a:t>Non-static</a:t>
                      </a:r>
                      <a:r>
                        <a:rPr lang="en-US" sz="1600" spc="-80" dirty="0">
                          <a:solidFill>
                            <a:schemeClr val="bg1"/>
                          </a:solidFill>
                          <a:effectLst/>
                          <a:latin typeface="Udemy Sans"/>
                        </a:rPr>
                        <a:t> </a:t>
                      </a:r>
                      <a:r>
                        <a:rPr lang="en-US" sz="1600" dirty="0">
                          <a:solidFill>
                            <a:schemeClr val="bg1"/>
                          </a:solidFill>
                          <a:effectLst/>
                          <a:latin typeface="Udemy Sans"/>
                        </a:rPr>
                        <a:t>constructors</a:t>
                      </a:r>
                      <a:r>
                        <a:rPr lang="en-US" sz="1600" spc="-75" dirty="0">
                          <a:solidFill>
                            <a:schemeClr val="bg1"/>
                          </a:solidFill>
                          <a:effectLst/>
                          <a:latin typeface="Udemy Sans"/>
                        </a:rPr>
                        <a:t> </a:t>
                      </a:r>
                      <a:r>
                        <a:rPr lang="en-US" sz="1600" dirty="0">
                          <a:solidFill>
                            <a:schemeClr val="bg1"/>
                          </a:solidFill>
                          <a:effectLst/>
                          <a:latin typeface="Udemy Sans"/>
                        </a:rPr>
                        <a:t>are</a:t>
                      </a:r>
                      <a:r>
                        <a:rPr lang="en-US" sz="1600" spc="-75" dirty="0">
                          <a:solidFill>
                            <a:schemeClr val="bg1"/>
                          </a:solidFill>
                          <a:effectLst/>
                          <a:latin typeface="Udemy Sans"/>
                        </a:rPr>
                        <a:t> </a:t>
                      </a:r>
                      <a:r>
                        <a:rPr lang="en-US" sz="1600" dirty="0">
                          <a:solidFill>
                            <a:schemeClr val="bg1"/>
                          </a:solidFill>
                          <a:effectLst/>
                          <a:latin typeface="Udemy Sans"/>
                        </a:rPr>
                        <a:t>accessible with</a:t>
                      </a:r>
                      <a:r>
                        <a:rPr lang="en-US" sz="1600" spc="-75" dirty="0">
                          <a:solidFill>
                            <a:schemeClr val="bg1"/>
                          </a:solidFill>
                          <a:effectLst/>
                          <a:latin typeface="Udemy Sans"/>
                        </a:rPr>
                        <a:t> </a:t>
                      </a:r>
                      <a:r>
                        <a:rPr lang="en-US" sz="1600" dirty="0">
                          <a:solidFill>
                            <a:schemeClr val="bg1"/>
                          </a:solidFill>
                          <a:effectLst/>
                          <a:latin typeface="Udemy Sans"/>
                        </a:rPr>
                        <a:t>object</a:t>
                      </a:r>
                      <a:r>
                        <a:rPr lang="en-US" sz="1600" spc="-70" dirty="0">
                          <a:solidFill>
                            <a:schemeClr val="bg1"/>
                          </a:solidFill>
                          <a:effectLst/>
                          <a:latin typeface="Udemy Sans"/>
                        </a:rPr>
                        <a:t> </a:t>
                      </a:r>
                      <a:r>
                        <a:rPr lang="en-US" sz="1600" dirty="0">
                          <a:solidFill>
                            <a:schemeClr val="bg1"/>
                          </a:solidFill>
                          <a:effectLst/>
                          <a:latin typeface="Udemy Sans"/>
                        </a:rPr>
                        <a:t>only.</a:t>
                      </a:r>
                      <a:r>
                        <a:rPr lang="en-US" sz="1600" spc="-80" dirty="0">
                          <a:solidFill>
                            <a:schemeClr val="bg1"/>
                          </a:solidFill>
                          <a:effectLst/>
                          <a:latin typeface="Udemy Sans"/>
                        </a:rPr>
                        <a:t> </a:t>
                      </a:r>
                      <a:r>
                        <a:rPr lang="en-US" sz="1600" dirty="0">
                          <a:solidFill>
                            <a:schemeClr val="bg1"/>
                          </a:solidFill>
                          <a:effectLst/>
                          <a:latin typeface="Udemy Sans"/>
                        </a:rPr>
                        <a:t>When</a:t>
                      </a:r>
                      <a:r>
                        <a:rPr lang="en-US" sz="1600" spc="-65" dirty="0">
                          <a:solidFill>
                            <a:schemeClr val="bg1"/>
                          </a:solidFill>
                          <a:effectLst/>
                          <a:latin typeface="Udemy Sans"/>
                        </a:rPr>
                        <a:t> </a:t>
                      </a:r>
                      <a:r>
                        <a:rPr lang="en-US" sz="1600" dirty="0">
                          <a:solidFill>
                            <a:schemeClr val="bg1"/>
                          </a:solidFill>
                          <a:effectLst/>
                          <a:latin typeface="Udemy Sans"/>
                        </a:rPr>
                        <a:t>you</a:t>
                      </a:r>
                      <a:r>
                        <a:rPr lang="en-US" sz="1600" spc="-80" dirty="0">
                          <a:solidFill>
                            <a:schemeClr val="bg1"/>
                          </a:solidFill>
                          <a:effectLst/>
                          <a:latin typeface="Udemy Sans"/>
                        </a:rPr>
                        <a:t> </a:t>
                      </a:r>
                      <a:r>
                        <a:rPr lang="en-US" sz="1600" dirty="0">
                          <a:solidFill>
                            <a:schemeClr val="bg1"/>
                          </a:solidFill>
                          <a:effectLst/>
                          <a:latin typeface="Udemy Sans"/>
                        </a:rPr>
                        <a:t>create</a:t>
                      </a:r>
                      <a:r>
                        <a:rPr lang="en-US" sz="1600" spc="-65" dirty="0">
                          <a:solidFill>
                            <a:schemeClr val="bg1"/>
                          </a:solidFill>
                          <a:effectLst/>
                          <a:latin typeface="Udemy Sans"/>
                        </a:rPr>
                        <a:t> </a:t>
                      </a:r>
                      <a:r>
                        <a:rPr lang="en-US" sz="1600" dirty="0">
                          <a:solidFill>
                            <a:schemeClr val="bg1"/>
                          </a:solidFill>
                          <a:effectLst/>
                          <a:latin typeface="Udemy Sans"/>
                        </a:rPr>
                        <a:t>an </a:t>
                      </a:r>
                      <a:r>
                        <a:rPr lang="en-US" sz="1600" spc="-20" dirty="0">
                          <a:solidFill>
                            <a:schemeClr val="bg1"/>
                          </a:solidFill>
                          <a:effectLst/>
                          <a:latin typeface="Udemy Sans"/>
                        </a:rPr>
                        <a:t>object</a:t>
                      </a:r>
                      <a:r>
                        <a:rPr lang="en-US" sz="1600" spc="-60" dirty="0">
                          <a:solidFill>
                            <a:schemeClr val="bg1"/>
                          </a:solidFill>
                          <a:effectLst/>
                          <a:latin typeface="Udemy Sans"/>
                        </a:rPr>
                        <a:t> </a:t>
                      </a:r>
                      <a:r>
                        <a:rPr lang="en-US" sz="1600" spc="-20" dirty="0">
                          <a:solidFill>
                            <a:schemeClr val="bg1"/>
                          </a:solidFill>
                          <a:effectLst/>
                          <a:latin typeface="Udemy Sans"/>
                        </a:rPr>
                        <a:t>for</a:t>
                      </a:r>
                      <a:r>
                        <a:rPr lang="en-US" sz="1600" spc="-55" dirty="0">
                          <a:solidFill>
                            <a:schemeClr val="bg1"/>
                          </a:solidFill>
                          <a:effectLst/>
                          <a:latin typeface="Udemy Sans"/>
                        </a:rPr>
                        <a:t> </a:t>
                      </a:r>
                      <a:r>
                        <a:rPr lang="en-US" sz="1600" spc="-20" dirty="0">
                          <a:solidFill>
                            <a:schemeClr val="bg1"/>
                          </a:solidFill>
                          <a:effectLst/>
                          <a:latin typeface="Udemy Sans"/>
                        </a:rPr>
                        <a:t>the</a:t>
                      </a:r>
                      <a:r>
                        <a:rPr lang="en-US" sz="1600" spc="-55" dirty="0">
                          <a:solidFill>
                            <a:schemeClr val="bg1"/>
                          </a:solidFill>
                          <a:effectLst/>
                          <a:latin typeface="Udemy Sans"/>
                        </a:rPr>
                        <a:t> </a:t>
                      </a:r>
                      <a:r>
                        <a:rPr lang="en-US" sz="1600" spc="-20" dirty="0">
                          <a:solidFill>
                            <a:schemeClr val="bg1"/>
                          </a:solidFill>
                          <a:effectLst/>
                          <a:latin typeface="Udemy Sans"/>
                        </a:rPr>
                        <a:t>class,</a:t>
                      </a:r>
                      <a:r>
                        <a:rPr lang="en-US" sz="1600" spc="-60" dirty="0">
                          <a:solidFill>
                            <a:schemeClr val="bg1"/>
                          </a:solidFill>
                          <a:effectLst/>
                          <a:latin typeface="Udemy Sans"/>
                        </a:rPr>
                        <a:t> </a:t>
                      </a:r>
                      <a:r>
                        <a:rPr lang="en-US" sz="1600" spc="-20" dirty="0">
                          <a:solidFill>
                            <a:schemeClr val="bg1"/>
                          </a:solidFill>
                          <a:effectLst/>
                          <a:latin typeface="Udemy Sans"/>
                        </a:rPr>
                        <a:t>it</a:t>
                      </a:r>
                      <a:r>
                        <a:rPr lang="en-US" sz="1600" spc="-55" dirty="0">
                          <a:solidFill>
                            <a:schemeClr val="bg1"/>
                          </a:solidFill>
                          <a:effectLst/>
                          <a:latin typeface="Udemy Sans"/>
                        </a:rPr>
                        <a:t> </a:t>
                      </a:r>
                      <a:r>
                        <a:rPr lang="en-US" sz="1600" spc="-20" dirty="0">
                          <a:solidFill>
                            <a:schemeClr val="bg1"/>
                          </a:solidFill>
                          <a:effectLst/>
                          <a:latin typeface="Udemy Sans"/>
                        </a:rPr>
                        <a:t>calls</a:t>
                      </a:r>
                      <a:r>
                        <a:rPr lang="en-US" sz="1600" spc="-60" dirty="0">
                          <a:solidFill>
                            <a:schemeClr val="bg1"/>
                          </a:solidFill>
                          <a:effectLst/>
                          <a:latin typeface="Udemy Sans"/>
                        </a:rPr>
                        <a:t> </a:t>
                      </a:r>
                      <a:r>
                        <a:rPr lang="en-US" sz="1600" spc="-20" dirty="0">
                          <a:solidFill>
                            <a:schemeClr val="bg1"/>
                          </a:solidFill>
                          <a:effectLst/>
                          <a:latin typeface="Udemy Sans"/>
                        </a:rPr>
                        <a:t>the</a:t>
                      </a:r>
                      <a:r>
                        <a:rPr lang="en-US" sz="1600" spc="-55" dirty="0">
                          <a:solidFill>
                            <a:schemeClr val="bg1"/>
                          </a:solidFill>
                          <a:effectLst/>
                          <a:latin typeface="Udemy Sans"/>
                        </a:rPr>
                        <a:t> </a:t>
                      </a:r>
                      <a:r>
                        <a:rPr lang="en-US" sz="1600" spc="-20" dirty="0">
                          <a:solidFill>
                            <a:schemeClr val="bg1"/>
                          </a:solidFill>
                          <a:effectLst/>
                          <a:latin typeface="Udemy Sans"/>
                        </a:rPr>
                        <a:t>non-static </a:t>
                      </a:r>
                      <a:r>
                        <a:rPr lang="en-US" sz="1600" dirty="0">
                          <a:solidFill>
                            <a:schemeClr val="bg1"/>
                          </a:solidFill>
                          <a:effectLst/>
                          <a:latin typeface="Udemy Sans"/>
                        </a:rPr>
                        <a:t>constructor automatically. Non-static constructors</a:t>
                      </a:r>
                      <a:r>
                        <a:rPr lang="en-US" sz="1600" spc="-80" dirty="0">
                          <a:solidFill>
                            <a:schemeClr val="bg1"/>
                          </a:solidFill>
                          <a:effectLst/>
                          <a:latin typeface="Udemy Sans"/>
                        </a:rPr>
                        <a:t> </a:t>
                      </a:r>
                      <a:r>
                        <a:rPr lang="en-US" sz="1600" dirty="0">
                          <a:solidFill>
                            <a:schemeClr val="bg1"/>
                          </a:solidFill>
                          <a:effectLst/>
                          <a:latin typeface="Udemy Sans"/>
                        </a:rPr>
                        <a:t>are</a:t>
                      </a:r>
                      <a:r>
                        <a:rPr lang="en-US" sz="1600" spc="-75" dirty="0">
                          <a:solidFill>
                            <a:schemeClr val="bg1"/>
                          </a:solidFill>
                          <a:effectLst/>
                          <a:latin typeface="Udemy Sans"/>
                        </a:rPr>
                        <a:t> </a:t>
                      </a:r>
                      <a:r>
                        <a:rPr lang="en-US" sz="1600" dirty="0">
                          <a:solidFill>
                            <a:schemeClr val="bg1"/>
                          </a:solidFill>
                          <a:effectLst/>
                          <a:latin typeface="Udemy Sans"/>
                        </a:rPr>
                        <a:t>not</a:t>
                      </a:r>
                      <a:r>
                        <a:rPr lang="en-US" sz="1600" spc="-75" dirty="0">
                          <a:solidFill>
                            <a:schemeClr val="bg1"/>
                          </a:solidFill>
                          <a:effectLst/>
                          <a:latin typeface="Udemy Sans"/>
                        </a:rPr>
                        <a:t> </a:t>
                      </a:r>
                      <a:r>
                        <a:rPr lang="en-US" sz="1600" dirty="0">
                          <a:solidFill>
                            <a:schemeClr val="bg1"/>
                          </a:solidFill>
                          <a:effectLst/>
                          <a:latin typeface="Udemy Sans"/>
                        </a:rPr>
                        <a:t>accessible</a:t>
                      </a:r>
                      <a:r>
                        <a:rPr lang="en-US" sz="1600" spc="-80" dirty="0">
                          <a:solidFill>
                            <a:schemeClr val="bg1"/>
                          </a:solidFill>
                          <a:effectLst/>
                          <a:latin typeface="Udemy Sans"/>
                        </a:rPr>
                        <a:t> </a:t>
                      </a:r>
                      <a:r>
                        <a:rPr lang="en-US" sz="1600" dirty="0">
                          <a:solidFill>
                            <a:schemeClr val="bg1"/>
                          </a:solidFill>
                          <a:effectLst/>
                          <a:latin typeface="Udemy Sans"/>
                        </a:rPr>
                        <a:t>without creating</a:t>
                      </a:r>
                      <a:r>
                        <a:rPr lang="en-US" sz="1600" spc="-55" dirty="0">
                          <a:solidFill>
                            <a:schemeClr val="bg1"/>
                          </a:solidFill>
                          <a:effectLst/>
                          <a:latin typeface="Udemy Sans"/>
                        </a:rPr>
                        <a:t> </a:t>
                      </a:r>
                      <a:r>
                        <a:rPr lang="en-US" sz="1600" dirty="0">
                          <a:solidFill>
                            <a:schemeClr val="bg1"/>
                          </a:solidFill>
                          <a:effectLst/>
                          <a:latin typeface="Udemy Sans"/>
                        </a:rPr>
                        <a:t>an</a:t>
                      </a:r>
                      <a:r>
                        <a:rPr lang="en-US" sz="1600" spc="-50" dirty="0">
                          <a:solidFill>
                            <a:schemeClr val="bg1"/>
                          </a:solidFill>
                          <a:effectLst/>
                          <a:latin typeface="Udemy Sans"/>
                        </a:rPr>
                        <a:t> </a:t>
                      </a:r>
                      <a:r>
                        <a:rPr lang="en-US" sz="1600" dirty="0">
                          <a:solidFill>
                            <a:schemeClr val="bg1"/>
                          </a:solidFill>
                          <a:effectLst/>
                          <a:latin typeface="Udemy Sans"/>
                        </a:rPr>
                        <a:t>object</a:t>
                      </a:r>
                      <a:r>
                        <a:rPr lang="en-US" sz="1600" spc="-55" dirty="0">
                          <a:solidFill>
                            <a:schemeClr val="bg1"/>
                          </a:solidFill>
                          <a:effectLst/>
                          <a:latin typeface="Udemy Sans"/>
                        </a:rPr>
                        <a:t> </a:t>
                      </a:r>
                      <a:r>
                        <a:rPr lang="en-US" sz="1600" dirty="0">
                          <a:solidFill>
                            <a:schemeClr val="bg1"/>
                          </a:solidFill>
                          <a:effectLst/>
                          <a:latin typeface="Udemy Sans"/>
                        </a:rPr>
                        <a:t>for</a:t>
                      </a:r>
                      <a:r>
                        <a:rPr lang="en-US" sz="1600" spc="-55" dirty="0">
                          <a:solidFill>
                            <a:schemeClr val="bg1"/>
                          </a:solidFill>
                          <a:effectLst/>
                          <a:latin typeface="Udemy Sans"/>
                        </a:rPr>
                        <a:t> </a:t>
                      </a:r>
                      <a:r>
                        <a:rPr lang="en-US" sz="1600" dirty="0">
                          <a:solidFill>
                            <a:schemeClr val="bg1"/>
                          </a:solidFill>
                          <a:effectLst/>
                          <a:latin typeface="Udemy Sans"/>
                        </a:rPr>
                        <a:t>the</a:t>
                      </a:r>
                      <a:r>
                        <a:rPr lang="en-US" sz="1600" spc="-50" dirty="0">
                          <a:solidFill>
                            <a:schemeClr val="bg1"/>
                          </a:solidFill>
                          <a:effectLst/>
                          <a:latin typeface="Udemy Sans"/>
                        </a:rPr>
                        <a:t> </a:t>
                      </a:r>
                      <a:r>
                        <a:rPr lang="en-US" sz="1600" dirty="0">
                          <a:solidFill>
                            <a:schemeClr val="bg1"/>
                          </a:solidFill>
                          <a:effectLst/>
                          <a:latin typeface="Udemy Sans"/>
                        </a:rPr>
                        <a:t>class.</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a:lnSpc>
                          <a:spcPct val="168000"/>
                        </a:lnSpc>
                        <a:spcBef>
                          <a:spcPts val="215"/>
                        </a:spcBef>
                        <a:buNone/>
                      </a:pPr>
                      <a:r>
                        <a:rPr lang="en-US" sz="1600" dirty="0">
                          <a:solidFill>
                            <a:schemeClr val="bg1"/>
                          </a:solidFill>
                          <a:effectLst/>
                          <a:latin typeface="Udemy Sans"/>
                        </a:rPr>
                        <a:t>Static constructor will be called automatically when you access the class name for the first time in the Main </a:t>
                      </a:r>
                      <a:r>
                        <a:rPr lang="en-US" sz="1600" spc="-10" dirty="0">
                          <a:solidFill>
                            <a:schemeClr val="bg1"/>
                          </a:solidFill>
                          <a:effectLst/>
                          <a:latin typeface="Udemy Sans"/>
                        </a:rPr>
                        <a:t>method.</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extLst>
                  <a:ext uri="{0D108BD9-81ED-4DB2-BD59-A6C34878D82A}">
                    <a16:rowId xmlns:a16="http://schemas.microsoft.com/office/drawing/2014/main" val="80965335"/>
                  </a:ext>
                </a:extLst>
              </a:tr>
            </a:tbl>
          </a:graphicData>
        </a:graphic>
      </p:graphicFrame>
    </p:spTree>
    <p:extLst>
      <p:ext uri="{BB962C8B-B14F-4D97-AF65-F5344CB8AC3E}">
        <p14:creationId xmlns:p14="http://schemas.microsoft.com/office/powerpoint/2010/main" val="25566315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4">
            <a:extLst>
              <a:ext uri="{FF2B5EF4-FFF2-40B4-BE49-F238E27FC236}">
                <a16:creationId xmlns:a16="http://schemas.microsoft.com/office/drawing/2014/main" id="{807FF286-2740-91A3-EF01-FC183F3963DE}"/>
              </a:ext>
            </a:extLst>
          </p:cNvPr>
          <p:cNvGraphicFramePr>
            <a:graphicFrameLocks noGrp="1"/>
          </p:cNvGraphicFramePr>
          <p:nvPr>
            <p:ph sz="half" idx="1"/>
            <p:extLst>
              <p:ext uri="{D42A27DB-BD31-4B8C-83A1-F6EECF244321}">
                <p14:modId xmlns:p14="http://schemas.microsoft.com/office/powerpoint/2010/main" val="3477812559"/>
              </p:ext>
            </p:extLst>
          </p:nvPr>
        </p:nvGraphicFramePr>
        <p:xfrm>
          <a:off x="1194816" y="278143"/>
          <a:ext cx="9375648" cy="6301713"/>
        </p:xfrm>
        <a:graphic>
          <a:graphicData uri="http://schemas.openxmlformats.org/drawingml/2006/table">
            <a:tbl>
              <a:tblPr firstRow="1" firstCol="1" lastRow="1" lastCol="1" bandRow="1" bandCol="1">
                <a:tableStyleId>{5C22544A-7EE6-4342-B048-85BDC9FD1C3A}</a:tableStyleId>
              </a:tblPr>
              <a:tblGrid>
                <a:gridCol w="1081182">
                  <a:extLst>
                    <a:ext uri="{9D8B030D-6E8A-4147-A177-3AD203B41FA5}">
                      <a16:colId xmlns:a16="http://schemas.microsoft.com/office/drawing/2014/main" val="1199748983"/>
                    </a:ext>
                  </a:extLst>
                </a:gridCol>
                <a:gridCol w="4139120">
                  <a:extLst>
                    <a:ext uri="{9D8B030D-6E8A-4147-A177-3AD203B41FA5}">
                      <a16:colId xmlns:a16="http://schemas.microsoft.com/office/drawing/2014/main" val="1797871652"/>
                    </a:ext>
                  </a:extLst>
                </a:gridCol>
                <a:gridCol w="4155346">
                  <a:extLst>
                    <a:ext uri="{9D8B030D-6E8A-4147-A177-3AD203B41FA5}">
                      <a16:colId xmlns:a16="http://schemas.microsoft.com/office/drawing/2014/main" val="1310621735"/>
                    </a:ext>
                  </a:extLst>
                </a:gridCol>
              </a:tblGrid>
              <a:tr h="961463">
                <a:tc>
                  <a:txBody>
                    <a:bodyPr/>
                    <a:lstStyle/>
                    <a:p>
                      <a:pPr marL="67945">
                        <a:spcBef>
                          <a:spcPts val="215"/>
                        </a:spcBef>
                        <a:buNone/>
                      </a:pPr>
                      <a:r>
                        <a:rPr lang="en-US" sz="1600" spc="-50" dirty="0">
                          <a:solidFill>
                            <a:schemeClr val="bg1"/>
                          </a:solidFill>
                          <a:effectLst/>
                          <a:latin typeface="Udemy Sans"/>
                        </a:rPr>
                        <a:t>4</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marR="68580">
                        <a:lnSpc>
                          <a:spcPct val="168000"/>
                        </a:lnSpc>
                        <a:spcBef>
                          <a:spcPts val="215"/>
                        </a:spcBef>
                        <a:buNone/>
                      </a:pPr>
                      <a:r>
                        <a:rPr lang="en-US" sz="1600" spc="-20" dirty="0">
                          <a:solidFill>
                            <a:schemeClr val="bg1"/>
                          </a:solidFill>
                          <a:effectLst/>
                          <a:latin typeface="Udemy Sans"/>
                        </a:rPr>
                        <a:t>Non-static</a:t>
                      </a:r>
                      <a:r>
                        <a:rPr lang="en-US" sz="1600" spc="-60" dirty="0">
                          <a:solidFill>
                            <a:schemeClr val="bg1"/>
                          </a:solidFill>
                          <a:effectLst/>
                          <a:latin typeface="Udemy Sans"/>
                        </a:rPr>
                        <a:t> </a:t>
                      </a:r>
                      <a:r>
                        <a:rPr lang="en-US" sz="1600" spc="-20" dirty="0">
                          <a:solidFill>
                            <a:schemeClr val="bg1"/>
                          </a:solidFill>
                          <a:effectLst/>
                          <a:latin typeface="Udemy Sans"/>
                        </a:rPr>
                        <a:t>constructor</a:t>
                      </a:r>
                      <a:r>
                        <a:rPr lang="en-US" sz="1600" spc="-55" dirty="0">
                          <a:solidFill>
                            <a:schemeClr val="bg1"/>
                          </a:solidFill>
                          <a:effectLst/>
                          <a:latin typeface="Udemy Sans"/>
                        </a:rPr>
                        <a:t> </a:t>
                      </a:r>
                      <a:r>
                        <a:rPr lang="en-US" sz="1600" spc="-20" dirty="0">
                          <a:solidFill>
                            <a:schemeClr val="bg1"/>
                          </a:solidFill>
                          <a:effectLst/>
                          <a:latin typeface="Udemy Sans"/>
                        </a:rPr>
                        <a:t>will</a:t>
                      </a:r>
                      <a:r>
                        <a:rPr lang="en-US" sz="1600" spc="-70" dirty="0">
                          <a:solidFill>
                            <a:schemeClr val="bg1"/>
                          </a:solidFill>
                          <a:effectLst/>
                          <a:latin typeface="Udemy Sans"/>
                        </a:rPr>
                        <a:t> </a:t>
                      </a:r>
                      <a:r>
                        <a:rPr lang="en-US" sz="1600" spc="-20" dirty="0">
                          <a:solidFill>
                            <a:schemeClr val="bg1"/>
                          </a:solidFill>
                          <a:effectLst/>
                          <a:latin typeface="Udemy Sans"/>
                        </a:rPr>
                        <a:t>be</a:t>
                      </a:r>
                      <a:r>
                        <a:rPr lang="en-US" sz="1600" spc="-55" dirty="0">
                          <a:solidFill>
                            <a:schemeClr val="bg1"/>
                          </a:solidFill>
                          <a:effectLst/>
                          <a:latin typeface="Udemy Sans"/>
                        </a:rPr>
                        <a:t> </a:t>
                      </a:r>
                      <a:r>
                        <a:rPr lang="en-US" sz="1600" spc="-20" dirty="0">
                          <a:solidFill>
                            <a:schemeClr val="bg1"/>
                          </a:solidFill>
                          <a:effectLst/>
                          <a:latin typeface="Udemy Sans"/>
                        </a:rPr>
                        <a:t>called</a:t>
                      </a:r>
                      <a:r>
                        <a:rPr lang="en-US" sz="1600" spc="-60" dirty="0">
                          <a:solidFill>
                            <a:schemeClr val="bg1"/>
                          </a:solidFill>
                          <a:effectLst/>
                          <a:latin typeface="Udemy Sans"/>
                        </a:rPr>
                        <a:t> </a:t>
                      </a:r>
                      <a:r>
                        <a:rPr lang="en-US" sz="1600" spc="-20" dirty="0">
                          <a:solidFill>
                            <a:schemeClr val="bg1"/>
                          </a:solidFill>
                          <a:effectLst/>
                          <a:latin typeface="Udemy Sans"/>
                        </a:rPr>
                        <a:t>every </a:t>
                      </a:r>
                      <a:r>
                        <a:rPr lang="en-US" sz="1600" dirty="0">
                          <a:solidFill>
                            <a:schemeClr val="bg1"/>
                          </a:solidFill>
                          <a:effectLst/>
                          <a:latin typeface="Udemy Sans"/>
                        </a:rPr>
                        <a:t>time</a:t>
                      </a:r>
                      <a:r>
                        <a:rPr lang="en-US" sz="1600" spc="-50" dirty="0">
                          <a:solidFill>
                            <a:schemeClr val="bg1"/>
                          </a:solidFill>
                          <a:effectLst/>
                          <a:latin typeface="Udemy Sans"/>
                        </a:rPr>
                        <a:t> </a:t>
                      </a:r>
                      <a:r>
                        <a:rPr lang="en-US" sz="1600" dirty="0">
                          <a:solidFill>
                            <a:schemeClr val="bg1"/>
                          </a:solidFill>
                          <a:effectLst/>
                          <a:latin typeface="Udemy Sans"/>
                        </a:rPr>
                        <a:t>when</a:t>
                      </a:r>
                      <a:r>
                        <a:rPr lang="en-US" sz="1600" spc="-50" dirty="0">
                          <a:solidFill>
                            <a:schemeClr val="bg1"/>
                          </a:solidFill>
                          <a:effectLst/>
                          <a:latin typeface="Udemy Sans"/>
                        </a:rPr>
                        <a:t> </a:t>
                      </a:r>
                      <a:r>
                        <a:rPr lang="en-US" sz="1600" dirty="0">
                          <a:solidFill>
                            <a:schemeClr val="bg1"/>
                          </a:solidFill>
                          <a:effectLst/>
                          <a:latin typeface="Udemy Sans"/>
                        </a:rPr>
                        <a:t>we</a:t>
                      </a:r>
                      <a:r>
                        <a:rPr lang="en-US" sz="1600" spc="-55" dirty="0">
                          <a:solidFill>
                            <a:schemeClr val="bg1"/>
                          </a:solidFill>
                          <a:effectLst/>
                          <a:latin typeface="Udemy Sans"/>
                        </a:rPr>
                        <a:t> </a:t>
                      </a:r>
                      <a:r>
                        <a:rPr lang="en-US" sz="1600" dirty="0">
                          <a:solidFill>
                            <a:schemeClr val="bg1"/>
                          </a:solidFill>
                          <a:effectLst/>
                          <a:latin typeface="Udemy Sans"/>
                        </a:rPr>
                        <a:t>create</a:t>
                      </a:r>
                      <a:r>
                        <a:rPr lang="en-US" sz="1600" spc="-50" dirty="0">
                          <a:solidFill>
                            <a:schemeClr val="bg1"/>
                          </a:solidFill>
                          <a:effectLst/>
                          <a:latin typeface="Udemy Sans"/>
                        </a:rPr>
                        <a:t> </a:t>
                      </a:r>
                      <a:r>
                        <a:rPr lang="en-US" sz="1600" dirty="0">
                          <a:solidFill>
                            <a:schemeClr val="bg1"/>
                          </a:solidFill>
                          <a:effectLst/>
                          <a:latin typeface="Udemy Sans"/>
                        </a:rPr>
                        <a:t>an</a:t>
                      </a:r>
                      <a:r>
                        <a:rPr lang="en-US" sz="1600" spc="-50" dirty="0">
                          <a:solidFill>
                            <a:schemeClr val="bg1"/>
                          </a:solidFill>
                          <a:effectLst/>
                          <a:latin typeface="Udemy Sans"/>
                        </a:rPr>
                        <a:t> </a:t>
                      </a:r>
                      <a:r>
                        <a:rPr lang="en-US" sz="1600" dirty="0">
                          <a:solidFill>
                            <a:schemeClr val="bg1"/>
                          </a:solidFill>
                          <a:effectLst/>
                          <a:latin typeface="Udemy Sans"/>
                        </a:rPr>
                        <a:t>object</a:t>
                      </a:r>
                      <a:r>
                        <a:rPr lang="en-US" sz="1600" spc="-55" dirty="0">
                          <a:solidFill>
                            <a:schemeClr val="bg1"/>
                          </a:solidFill>
                          <a:effectLst/>
                          <a:latin typeface="Udemy Sans"/>
                        </a:rPr>
                        <a:t> </a:t>
                      </a:r>
                      <a:r>
                        <a:rPr lang="en-US" sz="1600" dirty="0">
                          <a:solidFill>
                            <a:schemeClr val="bg1"/>
                          </a:solidFill>
                          <a:effectLst/>
                          <a:latin typeface="Udemy Sans"/>
                        </a:rPr>
                        <a:t>for</a:t>
                      </a:r>
                      <a:r>
                        <a:rPr lang="en-US" sz="1600" spc="-55" dirty="0">
                          <a:solidFill>
                            <a:schemeClr val="bg1"/>
                          </a:solidFill>
                          <a:effectLst/>
                          <a:latin typeface="Udemy Sans"/>
                        </a:rPr>
                        <a:t> </a:t>
                      </a:r>
                      <a:r>
                        <a:rPr lang="en-US" sz="1600" dirty="0">
                          <a:solidFill>
                            <a:schemeClr val="bg1"/>
                          </a:solidFill>
                          <a:effectLst/>
                          <a:latin typeface="Udemy Sans"/>
                        </a:rPr>
                        <a:t>the </a:t>
                      </a:r>
                      <a:r>
                        <a:rPr lang="en-US" sz="1600" spc="-10" dirty="0">
                          <a:solidFill>
                            <a:schemeClr val="bg1"/>
                          </a:solidFill>
                          <a:effectLst/>
                          <a:latin typeface="Udemy Sans"/>
                        </a:rPr>
                        <a:t>class.</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marR="95885">
                        <a:lnSpc>
                          <a:spcPct val="168000"/>
                        </a:lnSpc>
                        <a:spcBef>
                          <a:spcPts val="215"/>
                        </a:spcBef>
                        <a:buNone/>
                      </a:pPr>
                      <a:r>
                        <a:rPr lang="en-US" sz="1600" spc="-30" dirty="0">
                          <a:solidFill>
                            <a:schemeClr val="bg1"/>
                          </a:solidFill>
                          <a:effectLst/>
                          <a:latin typeface="Udemy Sans"/>
                        </a:rPr>
                        <a:t>Static</a:t>
                      </a:r>
                      <a:r>
                        <a:rPr lang="en-US" sz="1600" spc="-35" dirty="0">
                          <a:solidFill>
                            <a:schemeClr val="bg1"/>
                          </a:solidFill>
                          <a:effectLst/>
                          <a:latin typeface="Udemy Sans"/>
                        </a:rPr>
                        <a:t> </a:t>
                      </a:r>
                      <a:r>
                        <a:rPr lang="en-US" sz="1600" spc="-30" dirty="0">
                          <a:solidFill>
                            <a:schemeClr val="bg1"/>
                          </a:solidFill>
                          <a:effectLst/>
                          <a:latin typeface="Udemy Sans"/>
                        </a:rPr>
                        <a:t>constructor</a:t>
                      </a:r>
                      <a:r>
                        <a:rPr lang="en-US" sz="1600" spc="-40" dirty="0">
                          <a:solidFill>
                            <a:schemeClr val="bg1"/>
                          </a:solidFill>
                          <a:effectLst/>
                          <a:latin typeface="Udemy Sans"/>
                        </a:rPr>
                        <a:t> </a:t>
                      </a:r>
                      <a:r>
                        <a:rPr lang="en-US" sz="1600" spc="-30" dirty="0">
                          <a:solidFill>
                            <a:schemeClr val="bg1"/>
                          </a:solidFill>
                          <a:effectLst/>
                          <a:latin typeface="Udemy Sans"/>
                        </a:rPr>
                        <a:t>will</a:t>
                      </a:r>
                      <a:r>
                        <a:rPr lang="en-US" sz="1600" spc="-40" dirty="0">
                          <a:solidFill>
                            <a:schemeClr val="bg1"/>
                          </a:solidFill>
                          <a:effectLst/>
                          <a:latin typeface="Udemy Sans"/>
                        </a:rPr>
                        <a:t> </a:t>
                      </a:r>
                      <a:r>
                        <a:rPr lang="en-US" sz="1600" spc="-30" dirty="0">
                          <a:solidFill>
                            <a:schemeClr val="bg1"/>
                          </a:solidFill>
                          <a:effectLst/>
                          <a:latin typeface="Udemy Sans"/>
                        </a:rPr>
                        <a:t>be</a:t>
                      </a:r>
                      <a:r>
                        <a:rPr lang="en-US" sz="1600" spc="-35" dirty="0">
                          <a:solidFill>
                            <a:schemeClr val="bg1"/>
                          </a:solidFill>
                          <a:effectLst/>
                          <a:latin typeface="Udemy Sans"/>
                        </a:rPr>
                        <a:t> </a:t>
                      </a:r>
                      <a:r>
                        <a:rPr lang="en-US" sz="1600" spc="-30" dirty="0">
                          <a:solidFill>
                            <a:schemeClr val="bg1"/>
                          </a:solidFill>
                          <a:effectLst/>
                          <a:latin typeface="Udemy Sans"/>
                        </a:rPr>
                        <a:t>called</a:t>
                      </a:r>
                      <a:r>
                        <a:rPr lang="en-US" sz="1600" spc="-45" dirty="0">
                          <a:solidFill>
                            <a:schemeClr val="bg1"/>
                          </a:solidFill>
                          <a:effectLst/>
                          <a:latin typeface="Udemy Sans"/>
                        </a:rPr>
                        <a:t> </a:t>
                      </a:r>
                      <a:r>
                        <a:rPr lang="en-US" sz="1600" spc="-30" dirty="0">
                          <a:solidFill>
                            <a:schemeClr val="bg1"/>
                          </a:solidFill>
                          <a:effectLst/>
                          <a:latin typeface="Udemy Sans"/>
                        </a:rPr>
                        <a:t>only</a:t>
                      </a:r>
                      <a:r>
                        <a:rPr lang="en-US" sz="1600" spc="-45" dirty="0">
                          <a:solidFill>
                            <a:schemeClr val="bg1"/>
                          </a:solidFill>
                          <a:effectLst/>
                          <a:latin typeface="Udemy Sans"/>
                        </a:rPr>
                        <a:t> </a:t>
                      </a:r>
                      <a:r>
                        <a:rPr lang="en-US" sz="1600" spc="-30" dirty="0">
                          <a:solidFill>
                            <a:schemeClr val="bg1"/>
                          </a:solidFill>
                          <a:effectLst/>
                          <a:latin typeface="Udemy Sans"/>
                        </a:rPr>
                        <a:t>once </a:t>
                      </a:r>
                      <a:r>
                        <a:rPr lang="en-US" sz="1600" dirty="0">
                          <a:solidFill>
                            <a:schemeClr val="bg1"/>
                          </a:solidFill>
                          <a:effectLst/>
                          <a:latin typeface="Udemy Sans"/>
                        </a:rPr>
                        <a:t>in the entire program</a:t>
                      </a:r>
                      <a:r>
                        <a:rPr lang="en-US" sz="1600" dirty="0">
                          <a:effectLst/>
                          <a:latin typeface="Udemy Sans"/>
                        </a:rPr>
                        <a:t>.</a:t>
                      </a:r>
                      <a:endParaRPr lang="en-IN" sz="1600" dirty="0">
                        <a:effectLst/>
                        <a:latin typeface="Udemy Sans"/>
                        <a:ea typeface="Arial MT"/>
                        <a:cs typeface="Arial MT"/>
                      </a:endParaRPr>
                    </a:p>
                  </a:txBody>
                  <a:tcPr marL="0" marR="0" marT="0" marB="0">
                    <a:solidFill>
                      <a:schemeClr val="tx1">
                        <a:lumMod val="85000"/>
                      </a:schemeClr>
                    </a:solidFill>
                  </a:tcPr>
                </a:tc>
                <a:extLst>
                  <a:ext uri="{0D108BD9-81ED-4DB2-BD59-A6C34878D82A}">
                    <a16:rowId xmlns:a16="http://schemas.microsoft.com/office/drawing/2014/main" val="2914228466"/>
                  </a:ext>
                </a:extLst>
              </a:tr>
              <a:tr h="961463">
                <a:tc>
                  <a:txBody>
                    <a:bodyPr/>
                    <a:lstStyle/>
                    <a:p>
                      <a:pPr marL="67945">
                        <a:spcBef>
                          <a:spcPts val="215"/>
                        </a:spcBef>
                        <a:buNone/>
                      </a:pPr>
                      <a:r>
                        <a:rPr lang="en-US" sz="1600" spc="-50">
                          <a:solidFill>
                            <a:schemeClr val="bg1"/>
                          </a:solidFill>
                          <a:effectLst/>
                          <a:latin typeface="Udemy Sans"/>
                        </a:rPr>
                        <a:t>5</a:t>
                      </a:r>
                      <a:endParaRPr lang="en-IN" sz="160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marR="180340">
                        <a:lnSpc>
                          <a:spcPct val="168000"/>
                        </a:lnSpc>
                        <a:spcBef>
                          <a:spcPts val="215"/>
                        </a:spcBef>
                        <a:buNone/>
                      </a:pPr>
                      <a:r>
                        <a:rPr lang="en-US" sz="1600" b="1" spc="-20" dirty="0">
                          <a:solidFill>
                            <a:schemeClr val="bg1"/>
                          </a:solidFill>
                          <a:effectLst/>
                          <a:latin typeface="Udemy Sans"/>
                        </a:rPr>
                        <a:t>We</a:t>
                      </a:r>
                      <a:r>
                        <a:rPr lang="en-US" sz="1600" b="1" spc="-45" dirty="0">
                          <a:solidFill>
                            <a:schemeClr val="bg1"/>
                          </a:solidFill>
                          <a:effectLst/>
                          <a:latin typeface="Udemy Sans"/>
                        </a:rPr>
                        <a:t> </a:t>
                      </a:r>
                      <a:r>
                        <a:rPr lang="en-US" sz="1600" b="1" spc="-20" dirty="0">
                          <a:solidFill>
                            <a:schemeClr val="bg1"/>
                          </a:solidFill>
                          <a:effectLst/>
                          <a:latin typeface="Udemy Sans"/>
                        </a:rPr>
                        <a:t>can</a:t>
                      </a:r>
                      <a:r>
                        <a:rPr lang="en-US" sz="1600" b="1" spc="-45" dirty="0">
                          <a:solidFill>
                            <a:schemeClr val="bg1"/>
                          </a:solidFill>
                          <a:effectLst/>
                          <a:latin typeface="Udemy Sans"/>
                        </a:rPr>
                        <a:t> </a:t>
                      </a:r>
                      <a:r>
                        <a:rPr lang="en-US" sz="1600" b="1" spc="-20" dirty="0">
                          <a:solidFill>
                            <a:schemeClr val="bg1"/>
                          </a:solidFill>
                          <a:effectLst/>
                          <a:latin typeface="Udemy Sans"/>
                        </a:rPr>
                        <a:t>use</a:t>
                      </a:r>
                      <a:r>
                        <a:rPr lang="en-US" sz="1600" b="1" spc="-45" dirty="0">
                          <a:solidFill>
                            <a:schemeClr val="bg1"/>
                          </a:solidFill>
                          <a:effectLst/>
                          <a:latin typeface="Udemy Sans"/>
                        </a:rPr>
                        <a:t> </a:t>
                      </a:r>
                      <a:r>
                        <a:rPr lang="en-US" sz="1600" b="1" spc="-20" dirty="0">
                          <a:solidFill>
                            <a:schemeClr val="bg1"/>
                          </a:solidFill>
                          <a:effectLst/>
                          <a:latin typeface="Udemy Sans"/>
                        </a:rPr>
                        <a:t>“this”</a:t>
                      </a:r>
                      <a:r>
                        <a:rPr lang="en-US" sz="1600" b="1" spc="-50" dirty="0">
                          <a:solidFill>
                            <a:schemeClr val="bg1"/>
                          </a:solidFill>
                          <a:effectLst/>
                          <a:latin typeface="Udemy Sans"/>
                        </a:rPr>
                        <a:t> </a:t>
                      </a:r>
                      <a:r>
                        <a:rPr lang="en-US" sz="1600" b="1" spc="-20" dirty="0">
                          <a:solidFill>
                            <a:schemeClr val="bg1"/>
                          </a:solidFill>
                          <a:effectLst/>
                          <a:latin typeface="Udemy Sans"/>
                        </a:rPr>
                        <a:t>keyword</a:t>
                      </a:r>
                      <a:r>
                        <a:rPr lang="en-US" sz="1600" b="1" spc="-70" dirty="0">
                          <a:solidFill>
                            <a:schemeClr val="bg1"/>
                          </a:solidFill>
                          <a:effectLst/>
                          <a:latin typeface="Udemy Sans"/>
                        </a:rPr>
                        <a:t> </a:t>
                      </a:r>
                      <a:r>
                        <a:rPr lang="en-US" sz="1600" b="1" spc="-20" dirty="0">
                          <a:solidFill>
                            <a:schemeClr val="bg1"/>
                          </a:solidFill>
                          <a:effectLst/>
                          <a:latin typeface="Udemy Sans"/>
                        </a:rPr>
                        <a:t>in</a:t>
                      </a:r>
                      <a:r>
                        <a:rPr lang="en-US" sz="1600" b="1" spc="-45" dirty="0">
                          <a:solidFill>
                            <a:schemeClr val="bg1"/>
                          </a:solidFill>
                          <a:effectLst/>
                          <a:latin typeface="Udemy Sans"/>
                        </a:rPr>
                        <a:t> </a:t>
                      </a:r>
                      <a:r>
                        <a:rPr lang="en-US" sz="1600" b="1" spc="-20" dirty="0">
                          <a:solidFill>
                            <a:schemeClr val="bg1"/>
                          </a:solidFill>
                          <a:effectLst/>
                          <a:latin typeface="Udemy Sans"/>
                        </a:rPr>
                        <a:t>the</a:t>
                      </a:r>
                      <a:r>
                        <a:rPr lang="en-US" sz="1600" b="1" spc="-45" dirty="0">
                          <a:solidFill>
                            <a:schemeClr val="bg1"/>
                          </a:solidFill>
                          <a:effectLst/>
                          <a:latin typeface="Udemy Sans"/>
                        </a:rPr>
                        <a:t> </a:t>
                      </a:r>
                      <a:r>
                        <a:rPr lang="en-US" sz="1600" b="1" spc="-20" dirty="0">
                          <a:solidFill>
                            <a:schemeClr val="bg1"/>
                          </a:solidFill>
                          <a:effectLst/>
                          <a:latin typeface="Udemy Sans"/>
                        </a:rPr>
                        <a:t>non- </a:t>
                      </a:r>
                      <a:r>
                        <a:rPr lang="en-US" sz="1600" b="1" spc="-30" dirty="0">
                          <a:solidFill>
                            <a:schemeClr val="bg1"/>
                          </a:solidFill>
                          <a:effectLst/>
                          <a:latin typeface="Udemy Sans"/>
                        </a:rPr>
                        <a:t>static</a:t>
                      </a:r>
                      <a:r>
                        <a:rPr lang="en-US" sz="1600" b="1" spc="-45" dirty="0">
                          <a:solidFill>
                            <a:schemeClr val="bg1"/>
                          </a:solidFill>
                          <a:effectLst/>
                          <a:latin typeface="Udemy Sans"/>
                        </a:rPr>
                        <a:t> </a:t>
                      </a:r>
                      <a:r>
                        <a:rPr lang="en-US" sz="1600" b="1" spc="-30" dirty="0">
                          <a:solidFill>
                            <a:schemeClr val="bg1"/>
                          </a:solidFill>
                          <a:effectLst/>
                          <a:latin typeface="Udemy Sans"/>
                        </a:rPr>
                        <a:t>constructors,</a:t>
                      </a:r>
                      <a:r>
                        <a:rPr lang="en-US" sz="1600" b="1" spc="-35" dirty="0">
                          <a:solidFill>
                            <a:schemeClr val="bg1"/>
                          </a:solidFill>
                          <a:effectLst/>
                          <a:latin typeface="Udemy Sans"/>
                        </a:rPr>
                        <a:t> </a:t>
                      </a:r>
                      <a:r>
                        <a:rPr lang="en-US" sz="1600" b="1" spc="-30" dirty="0">
                          <a:solidFill>
                            <a:schemeClr val="bg1"/>
                          </a:solidFill>
                          <a:effectLst/>
                          <a:latin typeface="Udemy Sans"/>
                        </a:rPr>
                        <a:t>because non-static </a:t>
                      </a:r>
                      <a:r>
                        <a:rPr lang="en-US" sz="1600" b="1" spc="-20" dirty="0">
                          <a:solidFill>
                            <a:schemeClr val="bg1"/>
                          </a:solidFill>
                          <a:effectLst/>
                          <a:latin typeface="Udemy Sans"/>
                        </a:rPr>
                        <a:t>constructors</a:t>
                      </a:r>
                      <a:r>
                        <a:rPr lang="en-US" sz="1600" b="1" spc="-50" dirty="0">
                          <a:solidFill>
                            <a:schemeClr val="bg1"/>
                          </a:solidFill>
                          <a:effectLst/>
                          <a:latin typeface="Udemy Sans"/>
                        </a:rPr>
                        <a:t> </a:t>
                      </a:r>
                      <a:r>
                        <a:rPr lang="en-US" sz="1600" b="1" spc="-20" dirty="0">
                          <a:solidFill>
                            <a:schemeClr val="bg1"/>
                          </a:solidFill>
                          <a:effectLst/>
                          <a:latin typeface="Udemy Sans"/>
                        </a:rPr>
                        <a:t>are</a:t>
                      </a:r>
                      <a:r>
                        <a:rPr lang="en-US" sz="1600" b="1" spc="-35" dirty="0">
                          <a:solidFill>
                            <a:schemeClr val="bg1"/>
                          </a:solidFill>
                          <a:effectLst/>
                          <a:latin typeface="Udemy Sans"/>
                        </a:rPr>
                        <a:t> </a:t>
                      </a:r>
                      <a:r>
                        <a:rPr lang="en-US" sz="1600" b="1" spc="-20" dirty="0">
                          <a:solidFill>
                            <a:schemeClr val="bg1"/>
                          </a:solidFill>
                          <a:effectLst/>
                          <a:latin typeface="Udemy Sans"/>
                        </a:rPr>
                        <a:t>called</a:t>
                      </a:r>
                      <a:r>
                        <a:rPr lang="en-US" sz="1600" b="1" spc="-45" dirty="0">
                          <a:solidFill>
                            <a:schemeClr val="bg1"/>
                          </a:solidFill>
                          <a:effectLst/>
                          <a:latin typeface="Udemy Sans"/>
                        </a:rPr>
                        <a:t> </a:t>
                      </a:r>
                      <a:r>
                        <a:rPr lang="en-US" sz="1600" b="1" spc="-20" dirty="0">
                          <a:solidFill>
                            <a:schemeClr val="bg1"/>
                          </a:solidFill>
                          <a:effectLst/>
                          <a:latin typeface="Udemy Sans"/>
                        </a:rPr>
                        <a:t>with</a:t>
                      </a:r>
                      <a:r>
                        <a:rPr lang="en-US" sz="1600" b="1" spc="-45" dirty="0">
                          <a:solidFill>
                            <a:schemeClr val="bg1"/>
                          </a:solidFill>
                          <a:effectLst/>
                          <a:latin typeface="Udemy Sans"/>
                        </a:rPr>
                        <a:t> </a:t>
                      </a:r>
                      <a:r>
                        <a:rPr lang="en-US" sz="1600" b="1" spc="-20" dirty="0">
                          <a:solidFill>
                            <a:schemeClr val="bg1"/>
                          </a:solidFill>
                          <a:effectLst/>
                          <a:latin typeface="Udemy Sans"/>
                        </a:rPr>
                        <a:t>an</a:t>
                      </a:r>
                      <a:r>
                        <a:rPr lang="en-US" sz="1600" b="1" spc="-40" dirty="0">
                          <a:solidFill>
                            <a:schemeClr val="bg1"/>
                          </a:solidFill>
                          <a:effectLst/>
                          <a:latin typeface="Udemy Sans"/>
                        </a:rPr>
                        <a:t> </a:t>
                      </a:r>
                      <a:r>
                        <a:rPr lang="en-US" sz="1600" b="1" spc="-20" dirty="0">
                          <a:solidFill>
                            <a:schemeClr val="bg1"/>
                          </a:solidFill>
                          <a:effectLst/>
                          <a:latin typeface="Udemy Sans"/>
                        </a:rPr>
                        <a:t>object.</a:t>
                      </a:r>
                      <a:endParaRPr lang="en-IN" sz="1600" b="1"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a:lnSpc>
                          <a:spcPct val="168000"/>
                        </a:lnSpc>
                        <a:spcBef>
                          <a:spcPts val="215"/>
                        </a:spcBef>
                        <a:buNone/>
                      </a:pPr>
                      <a:r>
                        <a:rPr lang="en-US" sz="1600" spc="-10" dirty="0">
                          <a:solidFill>
                            <a:schemeClr val="bg1"/>
                          </a:solidFill>
                          <a:effectLst/>
                          <a:latin typeface="Udemy Sans"/>
                        </a:rPr>
                        <a:t>We</a:t>
                      </a:r>
                      <a:r>
                        <a:rPr lang="en-US" sz="1600" spc="-50" dirty="0">
                          <a:solidFill>
                            <a:schemeClr val="bg1"/>
                          </a:solidFill>
                          <a:effectLst/>
                          <a:latin typeface="Udemy Sans"/>
                        </a:rPr>
                        <a:t> </a:t>
                      </a:r>
                      <a:r>
                        <a:rPr lang="en-US" sz="1600" spc="-10" dirty="0">
                          <a:solidFill>
                            <a:schemeClr val="bg1"/>
                          </a:solidFill>
                          <a:effectLst/>
                          <a:latin typeface="Udemy Sans"/>
                        </a:rPr>
                        <a:t>can’t</a:t>
                      </a:r>
                      <a:r>
                        <a:rPr lang="en-US" sz="1600" spc="-50" dirty="0">
                          <a:solidFill>
                            <a:schemeClr val="bg1"/>
                          </a:solidFill>
                          <a:effectLst/>
                          <a:latin typeface="Udemy Sans"/>
                        </a:rPr>
                        <a:t> </a:t>
                      </a:r>
                      <a:r>
                        <a:rPr lang="en-US" sz="1600" spc="-10" dirty="0">
                          <a:solidFill>
                            <a:schemeClr val="bg1"/>
                          </a:solidFill>
                          <a:effectLst/>
                          <a:latin typeface="Udemy Sans"/>
                        </a:rPr>
                        <a:t>use</a:t>
                      </a:r>
                      <a:r>
                        <a:rPr lang="en-US" sz="1600" spc="-50" dirty="0">
                          <a:solidFill>
                            <a:schemeClr val="bg1"/>
                          </a:solidFill>
                          <a:effectLst/>
                          <a:latin typeface="Udemy Sans"/>
                        </a:rPr>
                        <a:t> </a:t>
                      </a:r>
                      <a:r>
                        <a:rPr lang="en-US" sz="1600" spc="-10" dirty="0">
                          <a:solidFill>
                            <a:schemeClr val="bg1"/>
                          </a:solidFill>
                          <a:effectLst/>
                          <a:latin typeface="Udemy Sans"/>
                        </a:rPr>
                        <a:t>“this”</a:t>
                      </a:r>
                      <a:r>
                        <a:rPr lang="en-US" sz="1600" spc="-55" dirty="0">
                          <a:solidFill>
                            <a:schemeClr val="bg1"/>
                          </a:solidFill>
                          <a:effectLst/>
                          <a:latin typeface="Udemy Sans"/>
                        </a:rPr>
                        <a:t> </a:t>
                      </a:r>
                      <a:r>
                        <a:rPr lang="en-US" sz="1600" spc="-10" dirty="0">
                          <a:solidFill>
                            <a:schemeClr val="bg1"/>
                          </a:solidFill>
                          <a:effectLst/>
                          <a:latin typeface="Udemy Sans"/>
                        </a:rPr>
                        <a:t>keyword</a:t>
                      </a:r>
                      <a:r>
                        <a:rPr lang="en-US" sz="1600" spc="-60" dirty="0">
                          <a:solidFill>
                            <a:schemeClr val="bg1"/>
                          </a:solidFill>
                          <a:effectLst/>
                          <a:latin typeface="Udemy Sans"/>
                        </a:rPr>
                        <a:t> </a:t>
                      </a:r>
                      <a:r>
                        <a:rPr lang="en-US" sz="1600" spc="-10" dirty="0">
                          <a:solidFill>
                            <a:schemeClr val="bg1"/>
                          </a:solidFill>
                          <a:effectLst/>
                          <a:latin typeface="Udemy Sans"/>
                        </a:rPr>
                        <a:t>in</a:t>
                      </a:r>
                      <a:r>
                        <a:rPr lang="en-US" sz="1600" spc="-50" dirty="0">
                          <a:solidFill>
                            <a:schemeClr val="bg1"/>
                          </a:solidFill>
                          <a:effectLst/>
                          <a:latin typeface="Udemy Sans"/>
                        </a:rPr>
                        <a:t> </a:t>
                      </a:r>
                      <a:r>
                        <a:rPr lang="en-US" sz="1600" spc="-10" dirty="0">
                          <a:solidFill>
                            <a:schemeClr val="bg1"/>
                          </a:solidFill>
                          <a:effectLst/>
                          <a:latin typeface="Udemy Sans"/>
                        </a:rPr>
                        <a:t>the</a:t>
                      </a:r>
                      <a:r>
                        <a:rPr lang="en-US" sz="1600" spc="-50" dirty="0">
                          <a:solidFill>
                            <a:schemeClr val="bg1"/>
                          </a:solidFill>
                          <a:effectLst/>
                          <a:latin typeface="Udemy Sans"/>
                        </a:rPr>
                        <a:t> </a:t>
                      </a:r>
                      <a:r>
                        <a:rPr lang="en-US" sz="1600" spc="-10" dirty="0">
                          <a:solidFill>
                            <a:schemeClr val="bg1"/>
                          </a:solidFill>
                          <a:effectLst/>
                          <a:latin typeface="Udemy Sans"/>
                        </a:rPr>
                        <a:t>static </a:t>
                      </a:r>
                      <a:r>
                        <a:rPr lang="en-US" sz="1600" spc="-30" dirty="0">
                          <a:solidFill>
                            <a:schemeClr val="bg1"/>
                          </a:solidFill>
                          <a:effectLst/>
                          <a:latin typeface="Udemy Sans"/>
                        </a:rPr>
                        <a:t>constructor,</a:t>
                      </a:r>
                      <a:r>
                        <a:rPr lang="en-US" sz="1600" spc="-35" dirty="0">
                          <a:solidFill>
                            <a:schemeClr val="bg1"/>
                          </a:solidFill>
                          <a:effectLst/>
                          <a:latin typeface="Udemy Sans"/>
                        </a:rPr>
                        <a:t> </a:t>
                      </a:r>
                      <a:r>
                        <a:rPr lang="en-US" sz="1600" spc="-30" dirty="0">
                          <a:solidFill>
                            <a:schemeClr val="bg1"/>
                          </a:solidFill>
                          <a:effectLst/>
                          <a:latin typeface="Udemy Sans"/>
                        </a:rPr>
                        <a:t>because static constructor is </a:t>
                      </a:r>
                      <a:r>
                        <a:rPr lang="en-US" sz="1600" spc="-10" dirty="0">
                          <a:solidFill>
                            <a:schemeClr val="bg1"/>
                          </a:solidFill>
                          <a:effectLst/>
                          <a:latin typeface="Udemy Sans"/>
                        </a:rPr>
                        <a:t>called</a:t>
                      </a:r>
                      <a:r>
                        <a:rPr lang="en-US" sz="1600" spc="-70" dirty="0">
                          <a:solidFill>
                            <a:schemeClr val="bg1"/>
                          </a:solidFill>
                          <a:effectLst/>
                          <a:latin typeface="Udemy Sans"/>
                        </a:rPr>
                        <a:t> </a:t>
                      </a:r>
                      <a:r>
                        <a:rPr lang="en-US" sz="1600" spc="-10" dirty="0">
                          <a:solidFill>
                            <a:schemeClr val="bg1"/>
                          </a:solidFill>
                          <a:effectLst/>
                          <a:latin typeface="Udemy Sans"/>
                        </a:rPr>
                        <a:t>with</a:t>
                      </a:r>
                      <a:r>
                        <a:rPr lang="en-US" sz="1600" spc="-65" dirty="0">
                          <a:solidFill>
                            <a:schemeClr val="bg1"/>
                          </a:solidFill>
                          <a:effectLst/>
                          <a:latin typeface="Udemy Sans"/>
                        </a:rPr>
                        <a:t> </a:t>
                      </a:r>
                      <a:r>
                        <a:rPr lang="en-US" sz="1600" spc="-10" dirty="0">
                          <a:solidFill>
                            <a:schemeClr val="bg1"/>
                          </a:solidFill>
                          <a:effectLst/>
                          <a:latin typeface="Udemy Sans"/>
                        </a:rPr>
                        <a:t>class</a:t>
                      </a:r>
                      <a:r>
                        <a:rPr lang="en-US" sz="1600" spc="-65" dirty="0">
                          <a:solidFill>
                            <a:schemeClr val="bg1"/>
                          </a:solidFill>
                          <a:effectLst/>
                          <a:latin typeface="Udemy Sans"/>
                        </a:rPr>
                        <a:t> </a:t>
                      </a:r>
                      <a:r>
                        <a:rPr lang="en-US" sz="1600" spc="-10" dirty="0">
                          <a:solidFill>
                            <a:schemeClr val="bg1"/>
                          </a:solidFill>
                          <a:effectLst/>
                          <a:latin typeface="Udemy Sans"/>
                        </a:rPr>
                        <a:t>only,</a:t>
                      </a:r>
                      <a:r>
                        <a:rPr lang="en-US" sz="1600" spc="-70" dirty="0">
                          <a:solidFill>
                            <a:schemeClr val="bg1"/>
                          </a:solidFill>
                          <a:effectLst/>
                          <a:latin typeface="Udemy Sans"/>
                        </a:rPr>
                        <a:t> </a:t>
                      </a:r>
                      <a:r>
                        <a:rPr lang="en-US" sz="1600" spc="-10" dirty="0">
                          <a:solidFill>
                            <a:schemeClr val="bg1"/>
                          </a:solidFill>
                          <a:effectLst/>
                          <a:latin typeface="Udemy Sans"/>
                        </a:rPr>
                        <a:t>without</a:t>
                      </a:r>
                      <a:r>
                        <a:rPr lang="en-US" sz="1600" spc="-65" dirty="0">
                          <a:solidFill>
                            <a:schemeClr val="bg1"/>
                          </a:solidFill>
                          <a:effectLst/>
                          <a:latin typeface="Udemy Sans"/>
                        </a:rPr>
                        <a:t> </a:t>
                      </a:r>
                      <a:r>
                        <a:rPr lang="en-US" sz="1600" spc="-10" dirty="0">
                          <a:solidFill>
                            <a:schemeClr val="bg1"/>
                          </a:solidFill>
                          <a:effectLst/>
                          <a:latin typeface="Udemy Sans"/>
                        </a:rPr>
                        <a:t>an</a:t>
                      </a:r>
                      <a:r>
                        <a:rPr lang="en-US" sz="1600" spc="-65" dirty="0">
                          <a:solidFill>
                            <a:schemeClr val="bg1"/>
                          </a:solidFill>
                          <a:effectLst/>
                          <a:latin typeface="Udemy Sans"/>
                        </a:rPr>
                        <a:t> </a:t>
                      </a:r>
                      <a:r>
                        <a:rPr lang="en-US" sz="1600" spc="-10" dirty="0">
                          <a:solidFill>
                            <a:schemeClr val="bg1"/>
                          </a:solidFill>
                          <a:effectLst/>
                          <a:latin typeface="Udemy Sans"/>
                        </a:rPr>
                        <a:t>object.</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extLst>
                  <a:ext uri="{0D108BD9-81ED-4DB2-BD59-A6C34878D82A}">
                    <a16:rowId xmlns:a16="http://schemas.microsoft.com/office/drawing/2014/main" val="3222536159"/>
                  </a:ext>
                </a:extLst>
              </a:tr>
              <a:tr h="668427">
                <a:tc>
                  <a:txBody>
                    <a:bodyPr/>
                    <a:lstStyle/>
                    <a:p>
                      <a:pPr marL="67945">
                        <a:spcBef>
                          <a:spcPts val="215"/>
                        </a:spcBef>
                        <a:buNone/>
                      </a:pPr>
                      <a:r>
                        <a:rPr lang="en-US" sz="1600" spc="-50">
                          <a:solidFill>
                            <a:schemeClr val="bg1"/>
                          </a:solidFill>
                          <a:effectLst/>
                          <a:latin typeface="Udemy Sans"/>
                        </a:rPr>
                        <a:t>6</a:t>
                      </a:r>
                      <a:endParaRPr lang="en-IN" sz="160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a:lnSpc>
                          <a:spcPct val="168000"/>
                        </a:lnSpc>
                        <a:spcBef>
                          <a:spcPts val="215"/>
                        </a:spcBef>
                        <a:buNone/>
                      </a:pPr>
                      <a:r>
                        <a:rPr lang="en-US" sz="1600" b="1" dirty="0">
                          <a:solidFill>
                            <a:schemeClr val="bg1"/>
                          </a:solidFill>
                          <a:effectLst/>
                          <a:latin typeface="Udemy Sans"/>
                        </a:rPr>
                        <a:t>A class can have ‘n’ no. of non-static </a:t>
                      </a:r>
                      <a:r>
                        <a:rPr lang="en-US" sz="1600" b="1" spc="-10" dirty="0">
                          <a:solidFill>
                            <a:schemeClr val="bg1"/>
                          </a:solidFill>
                          <a:effectLst/>
                          <a:latin typeface="Udemy Sans"/>
                        </a:rPr>
                        <a:t>constructors.</a:t>
                      </a:r>
                      <a:endParaRPr lang="en-IN" sz="1600" b="1"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marR="95885">
                        <a:lnSpc>
                          <a:spcPct val="168000"/>
                        </a:lnSpc>
                        <a:spcBef>
                          <a:spcPts val="215"/>
                        </a:spcBef>
                        <a:buNone/>
                      </a:pPr>
                      <a:r>
                        <a:rPr lang="en-US" sz="1600" dirty="0">
                          <a:solidFill>
                            <a:schemeClr val="bg1"/>
                          </a:solidFill>
                          <a:effectLst/>
                          <a:latin typeface="Udemy Sans"/>
                        </a:rPr>
                        <a:t>A class can have only one static </a:t>
                      </a:r>
                      <a:r>
                        <a:rPr lang="en-US" sz="1600" spc="-10" dirty="0">
                          <a:solidFill>
                            <a:schemeClr val="bg1"/>
                          </a:solidFill>
                          <a:effectLst/>
                          <a:latin typeface="Udemy Sans"/>
                        </a:rPr>
                        <a:t>constructor.</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extLst>
                  <a:ext uri="{0D108BD9-81ED-4DB2-BD59-A6C34878D82A}">
                    <a16:rowId xmlns:a16="http://schemas.microsoft.com/office/drawing/2014/main" val="3939601726"/>
                  </a:ext>
                </a:extLst>
              </a:tr>
              <a:tr h="668427">
                <a:tc>
                  <a:txBody>
                    <a:bodyPr/>
                    <a:lstStyle/>
                    <a:p>
                      <a:pPr marL="67945">
                        <a:spcBef>
                          <a:spcPts val="215"/>
                        </a:spcBef>
                        <a:buNone/>
                      </a:pPr>
                      <a:r>
                        <a:rPr lang="en-US" sz="1600" spc="-50">
                          <a:solidFill>
                            <a:schemeClr val="bg1"/>
                          </a:solidFill>
                          <a:effectLst/>
                          <a:latin typeface="Udemy Sans"/>
                        </a:rPr>
                        <a:t>7</a:t>
                      </a:r>
                      <a:endParaRPr lang="en-IN" sz="160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marR="192405">
                        <a:lnSpc>
                          <a:spcPct val="168000"/>
                        </a:lnSpc>
                        <a:spcBef>
                          <a:spcPts val="215"/>
                        </a:spcBef>
                        <a:buNone/>
                      </a:pPr>
                      <a:r>
                        <a:rPr lang="en-US" sz="1600" b="1" spc="-20" dirty="0">
                          <a:solidFill>
                            <a:schemeClr val="bg1"/>
                          </a:solidFill>
                          <a:effectLst/>
                          <a:latin typeface="Udemy Sans"/>
                        </a:rPr>
                        <a:t>Use</a:t>
                      </a:r>
                      <a:r>
                        <a:rPr lang="en-US" sz="1600" b="1" spc="-60" dirty="0">
                          <a:solidFill>
                            <a:schemeClr val="bg1"/>
                          </a:solidFill>
                          <a:effectLst/>
                          <a:latin typeface="Udemy Sans"/>
                        </a:rPr>
                        <a:t> </a:t>
                      </a:r>
                      <a:r>
                        <a:rPr lang="en-US" sz="1600" b="1" spc="-20" dirty="0">
                          <a:solidFill>
                            <a:schemeClr val="bg1"/>
                          </a:solidFill>
                          <a:effectLst/>
                          <a:latin typeface="Udemy Sans"/>
                        </a:rPr>
                        <a:t>non-static</a:t>
                      </a:r>
                      <a:r>
                        <a:rPr lang="en-US" sz="1600" b="1" spc="-65" dirty="0">
                          <a:solidFill>
                            <a:schemeClr val="bg1"/>
                          </a:solidFill>
                          <a:effectLst/>
                          <a:latin typeface="Udemy Sans"/>
                        </a:rPr>
                        <a:t> </a:t>
                      </a:r>
                      <a:r>
                        <a:rPr lang="en-US" sz="1600" b="1" spc="-20" dirty="0">
                          <a:solidFill>
                            <a:schemeClr val="bg1"/>
                          </a:solidFill>
                          <a:effectLst/>
                          <a:latin typeface="Udemy Sans"/>
                        </a:rPr>
                        <a:t>constructors,</a:t>
                      </a:r>
                      <a:r>
                        <a:rPr lang="en-US" sz="1600" b="1" spc="-55" dirty="0">
                          <a:solidFill>
                            <a:schemeClr val="bg1"/>
                          </a:solidFill>
                          <a:effectLst/>
                          <a:latin typeface="Udemy Sans"/>
                        </a:rPr>
                        <a:t> </a:t>
                      </a:r>
                      <a:r>
                        <a:rPr lang="en-US" sz="1600" b="1" spc="-20" dirty="0">
                          <a:solidFill>
                            <a:schemeClr val="bg1"/>
                          </a:solidFill>
                          <a:effectLst/>
                          <a:latin typeface="Udemy Sans"/>
                        </a:rPr>
                        <a:t>if</a:t>
                      </a:r>
                      <a:r>
                        <a:rPr lang="en-US" sz="1600" b="1" spc="-60" dirty="0">
                          <a:solidFill>
                            <a:schemeClr val="bg1"/>
                          </a:solidFill>
                          <a:effectLst/>
                          <a:latin typeface="Udemy Sans"/>
                        </a:rPr>
                        <a:t> </a:t>
                      </a:r>
                      <a:r>
                        <a:rPr lang="en-US" sz="1600" b="1" spc="-20" dirty="0">
                          <a:solidFill>
                            <a:schemeClr val="bg1"/>
                          </a:solidFill>
                          <a:effectLst/>
                          <a:latin typeface="Udemy Sans"/>
                        </a:rPr>
                        <a:t>you</a:t>
                      </a:r>
                      <a:r>
                        <a:rPr lang="en-US" sz="1600" b="1" spc="-55" dirty="0">
                          <a:solidFill>
                            <a:schemeClr val="bg1"/>
                          </a:solidFill>
                          <a:effectLst/>
                          <a:latin typeface="Udemy Sans"/>
                        </a:rPr>
                        <a:t> </a:t>
                      </a:r>
                      <a:r>
                        <a:rPr lang="en-US" sz="1600" b="1" spc="-20" dirty="0">
                          <a:solidFill>
                            <a:schemeClr val="bg1"/>
                          </a:solidFill>
                          <a:effectLst/>
                          <a:latin typeface="Udemy Sans"/>
                        </a:rPr>
                        <a:t>want </a:t>
                      </a:r>
                      <a:r>
                        <a:rPr lang="en-US" sz="1600" b="1" dirty="0">
                          <a:solidFill>
                            <a:schemeClr val="bg1"/>
                          </a:solidFill>
                          <a:effectLst/>
                          <a:latin typeface="Udemy Sans"/>
                        </a:rPr>
                        <a:t>to initialize non-static Fields.</a:t>
                      </a:r>
                      <a:endParaRPr lang="en-IN" sz="1600" b="1"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a:lnSpc>
                          <a:spcPct val="168000"/>
                        </a:lnSpc>
                        <a:spcBef>
                          <a:spcPts val="215"/>
                        </a:spcBef>
                        <a:buNone/>
                      </a:pPr>
                      <a:r>
                        <a:rPr lang="en-US" sz="1600" spc="-20" dirty="0">
                          <a:solidFill>
                            <a:schemeClr val="bg1"/>
                          </a:solidFill>
                          <a:effectLst/>
                          <a:latin typeface="Udemy Sans"/>
                        </a:rPr>
                        <a:t>Use</a:t>
                      </a:r>
                      <a:r>
                        <a:rPr lang="en-US" sz="1600" spc="-40" dirty="0">
                          <a:solidFill>
                            <a:schemeClr val="bg1"/>
                          </a:solidFill>
                          <a:effectLst/>
                          <a:latin typeface="Udemy Sans"/>
                        </a:rPr>
                        <a:t> </a:t>
                      </a:r>
                      <a:r>
                        <a:rPr lang="en-US" sz="1600" spc="-20" dirty="0">
                          <a:solidFill>
                            <a:schemeClr val="bg1"/>
                          </a:solidFill>
                          <a:effectLst/>
                          <a:latin typeface="Udemy Sans"/>
                        </a:rPr>
                        <a:t>static</a:t>
                      </a:r>
                      <a:r>
                        <a:rPr lang="en-US" sz="1600" spc="-40" dirty="0">
                          <a:solidFill>
                            <a:schemeClr val="bg1"/>
                          </a:solidFill>
                          <a:effectLst/>
                          <a:latin typeface="Udemy Sans"/>
                        </a:rPr>
                        <a:t> </a:t>
                      </a:r>
                      <a:r>
                        <a:rPr lang="en-US" sz="1600" spc="-20" dirty="0">
                          <a:solidFill>
                            <a:schemeClr val="bg1"/>
                          </a:solidFill>
                          <a:effectLst/>
                          <a:latin typeface="Udemy Sans"/>
                        </a:rPr>
                        <a:t>constructor</a:t>
                      </a:r>
                      <a:r>
                        <a:rPr lang="en-US" sz="1600" spc="-45" dirty="0">
                          <a:solidFill>
                            <a:schemeClr val="bg1"/>
                          </a:solidFill>
                          <a:effectLst/>
                          <a:latin typeface="Udemy Sans"/>
                        </a:rPr>
                        <a:t> </a:t>
                      </a:r>
                      <a:r>
                        <a:rPr lang="en-US" sz="1600" spc="-20" dirty="0">
                          <a:solidFill>
                            <a:schemeClr val="bg1"/>
                          </a:solidFill>
                          <a:effectLst/>
                          <a:latin typeface="Udemy Sans"/>
                        </a:rPr>
                        <a:t>if</a:t>
                      </a:r>
                      <a:r>
                        <a:rPr lang="en-US" sz="1600" spc="-50" dirty="0">
                          <a:solidFill>
                            <a:schemeClr val="bg1"/>
                          </a:solidFill>
                          <a:effectLst/>
                          <a:latin typeface="Udemy Sans"/>
                        </a:rPr>
                        <a:t> </a:t>
                      </a:r>
                      <a:r>
                        <a:rPr lang="en-US" sz="1600" spc="-20" dirty="0">
                          <a:solidFill>
                            <a:schemeClr val="bg1"/>
                          </a:solidFill>
                          <a:effectLst/>
                          <a:latin typeface="Udemy Sans"/>
                        </a:rPr>
                        <a:t>you</a:t>
                      </a:r>
                      <a:r>
                        <a:rPr lang="en-US" sz="1600" spc="-50" dirty="0">
                          <a:solidFill>
                            <a:schemeClr val="bg1"/>
                          </a:solidFill>
                          <a:effectLst/>
                          <a:latin typeface="Udemy Sans"/>
                        </a:rPr>
                        <a:t> </a:t>
                      </a:r>
                      <a:r>
                        <a:rPr lang="en-US" sz="1600" spc="-20" dirty="0">
                          <a:solidFill>
                            <a:schemeClr val="bg1"/>
                          </a:solidFill>
                          <a:effectLst/>
                          <a:latin typeface="Udemy Sans"/>
                        </a:rPr>
                        <a:t>want</a:t>
                      </a:r>
                      <a:r>
                        <a:rPr lang="en-US" sz="1600" spc="-45" dirty="0">
                          <a:solidFill>
                            <a:schemeClr val="bg1"/>
                          </a:solidFill>
                          <a:effectLst/>
                          <a:latin typeface="Udemy Sans"/>
                        </a:rPr>
                        <a:t> </a:t>
                      </a:r>
                      <a:r>
                        <a:rPr lang="en-US" sz="1600" spc="-20" dirty="0">
                          <a:solidFill>
                            <a:schemeClr val="bg1"/>
                          </a:solidFill>
                          <a:effectLst/>
                          <a:latin typeface="Udemy Sans"/>
                        </a:rPr>
                        <a:t>to </a:t>
                      </a:r>
                      <a:r>
                        <a:rPr lang="en-US" sz="1600" dirty="0">
                          <a:solidFill>
                            <a:schemeClr val="bg1"/>
                          </a:solidFill>
                          <a:effectLst/>
                          <a:latin typeface="Udemy Sans"/>
                        </a:rPr>
                        <a:t>initialize static Fields.</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extLst>
                  <a:ext uri="{0D108BD9-81ED-4DB2-BD59-A6C34878D82A}">
                    <a16:rowId xmlns:a16="http://schemas.microsoft.com/office/drawing/2014/main" val="3200225089"/>
                  </a:ext>
                </a:extLst>
              </a:tr>
              <a:tr h="667741">
                <a:tc>
                  <a:txBody>
                    <a:bodyPr/>
                    <a:lstStyle/>
                    <a:p>
                      <a:pPr marL="67945">
                        <a:spcBef>
                          <a:spcPts val="215"/>
                        </a:spcBef>
                        <a:buNone/>
                      </a:pPr>
                      <a:r>
                        <a:rPr lang="en-US" sz="1600" spc="-50" dirty="0">
                          <a:solidFill>
                            <a:schemeClr val="bg1"/>
                          </a:solidFill>
                          <a:effectLst/>
                          <a:latin typeface="Udemy Sans"/>
                        </a:rPr>
                        <a:t>8</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marR="68580">
                        <a:lnSpc>
                          <a:spcPct val="168000"/>
                        </a:lnSpc>
                        <a:spcBef>
                          <a:spcPts val="215"/>
                        </a:spcBef>
                        <a:buNone/>
                      </a:pPr>
                      <a:r>
                        <a:rPr lang="en-US" sz="1600" b="1" spc="-30" dirty="0">
                          <a:effectLst/>
                          <a:latin typeface="Udemy Sans"/>
                        </a:rPr>
                        <a:t>Non-static</a:t>
                      </a:r>
                      <a:r>
                        <a:rPr lang="en-US" sz="1600" b="1" spc="-60" dirty="0">
                          <a:effectLst/>
                          <a:latin typeface="Udemy Sans"/>
                        </a:rPr>
                        <a:t> </a:t>
                      </a:r>
                      <a:r>
                        <a:rPr lang="en-US" sz="1600" b="1" spc="-30" dirty="0">
                          <a:effectLst/>
                          <a:latin typeface="Udemy Sans"/>
                        </a:rPr>
                        <a:t>constructors</a:t>
                      </a:r>
                      <a:r>
                        <a:rPr lang="en-US" sz="1600" b="1" spc="-65" dirty="0">
                          <a:effectLst/>
                          <a:latin typeface="Udemy Sans"/>
                        </a:rPr>
                        <a:t> </a:t>
                      </a:r>
                      <a:r>
                        <a:rPr lang="en-US" sz="1600" b="1" spc="-30" dirty="0">
                          <a:effectLst/>
                          <a:latin typeface="Udemy Sans"/>
                        </a:rPr>
                        <a:t>can</a:t>
                      </a:r>
                      <a:r>
                        <a:rPr lang="en-US" sz="1600" b="1" spc="-50" dirty="0">
                          <a:effectLst/>
                          <a:latin typeface="Udemy Sans"/>
                        </a:rPr>
                        <a:t> </a:t>
                      </a:r>
                      <a:r>
                        <a:rPr lang="en-US" sz="1600" b="1" spc="-30" dirty="0">
                          <a:effectLst/>
                          <a:latin typeface="Udemy Sans"/>
                        </a:rPr>
                        <a:t>receive</a:t>
                      </a:r>
                      <a:r>
                        <a:rPr lang="en-US" sz="1600" b="1" spc="-50" dirty="0">
                          <a:effectLst/>
                          <a:latin typeface="Udemy Sans"/>
                        </a:rPr>
                        <a:t> </a:t>
                      </a:r>
                      <a:r>
                        <a:rPr lang="en-US" sz="1600" b="1" spc="-30" dirty="0">
                          <a:effectLst/>
                          <a:latin typeface="Udemy Sans"/>
                        </a:rPr>
                        <a:t>‘n’</a:t>
                      </a:r>
                      <a:r>
                        <a:rPr lang="en-US" sz="1600" b="1" spc="-55" dirty="0">
                          <a:effectLst/>
                          <a:latin typeface="Udemy Sans"/>
                        </a:rPr>
                        <a:t> </a:t>
                      </a:r>
                      <a:r>
                        <a:rPr lang="en-US" sz="1600" b="1" spc="-30" dirty="0">
                          <a:effectLst/>
                          <a:latin typeface="Udemy Sans"/>
                        </a:rPr>
                        <a:t>no. </a:t>
                      </a:r>
                      <a:r>
                        <a:rPr lang="en-US" sz="1600" b="1" dirty="0">
                          <a:effectLst/>
                          <a:latin typeface="Udemy Sans"/>
                        </a:rPr>
                        <a:t>of</a:t>
                      </a:r>
                      <a:r>
                        <a:rPr lang="en-US" sz="1600" b="1" spc="-20" dirty="0">
                          <a:effectLst/>
                          <a:latin typeface="Udemy Sans"/>
                        </a:rPr>
                        <a:t> </a:t>
                      </a:r>
                      <a:r>
                        <a:rPr lang="en-US" sz="1600" b="1" dirty="0">
                          <a:effectLst/>
                          <a:latin typeface="Udemy Sans"/>
                        </a:rPr>
                        <a:t>arguments.</a:t>
                      </a:r>
                      <a:endParaRPr lang="en-IN" sz="1600" b="1" dirty="0">
                        <a:effectLst/>
                        <a:latin typeface="Udemy Sans"/>
                        <a:ea typeface="Arial MT"/>
                        <a:cs typeface="Arial MT"/>
                      </a:endParaRPr>
                    </a:p>
                  </a:txBody>
                  <a:tcPr marL="0" marR="0" marT="0" marB="0">
                    <a:solidFill>
                      <a:schemeClr val="tx1">
                        <a:lumMod val="85000"/>
                      </a:schemeClr>
                    </a:solidFill>
                  </a:tcPr>
                </a:tc>
                <a:tc>
                  <a:txBody>
                    <a:bodyPr/>
                    <a:lstStyle/>
                    <a:p>
                      <a:pPr marL="67945" marR="481965">
                        <a:lnSpc>
                          <a:spcPct val="168000"/>
                        </a:lnSpc>
                        <a:spcBef>
                          <a:spcPts val="215"/>
                        </a:spcBef>
                        <a:buNone/>
                      </a:pPr>
                      <a:r>
                        <a:rPr lang="en-US" sz="1600" spc="-30" dirty="0">
                          <a:solidFill>
                            <a:schemeClr val="bg1"/>
                          </a:solidFill>
                          <a:effectLst/>
                          <a:latin typeface="Udemy Sans"/>
                        </a:rPr>
                        <a:t>Static</a:t>
                      </a:r>
                      <a:r>
                        <a:rPr lang="en-US" sz="1600" spc="-50" dirty="0">
                          <a:solidFill>
                            <a:schemeClr val="bg1"/>
                          </a:solidFill>
                          <a:effectLst/>
                          <a:latin typeface="Udemy Sans"/>
                        </a:rPr>
                        <a:t> </a:t>
                      </a:r>
                      <a:r>
                        <a:rPr lang="en-US" sz="1600" spc="-30" dirty="0">
                          <a:solidFill>
                            <a:schemeClr val="bg1"/>
                          </a:solidFill>
                          <a:effectLst/>
                          <a:latin typeface="Udemy Sans"/>
                        </a:rPr>
                        <a:t>constructor</a:t>
                      </a:r>
                      <a:r>
                        <a:rPr lang="en-US" sz="1600" spc="-55" dirty="0">
                          <a:solidFill>
                            <a:schemeClr val="bg1"/>
                          </a:solidFill>
                          <a:effectLst/>
                          <a:latin typeface="Udemy Sans"/>
                        </a:rPr>
                        <a:t> </a:t>
                      </a:r>
                      <a:r>
                        <a:rPr lang="en-US" sz="1600" spc="-30" dirty="0">
                          <a:solidFill>
                            <a:schemeClr val="bg1"/>
                          </a:solidFill>
                          <a:effectLst/>
                          <a:latin typeface="Udemy Sans"/>
                        </a:rPr>
                        <a:t>can’t</a:t>
                      </a:r>
                      <a:r>
                        <a:rPr lang="en-US" sz="1600" spc="-50" dirty="0">
                          <a:solidFill>
                            <a:schemeClr val="bg1"/>
                          </a:solidFill>
                          <a:effectLst/>
                          <a:latin typeface="Udemy Sans"/>
                        </a:rPr>
                        <a:t> </a:t>
                      </a:r>
                      <a:r>
                        <a:rPr lang="en-US" sz="1600" spc="-30" dirty="0">
                          <a:solidFill>
                            <a:schemeClr val="bg1"/>
                          </a:solidFill>
                          <a:effectLst/>
                          <a:latin typeface="Udemy Sans"/>
                        </a:rPr>
                        <a:t>receive</a:t>
                      </a:r>
                      <a:r>
                        <a:rPr lang="en-US" sz="1600" spc="-50" dirty="0">
                          <a:solidFill>
                            <a:schemeClr val="bg1"/>
                          </a:solidFill>
                          <a:effectLst/>
                          <a:latin typeface="Udemy Sans"/>
                        </a:rPr>
                        <a:t> </a:t>
                      </a:r>
                      <a:r>
                        <a:rPr lang="en-US" sz="1600" spc="-30" dirty="0">
                          <a:solidFill>
                            <a:schemeClr val="bg1"/>
                          </a:solidFill>
                          <a:effectLst/>
                          <a:latin typeface="Udemy Sans"/>
                        </a:rPr>
                        <a:t>any </a:t>
                      </a:r>
                      <a:r>
                        <a:rPr lang="en-US" sz="1600" spc="-10" dirty="0">
                          <a:solidFill>
                            <a:schemeClr val="bg1"/>
                          </a:solidFill>
                          <a:effectLst/>
                          <a:latin typeface="Udemy Sans"/>
                        </a:rPr>
                        <a:t>arguments.</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extLst>
                  <a:ext uri="{0D108BD9-81ED-4DB2-BD59-A6C34878D82A}">
                    <a16:rowId xmlns:a16="http://schemas.microsoft.com/office/drawing/2014/main" val="2950625667"/>
                  </a:ext>
                </a:extLst>
              </a:tr>
              <a:tr h="668427">
                <a:tc>
                  <a:txBody>
                    <a:bodyPr/>
                    <a:lstStyle/>
                    <a:p>
                      <a:pPr marL="67945">
                        <a:spcBef>
                          <a:spcPts val="215"/>
                        </a:spcBef>
                        <a:buNone/>
                      </a:pPr>
                      <a:r>
                        <a:rPr lang="en-US" sz="1600" spc="-50" dirty="0">
                          <a:solidFill>
                            <a:schemeClr val="bg1"/>
                          </a:solidFill>
                          <a:effectLst/>
                          <a:latin typeface="Udemy Sans"/>
                        </a:rPr>
                        <a:t>9</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a:spcBef>
                          <a:spcPts val="215"/>
                        </a:spcBef>
                        <a:buNone/>
                      </a:pPr>
                      <a:r>
                        <a:rPr lang="en-US" sz="1600" b="1" spc="-20" dirty="0">
                          <a:solidFill>
                            <a:schemeClr val="bg1"/>
                          </a:solidFill>
                          <a:effectLst/>
                          <a:latin typeface="Udemy Sans"/>
                        </a:rPr>
                        <a:t>Non-static</a:t>
                      </a:r>
                      <a:r>
                        <a:rPr lang="en-US" sz="1600" b="1" dirty="0">
                          <a:solidFill>
                            <a:schemeClr val="bg1"/>
                          </a:solidFill>
                          <a:effectLst/>
                          <a:latin typeface="Udemy Sans"/>
                        </a:rPr>
                        <a:t> </a:t>
                      </a:r>
                      <a:r>
                        <a:rPr lang="en-US" sz="1600" b="1" spc="-20" dirty="0">
                          <a:solidFill>
                            <a:schemeClr val="bg1"/>
                          </a:solidFill>
                          <a:effectLst/>
                          <a:latin typeface="Udemy Sans"/>
                        </a:rPr>
                        <a:t>constructors</a:t>
                      </a:r>
                      <a:r>
                        <a:rPr lang="en-US" sz="1600" b="1" spc="-15" dirty="0">
                          <a:solidFill>
                            <a:schemeClr val="bg1"/>
                          </a:solidFill>
                          <a:effectLst/>
                          <a:latin typeface="Udemy Sans"/>
                        </a:rPr>
                        <a:t> </a:t>
                      </a:r>
                      <a:r>
                        <a:rPr lang="en-US" sz="1600" b="1" spc="-20" dirty="0">
                          <a:solidFill>
                            <a:schemeClr val="bg1"/>
                          </a:solidFill>
                          <a:effectLst/>
                          <a:latin typeface="Udemy Sans"/>
                        </a:rPr>
                        <a:t>can’t</a:t>
                      </a:r>
                      <a:r>
                        <a:rPr lang="en-US" sz="1600" b="1" dirty="0">
                          <a:solidFill>
                            <a:schemeClr val="bg1"/>
                          </a:solidFill>
                          <a:effectLst/>
                          <a:latin typeface="Udemy Sans"/>
                        </a:rPr>
                        <a:t> </a:t>
                      </a:r>
                      <a:r>
                        <a:rPr lang="en-US" sz="1600" b="1" spc="-20" dirty="0">
                          <a:solidFill>
                            <a:schemeClr val="bg1"/>
                          </a:solidFill>
                          <a:effectLst/>
                          <a:latin typeface="Udemy Sans"/>
                        </a:rPr>
                        <a:t>return</a:t>
                      </a:r>
                      <a:r>
                        <a:rPr lang="en-US" sz="1600" b="1" spc="5" dirty="0">
                          <a:solidFill>
                            <a:schemeClr val="bg1"/>
                          </a:solidFill>
                          <a:effectLst/>
                          <a:latin typeface="Udemy Sans"/>
                        </a:rPr>
                        <a:t> </a:t>
                      </a:r>
                      <a:r>
                        <a:rPr lang="en-US" sz="1600" b="1" spc="-25" dirty="0">
                          <a:solidFill>
                            <a:schemeClr val="bg1"/>
                          </a:solidFill>
                          <a:effectLst/>
                          <a:latin typeface="Udemy Sans"/>
                        </a:rPr>
                        <a:t>any</a:t>
                      </a:r>
                      <a:endParaRPr lang="en-IN" sz="1600" b="1" dirty="0">
                        <a:solidFill>
                          <a:schemeClr val="bg1"/>
                        </a:solidFill>
                        <a:effectLst/>
                        <a:latin typeface="Udemy Sans"/>
                      </a:endParaRPr>
                    </a:p>
                    <a:p>
                      <a:pPr marL="67945">
                        <a:spcBef>
                          <a:spcPts val="870"/>
                        </a:spcBef>
                        <a:buNone/>
                      </a:pPr>
                      <a:r>
                        <a:rPr lang="en-US" sz="1600" b="1" spc="-10" dirty="0">
                          <a:solidFill>
                            <a:schemeClr val="bg1"/>
                          </a:solidFill>
                          <a:effectLst/>
                          <a:latin typeface="Udemy Sans"/>
                        </a:rPr>
                        <a:t>value.</a:t>
                      </a:r>
                      <a:endParaRPr lang="en-IN" sz="1600" b="1"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a:spcBef>
                          <a:spcPts val="215"/>
                        </a:spcBef>
                        <a:buNone/>
                      </a:pPr>
                      <a:r>
                        <a:rPr lang="en-US" sz="1600" spc="-20" dirty="0">
                          <a:solidFill>
                            <a:schemeClr val="bg1"/>
                          </a:solidFill>
                          <a:effectLst/>
                          <a:latin typeface="Udemy Sans"/>
                        </a:rPr>
                        <a:t>Static</a:t>
                      </a:r>
                      <a:r>
                        <a:rPr lang="en-US" sz="1600" spc="-35" dirty="0">
                          <a:solidFill>
                            <a:schemeClr val="bg1"/>
                          </a:solidFill>
                          <a:effectLst/>
                          <a:latin typeface="Udemy Sans"/>
                        </a:rPr>
                        <a:t> </a:t>
                      </a:r>
                      <a:r>
                        <a:rPr lang="en-US" sz="1600" spc="-20" dirty="0">
                          <a:solidFill>
                            <a:schemeClr val="bg1"/>
                          </a:solidFill>
                          <a:effectLst/>
                          <a:latin typeface="Udemy Sans"/>
                        </a:rPr>
                        <a:t>constructor</a:t>
                      </a:r>
                      <a:r>
                        <a:rPr lang="en-US" sz="1600" spc="-35" dirty="0">
                          <a:solidFill>
                            <a:schemeClr val="bg1"/>
                          </a:solidFill>
                          <a:effectLst/>
                          <a:latin typeface="Udemy Sans"/>
                        </a:rPr>
                        <a:t> </a:t>
                      </a:r>
                      <a:r>
                        <a:rPr lang="en-US" sz="1600" spc="-20" dirty="0">
                          <a:solidFill>
                            <a:schemeClr val="bg1"/>
                          </a:solidFill>
                          <a:effectLst/>
                          <a:latin typeface="Udemy Sans"/>
                        </a:rPr>
                        <a:t>also</a:t>
                      </a:r>
                      <a:r>
                        <a:rPr lang="en-US" sz="1600" spc="-40" dirty="0">
                          <a:solidFill>
                            <a:schemeClr val="bg1"/>
                          </a:solidFill>
                          <a:effectLst/>
                          <a:latin typeface="Udemy Sans"/>
                        </a:rPr>
                        <a:t> </a:t>
                      </a:r>
                      <a:r>
                        <a:rPr lang="en-US" sz="1600" spc="-20" dirty="0">
                          <a:solidFill>
                            <a:schemeClr val="bg1"/>
                          </a:solidFill>
                          <a:effectLst/>
                          <a:latin typeface="Udemy Sans"/>
                        </a:rPr>
                        <a:t>can’t</a:t>
                      </a:r>
                      <a:r>
                        <a:rPr lang="en-US" sz="1600" spc="-30" dirty="0">
                          <a:solidFill>
                            <a:schemeClr val="bg1"/>
                          </a:solidFill>
                          <a:effectLst/>
                          <a:latin typeface="Udemy Sans"/>
                        </a:rPr>
                        <a:t> </a:t>
                      </a:r>
                      <a:r>
                        <a:rPr lang="en-US" sz="1600" spc="-20" dirty="0">
                          <a:solidFill>
                            <a:schemeClr val="bg1"/>
                          </a:solidFill>
                          <a:effectLst/>
                          <a:latin typeface="Udemy Sans"/>
                        </a:rPr>
                        <a:t>return</a:t>
                      </a:r>
                      <a:r>
                        <a:rPr lang="en-US" sz="1600" spc="-30" dirty="0">
                          <a:solidFill>
                            <a:schemeClr val="bg1"/>
                          </a:solidFill>
                          <a:effectLst/>
                          <a:latin typeface="Udemy Sans"/>
                        </a:rPr>
                        <a:t> </a:t>
                      </a:r>
                      <a:r>
                        <a:rPr lang="en-US" sz="1600" spc="-25" dirty="0">
                          <a:solidFill>
                            <a:schemeClr val="bg1"/>
                          </a:solidFill>
                          <a:effectLst/>
                          <a:latin typeface="Udemy Sans"/>
                        </a:rPr>
                        <a:t>any</a:t>
                      </a:r>
                      <a:endParaRPr lang="en-IN" sz="1600" dirty="0">
                        <a:solidFill>
                          <a:schemeClr val="bg1"/>
                        </a:solidFill>
                        <a:effectLst/>
                        <a:latin typeface="Udemy Sans"/>
                      </a:endParaRPr>
                    </a:p>
                    <a:p>
                      <a:pPr marL="67945">
                        <a:spcBef>
                          <a:spcPts val="870"/>
                        </a:spcBef>
                        <a:buNone/>
                      </a:pPr>
                      <a:r>
                        <a:rPr lang="en-US" sz="1600" spc="-10" dirty="0">
                          <a:solidFill>
                            <a:schemeClr val="bg1"/>
                          </a:solidFill>
                          <a:effectLst/>
                          <a:latin typeface="Udemy Sans"/>
                        </a:rPr>
                        <a:t>value.</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extLst>
                  <a:ext uri="{0D108BD9-81ED-4DB2-BD59-A6C34878D82A}">
                    <a16:rowId xmlns:a16="http://schemas.microsoft.com/office/drawing/2014/main" val="486295700"/>
                  </a:ext>
                </a:extLst>
              </a:tr>
              <a:tr h="961463">
                <a:tc>
                  <a:txBody>
                    <a:bodyPr/>
                    <a:lstStyle/>
                    <a:p>
                      <a:pPr marL="67945">
                        <a:spcBef>
                          <a:spcPts val="215"/>
                        </a:spcBef>
                        <a:buNone/>
                      </a:pPr>
                      <a:r>
                        <a:rPr lang="en-US" sz="1600" spc="-25" dirty="0">
                          <a:solidFill>
                            <a:schemeClr val="bg1"/>
                          </a:solidFill>
                          <a:effectLst/>
                          <a:latin typeface="Udemy Sans"/>
                        </a:rPr>
                        <a:t>10</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marR="310515" algn="just">
                        <a:lnSpc>
                          <a:spcPct val="168000"/>
                        </a:lnSpc>
                        <a:spcBef>
                          <a:spcPts val="215"/>
                        </a:spcBef>
                        <a:buNone/>
                      </a:pPr>
                      <a:r>
                        <a:rPr lang="en-US" sz="1600" spc="-40" dirty="0">
                          <a:solidFill>
                            <a:schemeClr val="bg1"/>
                          </a:solidFill>
                          <a:effectLst/>
                          <a:latin typeface="Udemy Sans"/>
                        </a:rPr>
                        <a:t>Access modifier</a:t>
                      </a:r>
                      <a:r>
                        <a:rPr lang="en-US" sz="1600" spc="-25" dirty="0">
                          <a:solidFill>
                            <a:schemeClr val="bg1"/>
                          </a:solidFill>
                          <a:effectLst/>
                          <a:latin typeface="Udemy Sans"/>
                        </a:rPr>
                        <a:t> </a:t>
                      </a:r>
                      <a:r>
                        <a:rPr lang="en-US" sz="1600" spc="-40" dirty="0">
                          <a:solidFill>
                            <a:schemeClr val="bg1"/>
                          </a:solidFill>
                          <a:effectLst/>
                          <a:latin typeface="Udemy Sans"/>
                        </a:rPr>
                        <a:t>such</a:t>
                      </a:r>
                      <a:r>
                        <a:rPr lang="en-US" sz="1600" spc="-25" dirty="0">
                          <a:solidFill>
                            <a:schemeClr val="bg1"/>
                          </a:solidFill>
                          <a:effectLst/>
                          <a:latin typeface="Udemy Sans"/>
                        </a:rPr>
                        <a:t> </a:t>
                      </a:r>
                      <a:r>
                        <a:rPr lang="en-US" sz="1600" spc="-40" dirty="0">
                          <a:solidFill>
                            <a:schemeClr val="bg1"/>
                          </a:solidFill>
                          <a:effectLst/>
                          <a:latin typeface="Udemy Sans"/>
                        </a:rPr>
                        <a:t>as “internal”</a:t>
                      </a:r>
                      <a:r>
                        <a:rPr lang="en-US" sz="1600" spc="-30" dirty="0">
                          <a:solidFill>
                            <a:schemeClr val="bg1"/>
                          </a:solidFill>
                          <a:effectLst/>
                          <a:latin typeface="Udemy Sans"/>
                        </a:rPr>
                        <a:t> </a:t>
                      </a:r>
                      <a:r>
                        <a:rPr lang="en-US" sz="1600" spc="-40" dirty="0">
                          <a:solidFill>
                            <a:schemeClr val="bg1"/>
                          </a:solidFill>
                          <a:effectLst/>
                          <a:latin typeface="Udemy Sans"/>
                        </a:rPr>
                        <a:t>and </a:t>
                      </a:r>
                      <a:r>
                        <a:rPr lang="en-US" sz="1600" spc="-30" dirty="0">
                          <a:solidFill>
                            <a:schemeClr val="bg1"/>
                          </a:solidFill>
                          <a:effectLst/>
                          <a:latin typeface="Udemy Sans"/>
                        </a:rPr>
                        <a:t>“public”</a:t>
                      </a:r>
                      <a:r>
                        <a:rPr lang="en-US" sz="1600" spc="-50" dirty="0">
                          <a:solidFill>
                            <a:schemeClr val="bg1"/>
                          </a:solidFill>
                          <a:effectLst/>
                          <a:latin typeface="Udemy Sans"/>
                        </a:rPr>
                        <a:t> </a:t>
                      </a:r>
                      <a:r>
                        <a:rPr lang="en-US" sz="1600" spc="-30" dirty="0">
                          <a:solidFill>
                            <a:schemeClr val="bg1"/>
                          </a:solidFill>
                          <a:effectLst/>
                          <a:latin typeface="Udemy Sans"/>
                        </a:rPr>
                        <a:t>can</a:t>
                      </a:r>
                      <a:r>
                        <a:rPr lang="en-US" sz="1600" spc="-45" dirty="0">
                          <a:solidFill>
                            <a:schemeClr val="bg1"/>
                          </a:solidFill>
                          <a:effectLst/>
                          <a:latin typeface="Udemy Sans"/>
                        </a:rPr>
                        <a:t> </a:t>
                      </a:r>
                      <a:r>
                        <a:rPr lang="en-US" sz="1600" spc="-30" dirty="0">
                          <a:solidFill>
                            <a:schemeClr val="bg1"/>
                          </a:solidFill>
                          <a:effectLst/>
                          <a:latin typeface="Udemy Sans"/>
                        </a:rPr>
                        <a:t>be</a:t>
                      </a:r>
                      <a:r>
                        <a:rPr lang="en-US" sz="1600" spc="-45" dirty="0">
                          <a:solidFill>
                            <a:schemeClr val="bg1"/>
                          </a:solidFill>
                          <a:effectLst/>
                          <a:latin typeface="Udemy Sans"/>
                        </a:rPr>
                        <a:t> </a:t>
                      </a:r>
                      <a:r>
                        <a:rPr lang="en-US" sz="1600" spc="-30" dirty="0">
                          <a:solidFill>
                            <a:schemeClr val="bg1"/>
                          </a:solidFill>
                          <a:effectLst/>
                          <a:latin typeface="Udemy Sans"/>
                        </a:rPr>
                        <a:t>applicable for</a:t>
                      </a:r>
                      <a:r>
                        <a:rPr lang="en-US" sz="1600" spc="-40" dirty="0">
                          <a:solidFill>
                            <a:schemeClr val="bg1"/>
                          </a:solidFill>
                          <a:effectLst/>
                          <a:latin typeface="Udemy Sans"/>
                        </a:rPr>
                        <a:t> </a:t>
                      </a:r>
                      <a:r>
                        <a:rPr lang="en-US" sz="1600" spc="-30" dirty="0">
                          <a:solidFill>
                            <a:schemeClr val="bg1"/>
                          </a:solidFill>
                          <a:effectLst/>
                          <a:latin typeface="Udemy Sans"/>
                        </a:rPr>
                        <a:t>the</a:t>
                      </a:r>
                      <a:r>
                        <a:rPr lang="en-US" sz="1600" spc="-35" dirty="0">
                          <a:solidFill>
                            <a:schemeClr val="bg1"/>
                          </a:solidFill>
                          <a:effectLst/>
                          <a:latin typeface="Udemy Sans"/>
                        </a:rPr>
                        <a:t> </a:t>
                      </a:r>
                      <a:r>
                        <a:rPr lang="en-US" sz="1600" spc="-30" dirty="0">
                          <a:solidFill>
                            <a:schemeClr val="bg1"/>
                          </a:solidFill>
                          <a:effectLst/>
                          <a:latin typeface="Udemy Sans"/>
                        </a:rPr>
                        <a:t>non- </a:t>
                      </a:r>
                      <a:r>
                        <a:rPr lang="en-US" sz="1600" dirty="0">
                          <a:solidFill>
                            <a:schemeClr val="bg1"/>
                          </a:solidFill>
                          <a:effectLst/>
                          <a:latin typeface="Udemy Sans"/>
                        </a:rPr>
                        <a:t>static</a:t>
                      </a:r>
                      <a:r>
                        <a:rPr lang="en-US" sz="1600" spc="-20" dirty="0">
                          <a:solidFill>
                            <a:schemeClr val="bg1"/>
                          </a:solidFill>
                          <a:effectLst/>
                          <a:latin typeface="Udemy Sans"/>
                        </a:rPr>
                        <a:t> </a:t>
                      </a:r>
                      <a:r>
                        <a:rPr lang="en-US" sz="1600" dirty="0">
                          <a:solidFill>
                            <a:schemeClr val="bg1"/>
                          </a:solidFill>
                          <a:effectLst/>
                          <a:latin typeface="Udemy Sans"/>
                        </a:rPr>
                        <a:t>constructor.</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tc>
                  <a:txBody>
                    <a:bodyPr/>
                    <a:lstStyle/>
                    <a:p>
                      <a:pPr marL="67945">
                        <a:lnSpc>
                          <a:spcPct val="168000"/>
                        </a:lnSpc>
                        <a:spcBef>
                          <a:spcPts val="215"/>
                        </a:spcBef>
                        <a:buNone/>
                      </a:pPr>
                      <a:r>
                        <a:rPr lang="en-US" sz="1600" spc="-30" dirty="0">
                          <a:solidFill>
                            <a:schemeClr val="bg1"/>
                          </a:solidFill>
                          <a:effectLst/>
                          <a:latin typeface="Udemy Sans"/>
                        </a:rPr>
                        <a:t>Access</a:t>
                      </a:r>
                      <a:r>
                        <a:rPr lang="en-US" sz="1600" spc="-60" dirty="0">
                          <a:solidFill>
                            <a:schemeClr val="bg1"/>
                          </a:solidFill>
                          <a:effectLst/>
                          <a:latin typeface="Udemy Sans"/>
                        </a:rPr>
                        <a:t> </a:t>
                      </a:r>
                      <a:r>
                        <a:rPr lang="en-US" sz="1600" spc="-30" dirty="0">
                          <a:solidFill>
                            <a:schemeClr val="bg1"/>
                          </a:solidFill>
                          <a:effectLst/>
                          <a:latin typeface="Udemy Sans"/>
                        </a:rPr>
                        <a:t>modifier</a:t>
                      </a:r>
                      <a:r>
                        <a:rPr lang="en-US" sz="1600" spc="-50" dirty="0">
                          <a:solidFill>
                            <a:schemeClr val="bg1"/>
                          </a:solidFill>
                          <a:effectLst/>
                          <a:latin typeface="Udemy Sans"/>
                        </a:rPr>
                        <a:t> </a:t>
                      </a:r>
                      <a:r>
                        <a:rPr lang="en-US" sz="1600" spc="-30" dirty="0">
                          <a:solidFill>
                            <a:schemeClr val="bg1"/>
                          </a:solidFill>
                          <a:effectLst/>
                          <a:latin typeface="Udemy Sans"/>
                        </a:rPr>
                        <a:t>is</a:t>
                      </a:r>
                      <a:r>
                        <a:rPr lang="en-US" sz="1600" spc="-55" dirty="0">
                          <a:solidFill>
                            <a:schemeClr val="bg1"/>
                          </a:solidFill>
                          <a:effectLst/>
                          <a:latin typeface="Udemy Sans"/>
                        </a:rPr>
                        <a:t> </a:t>
                      </a:r>
                      <a:r>
                        <a:rPr lang="en-US" sz="1600" spc="-30" dirty="0">
                          <a:solidFill>
                            <a:schemeClr val="bg1"/>
                          </a:solidFill>
                          <a:effectLst/>
                          <a:latin typeface="Udemy Sans"/>
                        </a:rPr>
                        <a:t>not</a:t>
                      </a:r>
                      <a:r>
                        <a:rPr lang="en-US" sz="1600" spc="-50" dirty="0">
                          <a:solidFill>
                            <a:schemeClr val="bg1"/>
                          </a:solidFill>
                          <a:effectLst/>
                          <a:latin typeface="Udemy Sans"/>
                        </a:rPr>
                        <a:t> </a:t>
                      </a:r>
                      <a:r>
                        <a:rPr lang="en-US" sz="1600" spc="-30" dirty="0">
                          <a:solidFill>
                            <a:schemeClr val="bg1"/>
                          </a:solidFill>
                          <a:effectLst/>
                          <a:latin typeface="Udemy Sans"/>
                        </a:rPr>
                        <a:t>applicable</a:t>
                      </a:r>
                      <a:r>
                        <a:rPr lang="en-US" sz="1600" spc="-45" dirty="0">
                          <a:solidFill>
                            <a:schemeClr val="bg1"/>
                          </a:solidFill>
                          <a:effectLst/>
                          <a:latin typeface="Udemy Sans"/>
                        </a:rPr>
                        <a:t> </a:t>
                      </a:r>
                      <a:r>
                        <a:rPr lang="en-US" sz="1600" spc="-30" dirty="0">
                          <a:solidFill>
                            <a:schemeClr val="bg1"/>
                          </a:solidFill>
                          <a:effectLst/>
                          <a:latin typeface="Udemy Sans"/>
                        </a:rPr>
                        <a:t>for</a:t>
                      </a:r>
                      <a:r>
                        <a:rPr lang="en-US" sz="1600" spc="-50" dirty="0">
                          <a:solidFill>
                            <a:schemeClr val="bg1"/>
                          </a:solidFill>
                          <a:effectLst/>
                          <a:latin typeface="Udemy Sans"/>
                        </a:rPr>
                        <a:t> </a:t>
                      </a:r>
                      <a:r>
                        <a:rPr lang="en-US" sz="1600" spc="-30" dirty="0">
                          <a:solidFill>
                            <a:schemeClr val="bg1"/>
                          </a:solidFill>
                          <a:effectLst/>
                          <a:latin typeface="Udemy Sans"/>
                        </a:rPr>
                        <a:t>the </a:t>
                      </a:r>
                      <a:r>
                        <a:rPr lang="en-US" sz="1600" dirty="0">
                          <a:solidFill>
                            <a:schemeClr val="bg1"/>
                          </a:solidFill>
                          <a:effectLst/>
                          <a:latin typeface="Udemy Sans"/>
                        </a:rPr>
                        <a:t>static</a:t>
                      </a:r>
                      <a:r>
                        <a:rPr lang="en-US" sz="1600" spc="-75" dirty="0">
                          <a:solidFill>
                            <a:schemeClr val="bg1"/>
                          </a:solidFill>
                          <a:effectLst/>
                          <a:latin typeface="Udemy Sans"/>
                        </a:rPr>
                        <a:t> </a:t>
                      </a:r>
                      <a:r>
                        <a:rPr lang="en-US" sz="1600" dirty="0">
                          <a:solidFill>
                            <a:schemeClr val="bg1"/>
                          </a:solidFill>
                          <a:effectLst/>
                          <a:latin typeface="Udemy Sans"/>
                        </a:rPr>
                        <a:t>constructor.</a:t>
                      </a:r>
                      <a:r>
                        <a:rPr lang="en-US" sz="1600" spc="-75" dirty="0">
                          <a:solidFill>
                            <a:schemeClr val="bg1"/>
                          </a:solidFill>
                          <a:effectLst/>
                          <a:latin typeface="Udemy Sans"/>
                        </a:rPr>
                        <a:t> </a:t>
                      </a:r>
                      <a:r>
                        <a:rPr lang="en-US" sz="1600" dirty="0">
                          <a:solidFill>
                            <a:schemeClr val="bg1"/>
                          </a:solidFill>
                          <a:effectLst/>
                          <a:latin typeface="Udemy Sans"/>
                        </a:rPr>
                        <a:t>By</a:t>
                      </a:r>
                      <a:r>
                        <a:rPr lang="en-US" sz="1600" spc="-75" dirty="0">
                          <a:solidFill>
                            <a:schemeClr val="bg1"/>
                          </a:solidFill>
                          <a:effectLst/>
                          <a:latin typeface="Udemy Sans"/>
                        </a:rPr>
                        <a:t> </a:t>
                      </a:r>
                      <a:r>
                        <a:rPr lang="en-US" sz="1600" dirty="0">
                          <a:solidFill>
                            <a:schemeClr val="bg1"/>
                          </a:solidFill>
                          <a:effectLst/>
                          <a:latin typeface="Udemy Sans"/>
                        </a:rPr>
                        <a:t>default,</a:t>
                      </a:r>
                      <a:r>
                        <a:rPr lang="en-US" sz="1600" spc="-70" dirty="0">
                          <a:solidFill>
                            <a:schemeClr val="bg1"/>
                          </a:solidFill>
                          <a:effectLst/>
                          <a:latin typeface="Udemy Sans"/>
                        </a:rPr>
                        <a:t> </a:t>
                      </a:r>
                      <a:r>
                        <a:rPr lang="en-US" sz="1600" dirty="0">
                          <a:solidFill>
                            <a:schemeClr val="bg1"/>
                          </a:solidFill>
                          <a:effectLst/>
                          <a:latin typeface="Udemy Sans"/>
                        </a:rPr>
                        <a:t>they</a:t>
                      </a:r>
                      <a:r>
                        <a:rPr lang="en-US" sz="1600" spc="-70" dirty="0">
                          <a:solidFill>
                            <a:schemeClr val="bg1"/>
                          </a:solidFill>
                          <a:effectLst/>
                          <a:latin typeface="Udemy Sans"/>
                        </a:rPr>
                        <a:t> </a:t>
                      </a:r>
                      <a:r>
                        <a:rPr lang="en-US" sz="1600" dirty="0">
                          <a:solidFill>
                            <a:schemeClr val="bg1"/>
                          </a:solidFill>
                          <a:effectLst/>
                          <a:latin typeface="Udemy Sans"/>
                        </a:rPr>
                        <a:t>are </a:t>
                      </a:r>
                      <a:r>
                        <a:rPr lang="en-US" sz="1600" spc="-10" dirty="0">
                          <a:solidFill>
                            <a:schemeClr val="bg1"/>
                          </a:solidFill>
                          <a:effectLst/>
                          <a:latin typeface="Udemy Sans"/>
                        </a:rPr>
                        <a:t>“public”.</a:t>
                      </a:r>
                      <a:endParaRPr lang="en-IN" sz="1600" dirty="0">
                        <a:solidFill>
                          <a:schemeClr val="bg1"/>
                        </a:solidFill>
                        <a:effectLst/>
                        <a:latin typeface="Udemy Sans"/>
                        <a:ea typeface="Arial MT"/>
                        <a:cs typeface="Arial MT"/>
                      </a:endParaRPr>
                    </a:p>
                  </a:txBody>
                  <a:tcPr marL="0" marR="0" marT="0" marB="0">
                    <a:solidFill>
                      <a:schemeClr val="tx1">
                        <a:lumMod val="85000"/>
                      </a:schemeClr>
                    </a:solidFill>
                  </a:tcPr>
                </a:tc>
                <a:extLst>
                  <a:ext uri="{0D108BD9-81ED-4DB2-BD59-A6C34878D82A}">
                    <a16:rowId xmlns:a16="http://schemas.microsoft.com/office/drawing/2014/main" val="2992899507"/>
                  </a:ext>
                </a:extLst>
              </a:tr>
            </a:tbl>
          </a:graphicData>
        </a:graphic>
      </p:graphicFrame>
    </p:spTree>
    <p:extLst>
      <p:ext uri="{BB962C8B-B14F-4D97-AF65-F5344CB8AC3E}">
        <p14:creationId xmlns:p14="http://schemas.microsoft.com/office/powerpoint/2010/main" val="17450889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59024</TotalTime>
  <Words>6235</Words>
  <Application>Microsoft Office PowerPoint</Application>
  <PresentationFormat>Widescreen</PresentationFormat>
  <Paragraphs>769</Paragraphs>
  <Slides>49</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Arial</vt:lpstr>
      <vt:lpstr>Arial MT</vt:lpstr>
      <vt:lpstr>Calibri</vt:lpstr>
      <vt:lpstr>Google Sans</vt:lpstr>
      <vt:lpstr>Symbol</vt:lpstr>
      <vt:lpstr>Tw Cen MT</vt:lpstr>
      <vt:lpstr>Udemy Sans</vt:lpstr>
      <vt:lpstr>Wingdings</vt:lpstr>
      <vt:lpstr>Circuit</vt:lpstr>
      <vt:lpstr>MS.NET Technologies</vt:lpstr>
      <vt:lpstr>PowerPoint Presentation</vt:lpstr>
      <vt:lpstr> Modules and Apps </vt:lpstr>
      <vt:lpstr>PowerPoint Presentation</vt:lpstr>
      <vt:lpstr>CLR Components</vt:lpstr>
      <vt:lpstr>PowerPoint Presentation</vt:lpstr>
      <vt:lpstr>.NET Framework Architecture</vt:lpstr>
      <vt:lpstr>Base Class Library (BCL)</vt:lpstr>
      <vt:lpstr>Version of .NET Framework</vt:lpstr>
      <vt:lpstr>Versions of Visual Studio</vt:lpstr>
      <vt:lpstr>Versions of Visual Studio</vt:lpstr>
      <vt:lpstr>Versions of Visual Studio</vt:lpstr>
      <vt:lpstr>C# Language and Fundamentals</vt:lpstr>
      <vt:lpstr>Versions of C#.NET Version of C#</vt:lpstr>
      <vt:lpstr> Naming Convention for identifiers</vt:lpstr>
      <vt:lpstr> Console Applications - Introduction </vt:lpstr>
      <vt:lpstr> Variables </vt:lpstr>
      <vt:lpstr>Data Types</vt:lpstr>
      <vt:lpstr>PowerPoint Presentation</vt:lpstr>
      <vt:lpstr> Non-Numerical Data Types </vt:lpstr>
      <vt:lpstr>  Operators  </vt:lpstr>
      <vt:lpstr>Control Statements </vt:lpstr>
      <vt:lpstr>Introduction to Object Oriented Programming</vt:lpstr>
      <vt:lpstr>PowerPoint Presentation</vt:lpstr>
      <vt:lpstr>Class</vt:lpstr>
      <vt:lpstr>Memory allocation of Objects</vt:lpstr>
      <vt:lpstr>Principles of Object Oriented Programming </vt:lpstr>
      <vt:lpstr>PowerPoint Presentation</vt:lpstr>
      <vt:lpstr>Access Modifiers</vt:lpstr>
      <vt:lpstr>Access Modifiers</vt:lpstr>
      <vt:lpstr>Static Fields</vt:lpstr>
      <vt:lpstr>Methods</vt:lpstr>
      <vt:lpstr>Static Method</vt:lpstr>
      <vt:lpstr>Method Overloading</vt:lpstr>
      <vt:lpstr> Types of Parameters </vt:lpstr>
      <vt:lpstr> Parameter Modifiers (default) </vt:lpstr>
      <vt:lpstr> Parameter Modifiers (ref) </vt:lpstr>
      <vt:lpstr> Parameter Modifiers (out) </vt:lpstr>
      <vt:lpstr> Parameter Modifiers (in) </vt:lpstr>
      <vt:lpstr> ref returns </vt:lpstr>
      <vt:lpstr> Parameter Modifiers (params) </vt:lpstr>
      <vt:lpstr>Type Conversion</vt:lpstr>
      <vt:lpstr>Type Conversion</vt:lpstr>
      <vt:lpstr>Conversion Methods</vt:lpstr>
      <vt:lpstr>Constructors</vt:lpstr>
      <vt:lpstr>Object Initializer</vt:lpstr>
      <vt:lpstr>Static Constructor </vt:lpstr>
      <vt:lpstr>Static and Non Static Constructor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 technologies</dc:title>
  <dc:creator>Shilpa Sitaram Patil</dc:creator>
  <cp:lastModifiedBy>Shilpa Sitaram Patil</cp:lastModifiedBy>
  <cp:revision>299</cp:revision>
  <dcterms:created xsi:type="dcterms:W3CDTF">2025-03-05T10:36:35Z</dcterms:created>
  <dcterms:modified xsi:type="dcterms:W3CDTF">2025-12-02T07:54:28Z</dcterms:modified>
</cp:coreProperties>
</file>